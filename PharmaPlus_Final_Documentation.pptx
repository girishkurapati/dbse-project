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319" r:id="rId20"/>
    <p:sldId id="276" r:id="rId21"/>
    <p:sldId id="277" r:id="rId22"/>
    <p:sldId id="316" r:id="rId23"/>
    <p:sldId id="317" r:id="rId24"/>
    <p:sldId id="318" r:id="rId25"/>
    <p:sldId id="278" r:id="rId26"/>
    <p:sldId id="279" r:id="rId27"/>
    <p:sldId id="280" r:id="rId28"/>
    <p:sldId id="281" r:id="rId29"/>
    <p:sldId id="282" r:id="rId30"/>
    <p:sldId id="283" r:id="rId31"/>
    <p:sldId id="284" r:id="rId32"/>
    <p:sldId id="285" r:id="rId33"/>
    <p:sldId id="286" r:id="rId34"/>
    <p:sldId id="287" r:id="rId35"/>
    <p:sldId id="289"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7562850" cy="10688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243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9CA184D6-E769-0B4C-5BE3-5C4436DB75F9}"/>
              </a:ext>
            </a:extLst>
          </p:cNvPr>
          <p:cNvSpPr/>
          <p:nvPr/>
        </p:nvSpPr>
        <p:spPr>
          <a:xfrm>
            <a:off x="27432" y="27432"/>
            <a:ext cx="7507224" cy="10634472"/>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FA98246F-45FA-DFC9-E8CC-EE1305B76098}"/>
              </a:ext>
            </a:extLst>
          </p:cNvPr>
          <p:cNvSpPr txBox="1"/>
          <p:nvPr/>
        </p:nvSpPr>
        <p:spPr>
          <a:xfrm>
            <a:off x="411480" y="538156"/>
            <a:ext cx="6739128" cy="276999"/>
          </a:xfrm>
          <a:prstGeom prst="rect">
            <a:avLst/>
          </a:prstGeom>
          <a:noFill/>
        </p:spPr>
        <p:txBody>
          <a:bodyPr wrap="square" lIns="0" tIns="0" rIns="0" bIns="0" anchor="ctr">
            <a:spAutoFit/>
          </a:bodyPr>
          <a:lstStyle/>
          <a:p>
            <a:pPr algn="ctr"/>
            <a:r>
              <a:rPr sz="1800" b="0" dirty="0">
                <a:solidFill>
                  <a:srgbClr val="000080"/>
                </a:solidFill>
                <a:latin typeface="Times New Roman"/>
              </a:rPr>
              <a:t>Enterprise Pharmaceutical Stock and Inventory Management System</a:t>
            </a:r>
          </a:p>
        </p:txBody>
      </p:sp>
      <p:sp>
        <p:nvSpPr>
          <p:cNvPr id="52" name="TextBox 51">
            <a:extLst>
              <a:ext uri="{FF2B5EF4-FFF2-40B4-BE49-F238E27FC236}">
                <a16:creationId xmlns:a16="http://schemas.microsoft.com/office/drawing/2014/main" id="{BED6C6B4-F5AC-D895-C22F-5663877E3058}"/>
              </a:ext>
            </a:extLst>
          </p:cNvPr>
          <p:cNvSpPr txBox="1"/>
          <p:nvPr/>
        </p:nvSpPr>
        <p:spPr>
          <a:xfrm>
            <a:off x="640080" y="1024128"/>
            <a:ext cx="6281928" cy="457200"/>
          </a:xfrm>
          <a:prstGeom prst="rect">
            <a:avLst/>
          </a:prstGeom>
          <a:noFill/>
        </p:spPr>
        <p:txBody>
          <a:bodyPr wrap="square" lIns="0" tIns="0" rIns="0" bIns="0" anchor="ctr">
            <a:spAutoFit/>
          </a:bodyPr>
          <a:lstStyle/>
          <a:p>
            <a:pPr algn="ctr"/>
            <a:r>
              <a:rPr sz="1000" b="0" dirty="0">
                <a:solidFill>
                  <a:srgbClr val="000000"/>
                </a:solidFill>
                <a:latin typeface="Times New Roman"/>
              </a:rPr>
              <a:t>A Project Report Submitted in the partial fulfillment of the requirements for the award of the degree of</a:t>
            </a:r>
          </a:p>
        </p:txBody>
      </p:sp>
      <p:sp>
        <p:nvSpPr>
          <p:cNvPr id="54" name="TextBox 53">
            <a:extLst>
              <a:ext uri="{FF2B5EF4-FFF2-40B4-BE49-F238E27FC236}">
                <a16:creationId xmlns:a16="http://schemas.microsoft.com/office/drawing/2014/main" id="{C6481B6A-FAD8-261F-378F-420EB49D3E4A}"/>
              </a:ext>
            </a:extLst>
          </p:cNvPr>
          <p:cNvSpPr txBox="1"/>
          <p:nvPr/>
        </p:nvSpPr>
        <p:spPr>
          <a:xfrm>
            <a:off x="1005840" y="1554480"/>
            <a:ext cx="5550408" cy="393192"/>
          </a:xfrm>
          <a:prstGeom prst="rect">
            <a:avLst/>
          </a:prstGeom>
          <a:noFill/>
        </p:spPr>
        <p:txBody>
          <a:bodyPr wrap="square" lIns="0" tIns="0" rIns="0" bIns="0" anchor="ctr">
            <a:spAutoFit/>
          </a:bodyPr>
          <a:lstStyle/>
          <a:p>
            <a:pPr algn="ctr"/>
            <a:r>
              <a:rPr sz="1800" b="1">
                <a:solidFill>
                  <a:srgbClr val="BE0000"/>
                </a:solidFill>
                <a:latin typeface="Times New Roman"/>
              </a:rPr>
              <a:t>BACHELOR OF TECHNOLOGY</a:t>
            </a:r>
          </a:p>
        </p:txBody>
      </p:sp>
      <p:sp>
        <p:nvSpPr>
          <p:cNvPr id="56" name="TextBox 55">
            <a:extLst>
              <a:ext uri="{FF2B5EF4-FFF2-40B4-BE49-F238E27FC236}">
                <a16:creationId xmlns:a16="http://schemas.microsoft.com/office/drawing/2014/main" id="{F1416A10-7B04-AFDF-9748-6DDF7504984B}"/>
              </a:ext>
            </a:extLst>
          </p:cNvPr>
          <p:cNvSpPr txBox="1"/>
          <p:nvPr/>
        </p:nvSpPr>
        <p:spPr>
          <a:xfrm>
            <a:off x="3337560" y="1956816"/>
            <a:ext cx="914400" cy="256032"/>
          </a:xfrm>
          <a:prstGeom prst="rect">
            <a:avLst/>
          </a:prstGeom>
          <a:noFill/>
        </p:spPr>
        <p:txBody>
          <a:bodyPr wrap="square" lIns="0" tIns="0" rIns="0" bIns="0" anchor="ctr">
            <a:spAutoFit/>
          </a:bodyPr>
          <a:lstStyle/>
          <a:p>
            <a:pPr algn="ctr"/>
            <a:r>
              <a:rPr sz="1200" b="1">
                <a:solidFill>
                  <a:srgbClr val="000000"/>
                </a:solidFill>
                <a:latin typeface="Times New Roman"/>
              </a:rPr>
              <a:t>In</a:t>
            </a:r>
          </a:p>
        </p:txBody>
      </p:sp>
      <p:sp>
        <p:nvSpPr>
          <p:cNvPr id="58" name="TextBox 57">
            <a:extLst>
              <a:ext uri="{FF2B5EF4-FFF2-40B4-BE49-F238E27FC236}">
                <a16:creationId xmlns:a16="http://schemas.microsoft.com/office/drawing/2014/main" id="{6AA071A6-394F-EB80-90DA-E231F70AE1EC}"/>
              </a:ext>
            </a:extLst>
          </p:cNvPr>
          <p:cNvSpPr txBox="1"/>
          <p:nvPr/>
        </p:nvSpPr>
        <p:spPr>
          <a:xfrm>
            <a:off x="868680" y="2258568"/>
            <a:ext cx="5824728" cy="347472"/>
          </a:xfrm>
          <a:prstGeom prst="rect">
            <a:avLst/>
          </a:prstGeom>
          <a:noFill/>
        </p:spPr>
        <p:txBody>
          <a:bodyPr wrap="square" lIns="0" tIns="0" rIns="0" bIns="0" anchor="ctr">
            <a:spAutoFit/>
          </a:bodyPr>
          <a:lstStyle/>
          <a:p>
            <a:pPr algn="ctr"/>
            <a:r>
              <a:rPr sz="1300" b="1">
                <a:solidFill>
                  <a:srgbClr val="00236E"/>
                </a:solidFill>
                <a:latin typeface="Times New Roman"/>
              </a:rPr>
              <a:t>DEPARTMENT OF COMPUTER SCIENCE ENGINEERING</a:t>
            </a:r>
          </a:p>
        </p:txBody>
      </p:sp>
      <p:sp>
        <p:nvSpPr>
          <p:cNvPr id="60" name="TextBox 59">
            <a:extLst>
              <a:ext uri="{FF2B5EF4-FFF2-40B4-BE49-F238E27FC236}">
                <a16:creationId xmlns:a16="http://schemas.microsoft.com/office/drawing/2014/main" id="{CF7D798D-DD35-E261-0C56-8C7D2916AEE5}"/>
              </a:ext>
            </a:extLst>
          </p:cNvPr>
          <p:cNvSpPr txBox="1"/>
          <p:nvPr/>
        </p:nvSpPr>
        <p:spPr>
          <a:xfrm>
            <a:off x="3493008" y="2651760"/>
            <a:ext cx="594360" cy="256032"/>
          </a:xfrm>
          <a:prstGeom prst="rect">
            <a:avLst/>
          </a:prstGeom>
          <a:noFill/>
        </p:spPr>
        <p:txBody>
          <a:bodyPr wrap="square" lIns="0" tIns="0" rIns="0" bIns="0" anchor="ctr">
            <a:spAutoFit/>
          </a:bodyPr>
          <a:lstStyle/>
          <a:p>
            <a:pPr algn="ctr"/>
            <a:r>
              <a:rPr sz="1200" b="1">
                <a:solidFill>
                  <a:srgbClr val="000000"/>
                </a:solidFill>
                <a:latin typeface="Times New Roman"/>
              </a:rPr>
              <a:t>&amp;</a:t>
            </a:r>
          </a:p>
        </p:txBody>
      </p:sp>
      <p:sp>
        <p:nvSpPr>
          <p:cNvPr id="62" name="TextBox 61">
            <a:extLst>
              <a:ext uri="{FF2B5EF4-FFF2-40B4-BE49-F238E27FC236}">
                <a16:creationId xmlns:a16="http://schemas.microsoft.com/office/drawing/2014/main" id="{C15DF4D5-AE06-5887-E47F-733505B2D705}"/>
              </a:ext>
            </a:extLst>
          </p:cNvPr>
          <p:cNvSpPr txBox="1"/>
          <p:nvPr/>
        </p:nvSpPr>
        <p:spPr>
          <a:xfrm>
            <a:off x="868680" y="2944368"/>
            <a:ext cx="5824728" cy="347472"/>
          </a:xfrm>
          <a:prstGeom prst="rect">
            <a:avLst/>
          </a:prstGeom>
          <a:noFill/>
        </p:spPr>
        <p:txBody>
          <a:bodyPr wrap="square" lIns="0" tIns="0" rIns="0" bIns="0" anchor="ctr">
            <a:spAutoFit/>
          </a:bodyPr>
          <a:lstStyle/>
          <a:p>
            <a:pPr algn="ctr"/>
            <a:r>
              <a:rPr sz="1300" b="1">
                <a:solidFill>
                  <a:srgbClr val="00236E"/>
                </a:solidFill>
                <a:latin typeface="Times New Roman"/>
              </a:rPr>
              <a:t>DEPARTMENT OF COMPUTER SCIENCE AND ENGINEERING</a:t>
            </a:r>
          </a:p>
        </p:txBody>
      </p:sp>
      <p:sp>
        <p:nvSpPr>
          <p:cNvPr id="64" name="TextBox 63">
            <a:extLst>
              <a:ext uri="{FF2B5EF4-FFF2-40B4-BE49-F238E27FC236}">
                <a16:creationId xmlns:a16="http://schemas.microsoft.com/office/drawing/2014/main" id="{A19C6E25-F07F-5BB9-CA2D-60A9669A6170}"/>
              </a:ext>
            </a:extLst>
          </p:cNvPr>
          <p:cNvSpPr txBox="1"/>
          <p:nvPr/>
        </p:nvSpPr>
        <p:spPr>
          <a:xfrm>
            <a:off x="3456432" y="3328416"/>
            <a:ext cx="685800" cy="256032"/>
          </a:xfrm>
          <a:prstGeom prst="rect">
            <a:avLst/>
          </a:prstGeom>
          <a:noFill/>
        </p:spPr>
        <p:txBody>
          <a:bodyPr wrap="square" lIns="0" tIns="0" rIns="0" bIns="0" anchor="ctr">
            <a:spAutoFit/>
          </a:bodyPr>
          <a:lstStyle/>
          <a:p>
            <a:pPr algn="ctr"/>
            <a:r>
              <a:rPr sz="1200" b="1">
                <a:solidFill>
                  <a:srgbClr val="000000"/>
                </a:solidFill>
                <a:latin typeface="Times New Roman"/>
              </a:rPr>
              <a:t>By</a:t>
            </a:r>
          </a:p>
        </p:txBody>
      </p:sp>
      <p:sp>
        <p:nvSpPr>
          <p:cNvPr id="66" name="TextBox 65">
            <a:extLst>
              <a:ext uri="{FF2B5EF4-FFF2-40B4-BE49-F238E27FC236}">
                <a16:creationId xmlns:a16="http://schemas.microsoft.com/office/drawing/2014/main" id="{79E8AF18-717C-B3A3-680D-9B3E5D1F8861}"/>
              </a:ext>
            </a:extLst>
          </p:cNvPr>
          <p:cNvSpPr txBox="1"/>
          <p:nvPr/>
        </p:nvSpPr>
        <p:spPr>
          <a:xfrm>
            <a:off x="1325880" y="3794760"/>
            <a:ext cx="2880360" cy="274320"/>
          </a:xfrm>
          <a:prstGeom prst="rect">
            <a:avLst/>
          </a:prstGeom>
          <a:noFill/>
        </p:spPr>
        <p:txBody>
          <a:bodyPr wrap="square" lIns="0" tIns="0" rIns="0" bIns="0" anchor="ctr">
            <a:spAutoFit/>
          </a:bodyPr>
          <a:lstStyle/>
          <a:p>
            <a:pPr algn="l"/>
            <a:r>
              <a:rPr sz="1200" b="1">
                <a:solidFill>
                  <a:srgbClr val="BE0000"/>
                </a:solidFill>
                <a:latin typeface="Times New Roman"/>
              </a:rPr>
              <a:t>K.GIRISH</a:t>
            </a:r>
          </a:p>
        </p:txBody>
      </p:sp>
      <p:sp>
        <p:nvSpPr>
          <p:cNvPr id="68" name="TextBox 67">
            <a:extLst>
              <a:ext uri="{FF2B5EF4-FFF2-40B4-BE49-F238E27FC236}">
                <a16:creationId xmlns:a16="http://schemas.microsoft.com/office/drawing/2014/main" id="{8E0E3B5A-303A-8003-6480-76A09FCA131B}"/>
              </a:ext>
            </a:extLst>
          </p:cNvPr>
          <p:cNvSpPr txBox="1"/>
          <p:nvPr/>
        </p:nvSpPr>
        <p:spPr>
          <a:xfrm>
            <a:off x="4315968" y="3794760"/>
            <a:ext cx="1463040" cy="274320"/>
          </a:xfrm>
          <a:prstGeom prst="rect">
            <a:avLst/>
          </a:prstGeom>
          <a:noFill/>
        </p:spPr>
        <p:txBody>
          <a:bodyPr wrap="square" lIns="0" tIns="0" rIns="0" bIns="0" anchor="ctr">
            <a:spAutoFit/>
          </a:bodyPr>
          <a:lstStyle/>
          <a:p>
            <a:pPr algn="l"/>
            <a:r>
              <a:rPr sz="1200" b="1">
                <a:solidFill>
                  <a:srgbClr val="BE0000"/>
                </a:solidFill>
                <a:latin typeface="Times New Roman"/>
              </a:rPr>
              <a:t>:2520030231</a:t>
            </a:r>
          </a:p>
        </p:txBody>
      </p:sp>
      <p:sp>
        <p:nvSpPr>
          <p:cNvPr id="70" name="TextBox 69">
            <a:extLst>
              <a:ext uri="{FF2B5EF4-FFF2-40B4-BE49-F238E27FC236}">
                <a16:creationId xmlns:a16="http://schemas.microsoft.com/office/drawing/2014/main" id="{B34C0324-3125-EE21-5E26-C21E66E405F5}"/>
              </a:ext>
            </a:extLst>
          </p:cNvPr>
          <p:cNvSpPr txBox="1"/>
          <p:nvPr/>
        </p:nvSpPr>
        <p:spPr>
          <a:xfrm>
            <a:off x="1325880" y="4187952"/>
            <a:ext cx="2880360" cy="274320"/>
          </a:xfrm>
          <a:prstGeom prst="rect">
            <a:avLst/>
          </a:prstGeom>
          <a:noFill/>
        </p:spPr>
        <p:txBody>
          <a:bodyPr wrap="square" lIns="0" tIns="0" rIns="0" bIns="0" anchor="ctr">
            <a:spAutoFit/>
          </a:bodyPr>
          <a:lstStyle/>
          <a:p>
            <a:pPr algn="l"/>
            <a:r>
              <a:rPr sz="1200" b="1">
                <a:solidFill>
                  <a:srgbClr val="BE0000"/>
                </a:solidFill>
                <a:latin typeface="Times New Roman"/>
              </a:rPr>
              <a:t>P.VENKAT</a:t>
            </a:r>
          </a:p>
        </p:txBody>
      </p:sp>
      <p:sp>
        <p:nvSpPr>
          <p:cNvPr id="72" name="TextBox 71">
            <a:extLst>
              <a:ext uri="{FF2B5EF4-FFF2-40B4-BE49-F238E27FC236}">
                <a16:creationId xmlns:a16="http://schemas.microsoft.com/office/drawing/2014/main" id="{08F4AC3A-4015-5B05-70CC-A79F700CA7EA}"/>
              </a:ext>
            </a:extLst>
          </p:cNvPr>
          <p:cNvSpPr txBox="1"/>
          <p:nvPr/>
        </p:nvSpPr>
        <p:spPr>
          <a:xfrm>
            <a:off x="4315968" y="4187952"/>
            <a:ext cx="1463040" cy="274320"/>
          </a:xfrm>
          <a:prstGeom prst="rect">
            <a:avLst/>
          </a:prstGeom>
          <a:noFill/>
        </p:spPr>
        <p:txBody>
          <a:bodyPr wrap="square" lIns="0" tIns="0" rIns="0" bIns="0" anchor="ctr">
            <a:spAutoFit/>
          </a:bodyPr>
          <a:lstStyle/>
          <a:p>
            <a:pPr algn="l"/>
            <a:r>
              <a:rPr sz="1200" b="1">
                <a:solidFill>
                  <a:srgbClr val="BE0000"/>
                </a:solidFill>
                <a:latin typeface="Times New Roman"/>
              </a:rPr>
              <a:t>:2520030450</a:t>
            </a:r>
          </a:p>
        </p:txBody>
      </p:sp>
      <p:sp>
        <p:nvSpPr>
          <p:cNvPr id="74" name="TextBox 73">
            <a:extLst>
              <a:ext uri="{FF2B5EF4-FFF2-40B4-BE49-F238E27FC236}">
                <a16:creationId xmlns:a16="http://schemas.microsoft.com/office/drawing/2014/main" id="{9DE51B46-E45F-D2C4-1FCE-46F69E8E55B5}"/>
              </a:ext>
            </a:extLst>
          </p:cNvPr>
          <p:cNvSpPr txBox="1"/>
          <p:nvPr/>
        </p:nvSpPr>
        <p:spPr>
          <a:xfrm>
            <a:off x="822960" y="5157216"/>
            <a:ext cx="5943600" cy="274320"/>
          </a:xfrm>
          <a:prstGeom prst="rect">
            <a:avLst/>
          </a:prstGeom>
          <a:noFill/>
        </p:spPr>
        <p:txBody>
          <a:bodyPr wrap="square" lIns="0" tIns="0" rIns="0" bIns="0" anchor="ctr">
            <a:spAutoFit/>
          </a:bodyPr>
          <a:lstStyle/>
          <a:p>
            <a:pPr algn="ctr"/>
            <a:r>
              <a:rPr sz="1100" b="0">
                <a:solidFill>
                  <a:srgbClr val="000000"/>
                </a:solidFill>
                <a:latin typeface="Times New Roman"/>
              </a:rPr>
              <a:t>Under the Esteemed Guidance of</a:t>
            </a:r>
          </a:p>
        </p:txBody>
      </p:sp>
      <p:sp>
        <p:nvSpPr>
          <p:cNvPr id="76" name="TextBox 75">
            <a:extLst>
              <a:ext uri="{FF2B5EF4-FFF2-40B4-BE49-F238E27FC236}">
                <a16:creationId xmlns:a16="http://schemas.microsoft.com/office/drawing/2014/main" id="{086216DF-8A3A-907C-F976-246E8AE870E2}"/>
              </a:ext>
            </a:extLst>
          </p:cNvPr>
          <p:cNvSpPr txBox="1"/>
          <p:nvPr/>
        </p:nvSpPr>
        <p:spPr>
          <a:xfrm>
            <a:off x="1508760" y="5577840"/>
            <a:ext cx="4526280" cy="292608"/>
          </a:xfrm>
          <a:prstGeom prst="rect">
            <a:avLst/>
          </a:prstGeom>
          <a:noFill/>
        </p:spPr>
        <p:txBody>
          <a:bodyPr wrap="square" lIns="0" tIns="0" rIns="0" bIns="0" anchor="ctr">
            <a:spAutoFit/>
          </a:bodyPr>
          <a:lstStyle/>
          <a:p>
            <a:pPr algn="ctr"/>
            <a:r>
              <a:rPr sz="1200" b="1">
                <a:solidFill>
                  <a:srgbClr val="BE0000"/>
                </a:solidFill>
                <a:latin typeface="Times New Roman"/>
              </a:rPr>
              <a:t>____________________________</a:t>
            </a:r>
          </a:p>
        </p:txBody>
      </p:sp>
      <p:sp>
        <p:nvSpPr>
          <p:cNvPr id="78" name="TextBox 77">
            <a:extLst>
              <a:ext uri="{FF2B5EF4-FFF2-40B4-BE49-F238E27FC236}">
                <a16:creationId xmlns:a16="http://schemas.microsoft.com/office/drawing/2014/main" id="{7EEAEB24-53B2-D138-41F7-4D92464D3663}"/>
              </a:ext>
            </a:extLst>
          </p:cNvPr>
          <p:cNvSpPr txBox="1"/>
          <p:nvPr/>
        </p:nvSpPr>
        <p:spPr>
          <a:xfrm>
            <a:off x="1828800" y="5879592"/>
            <a:ext cx="3931920" cy="256032"/>
          </a:xfrm>
          <a:prstGeom prst="rect">
            <a:avLst/>
          </a:prstGeom>
          <a:noFill/>
        </p:spPr>
        <p:txBody>
          <a:bodyPr wrap="square" lIns="0" tIns="0" rIns="0" bIns="0" anchor="ctr">
            <a:spAutoFit/>
          </a:bodyPr>
          <a:lstStyle/>
          <a:p>
            <a:pPr algn="ctr"/>
            <a:r>
              <a:rPr sz="1100" b="0">
                <a:solidFill>
                  <a:srgbClr val="000000"/>
                </a:solidFill>
                <a:latin typeface="Times New Roman"/>
              </a:rPr>
              <a:t>Assistant Professor</a:t>
            </a:r>
          </a:p>
        </p:txBody>
      </p:sp>
      <p:sp>
        <p:nvSpPr>
          <p:cNvPr id="80" name="TextBox 79">
            <a:extLst>
              <a:ext uri="{FF2B5EF4-FFF2-40B4-BE49-F238E27FC236}">
                <a16:creationId xmlns:a16="http://schemas.microsoft.com/office/drawing/2014/main" id="{9D17481B-F94F-B7B6-F2C6-5D393423C87E}"/>
              </a:ext>
            </a:extLst>
          </p:cNvPr>
          <p:cNvSpPr txBox="1"/>
          <p:nvPr/>
        </p:nvSpPr>
        <p:spPr>
          <a:xfrm>
            <a:off x="1005840" y="6190488"/>
            <a:ext cx="5577840" cy="310896"/>
          </a:xfrm>
          <a:prstGeom prst="rect">
            <a:avLst/>
          </a:prstGeom>
          <a:noFill/>
        </p:spPr>
        <p:txBody>
          <a:bodyPr wrap="square" lIns="0" tIns="0" rIns="0" bIns="0" anchor="ctr">
            <a:spAutoFit/>
          </a:bodyPr>
          <a:lstStyle/>
          <a:p>
            <a:pPr algn="ctr"/>
            <a:r>
              <a:rPr sz="1200" b="1">
                <a:solidFill>
                  <a:srgbClr val="00236E"/>
                </a:solidFill>
                <a:latin typeface="Times New Roman"/>
              </a:rPr>
              <a:t>Department of Computer Science and Engineering</a:t>
            </a:r>
          </a:p>
        </p:txBody>
      </p:sp>
      <p:sp>
        <p:nvSpPr>
          <p:cNvPr id="82" name="TextBox 81">
            <a:extLst>
              <a:ext uri="{FF2B5EF4-FFF2-40B4-BE49-F238E27FC236}">
                <a16:creationId xmlns:a16="http://schemas.microsoft.com/office/drawing/2014/main" id="{7273F57C-E0B6-56A3-6049-4691531A1C76}"/>
              </a:ext>
            </a:extLst>
          </p:cNvPr>
          <p:cNvSpPr txBox="1"/>
          <p:nvPr/>
        </p:nvSpPr>
        <p:spPr>
          <a:xfrm>
            <a:off x="502920" y="8412480"/>
            <a:ext cx="6537960" cy="384048"/>
          </a:xfrm>
          <a:prstGeom prst="rect">
            <a:avLst/>
          </a:prstGeom>
          <a:noFill/>
        </p:spPr>
        <p:txBody>
          <a:bodyPr wrap="square" lIns="0" tIns="0" rIns="0" bIns="0" anchor="ctr">
            <a:spAutoFit/>
          </a:bodyPr>
          <a:lstStyle/>
          <a:p>
            <a:pPr algn="ctr"/>
            <a:r>
              <a:rPr sz="1700" b="1" dirty="0">
                <a:solidFill>
                  <a:srgbClr val="AA0000"/>
                </a:solidFill>
                <a:latin typeface="Times New Roman"/>
              </a:rPr>
              <a:t>Koneru Lakshmaiah Education Foundation</a:t>
            </a:r>
          </a:p>
        </p:txBody>
      </p:sp>
      <p:sp>
        <p:nvSpPr>
          <p:cNvPr id="84" name="TextBox 83">
            <a:extLst>
              <a:ext uri="{FF2B5EF4-FFF2-40B4-BE49-F238E27FC236}">
                <a16:creationId xmlns:a16="http://schemas.microsoft.com/office/drawing/2014/main" id="{DA5AD75C-0723-61CD-F3F0-BF717AC5F33F}"/>
              </a:ext>
            </a:extLst>
          </p:cNvPr>
          <p:cNvSpPr txBox="1"/>
          <p:nvPr/>
        </p:nvSpPr>
        <p:spPr>
          <a:xfrm>
            <a:off x="640080" y="8805672"/>
            <a:ext cx="6309360" cy="246888"/>
          </a:xfrm>
          <a:prstGeom prst="rect">
            <a:avLst/>
          </a:prstGeom>
          <a:noFill/>
        </p:spPr>
        <p:txBody>
          <a:bodyPr wrap="square" lIns="0" tIns="0" rIns="0" bIns="0" anchor="ctr">
            <a:spAutoFit/>
          </a:bodyPr>
          <a:lstStyle/>
          <a:p>
            <a:pPr algn="l"/>
            <a:r>
              <a:rPr sz="900" b="0" dirty="0">
                <a:solidFill>
                  <a:srgbClr val="000000"/>
                </a:solidFill>
                <a:latin typeface="Times New Roman"/>
              </a:rPr>
              <a:t>(Deemed to be University </a:t>
            </a:r>
            <a:r>
              <a:rPr sz="900" b="0" dirty="0" err="1">
                <a:solidFill>
                  <a:srgbClr val="000000"/>
                </a:solidFill>
                <a:latin typeface="Times New Roman"/>
              </a:rPr>
              <a:t>estd</a:t>
            </a:r>
            <a:r>
              <a:rPr sz="900" b="0" dirty="0">
                <a:solidFill>
                  <a:srgbClr val="000000"/>
                </a:solidFill>
                <a:latin typeface="Times New Roman"/>
              </a:rPr>
              <a:t>. u/s. 3 of the UGC Act, 1956)</a:t>
            </a:r>
          </a:p>
        </p:txBody>
      </p:sp>
      <p:sp>
        <p:nvSpPr>
          <p:cNvPr id="86" name="TextBox 85">
            <a:extLst>
              <a:ext uri="{FF2B5EF4-FFF2-40B4-BE49-F238E27FC236}">
                <a16:creationId xmlns:a16="http://schemas.microsoft.com/office/drawing/2014/main" id="{A5445FBC-CCCE-528B-4222-8E9F78EE665D}"/>
              </a:ext>
            </a:extLst>
          </p:cNvPr>
          <p:cNvSpPr txBox="1"/>
          <p:nvPr/>
        </p:nvSpPr>
        <p:spPr>
          <a:xfrm>
            <a:off x="640080" y="9061704"/>
            <a:ext cx="6309360" cy="246888"/>
          </a:xfrm>
          <a:prstGeom prst="rect">
            <a:avLst/>
          </a:prstGeom>
          <a:noFill/>
        </p:spPr>
        <p:txBody>
          <a:bodyPr wrap="square" lIns="0" tIns="0" rIns="0" bIns="0" anchor="ctr">
            <a:spAutoFit/>
          </a:bodyPr>
          <a:lstStyle/>
          <a:p>
            <a:pPr algn="l"/>
            <a:r>
              <a:rPr sz="800" b="0">
                <a:solidFill>
                  <a:srgbClr val="000000"/>
                </a:solidFill>
                <a:latin typeface="Times New Roman"/>
              </a:rPr>
              <a:t>Off-Campus: Bachupally-Gandimaisamma Road, Bowrampet, Hyderabad, Telangana - 500 043.</a:t>
            </a:r>
          </a:p>
        </p:txBody>
      </p:sp>
      <p:sp>
        <p:nvSpPr>
          <p:cNvPr id="88" name="TextBox 87">
            <a:extLst>
              <a:ext uri="{FF2B5EF4-FFF2-40B4-BE49-F238E27FC236}">
                <a16:creationId xmlns:a16="http://schemas.microsoft.com/office/drawing/2014/main" id="{5AB0717A-2BEA-E7F4-5628-CE7E682AFD41}"/>
              </a:ext>
            </a:extLst>
          </p:cNvPr>
          <p:cNvSpPr txBox="1"/>
          <p:nvPr/>
        </p:nvSpPr>
        <p:spPr>
          <a:xfrm>
            <a:off x="640080" y="9358884"/>
            <a:ext cx="6309360" cy="246888"/>
          </a:xfrm>
          <a:prstGeom prst="rect">
            <a:avLst/>
          </a:prstGeom>
          <a:noFill/>
        </p:spPr>
        <p:txBody>
          <a:bodyPr wrap="square" lIns="0" tIns="0" rIns="0" bIns="0" anchor="ctr">
            <a:spAutoFit/>
          </a:bodyPr>
          <a:lstStyle/>
          <a:p>
            <a:pPr algn="l"/>
            <a:r>
              <a:rPr sz="800" b="0">
                <a:solidFill>
                  <a:srgbClr val="000000"/>
                </a:solidFill>
                <a:latin typeface="Times New Roman"/>
              </a:rPr>
              <a:t>Phone No: 7815926816, www.klh.edu.in</a:t>
            </a:r>
          </a:p>
        </p:txBody>
      </p:sp>
      <p:pic>
        <p:nvPicPr>
          <p:cNvPr id="90" name="Picture 89">
            <a:extLst>
              <a:ext uri="{FF2B5EF4-FFF2-40B4-BE49-F238E27FC236}">
                <a16:creationId xmlns:a16="http://schemas.microsoft.com/office/drawing/2014/main" id="{7B42E449-F823-AEB5-6156-BA8E8895AB94}"/>
              </a:ext>
            </a:extLst>
          </p:cNvPr>
          <p:cNvPicPr>
            <a:picLocks noChangeAspect="1"/>
          </p:cNvPicPr>
          <p:nvPr/>
        </p:nvPicPr>
        <p:blipFill>
          <a:blip r:embed="rId2"/>
          <a:stretch>
            <a:fillRect/>
          </a:stretch>
        </p:blipFill>
        <p:spPr>
          <a:xfrm>
            <a:off x="1243012" y="6510528"/>
            <a:ext cx="5076063" cy="16920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60746"/>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2</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3017999" y="579322"/>
            <a:ext cx="1524000" cy="281432"/>
          </a:xfrm>
          <a:prstGeom prst="rect">
            <a:avLst/>
          </a:prstGeom>
          <a:noFill/>
        </p:spPr>
        <p:txBody>
          <a:bodyPr wrap="none" lIns="0" tIns="0" rIns="0" bIns="0" anchor="t">
            <a:spAutoFit/>
          </a:bodyPr>
          <a:lstStyle/>
          <a:p>
            <a:pPr algn="ctr"/>
            <a:r>
              <a:rPr sz="1600" b="1" i="0">
                <a:solidFill>
                  <a:srgbClr val="000000"/>
                </a:solidFill>
                <a:latin typeface="Times New Roman"/>
              </a:rPr>
              <a:t>DECLARATION</a:t>
            </a:r>
          </a:p>
        </p:txBody>
      </p:sp>
      <p:sp>
        <p:nvSpPr>
          <p:cNvPr id="5" name="TextBox 4"/>
          <p:cNvSpPr txBox="1"/>
          <p:nvPr/>
        </p:nvSpPr>
        <p:spPr>
          <a:xfrm>
            <a:off x="944880" y="9357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We hereby declare that the project report entitled “Enterprise Pharmaceutical Stock and</a:t>
            </a:r>
          </a:p>
        </p:txBody>
      </p:sp>
      <p:sp>
        <p:nvSpPr>
          <p:cNvPr id="6" name="TextBox 5"/>
          <p:cNvSpPr txBox="1"/>
          <p:nvPr/>
        </p:nvSpPr>
        <p:spPr>
          <a:xfrm>
            <a:off x="716280" y="11135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Inventory Management System” is a bonafide work carried out by K.Girish (2520030231) and</a:t>
            </a:r>
          </a:p>
        </p:txBody>
      </p:sp>
      <p:sp>
        <p:nvSpPr>
          <p:cNvPr id="7" name="TextBox 6"/>
          <p:cNvSpPr txBox="1"/>
          <p:nvPr/>
        </p:nvSpPr>
        <p:spPr>
          <a:xfrm>
            <a:off x="716280" y="1291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P.Venkat (2520030450) in partial fulfillment of the requirements for the award of the degree of</a:t>
            </a:r>
          </a:p>
        </p:txBody>
      </p:sp>
      <p:sp>
        <p:nvSpPr>
          <p:cNvPr id="8" name="TextBox 7"/>
          <p:cNvSpPr txBox="1"/>
          <p:nvPr/>
        </p:nvSpPr>
        <p:spPr>
          <a:xfrm>
            <a:off x="716280" y="1469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Bachelor of Technology in the Department of Computer Science and Engineering, K L (Deemed to</a:t>
            </a:r>
          </a:p>
        </p:txBody>
      </p:sp>
      <p:sp>
        <p:nvSpPr>
          <p:cNvPr id="9" name="TextBox 8"/>
          <p:cNvSpPr txBox="1"/>
          <p:nvPr/>
        </p:nvSpPr>
        <p:spPr>
          <a:xfrm>
            <a:off x="716280" y="1646986"/>
            <a:ext cx="914247" cy="203301"/>
          </a:xfrm>
          <a:prstGeom prst="rect">
            <a:avLst/>
          </a:prstGeom>
          <a:noFill/>
        </p:spPr>
        <p:txBody>
          <a:bodyPr wrap="none" lIns="0" tIns="0" rIns="0" bIns="0" anchor="t">
            <a:spAutoFit/>
          </a:bodyPr>
          <a:lstStyle/>
          <a:p>
            <a:pPr algn="l"/>
            <a:r>
              <a:rPr sz="1200" b="0" i="0">
                <a:solidFill>
                  <a:srgbClr val="000000"/>
                </a:solidFill>
                <a:latin typeface="Times New Roman"/>
              </a:rPr>
              <a:t>be) University.</a:t>
            </a:r>
          </a:p>
        </p:txBody>
      </p:sp>
      <p:sp>
        <p:nvSpPr>
          <p:cNvPr id="10" name="TextBox 9"/>
          <p:cNvSpPr txBox="1"/>
          <p:nvPr/>
        </p:nvSpPr>
        <p:spPr>
          <a:xfrm>
            <a:off x="944880" y="18755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work presented in this report describes the design and development of a backend-based</a:t>
            </a:r>
          </a:p>
        </p:txBody>
      </p:sp>
      <p:sp>
        <p:nvSpPr>
          <p:cNvPr id="11" name="TextBox 10"/>
          <p:cNvSpPr txBox="1"/>
          <p:nvPr/>
        </p:nvSpPr>
        <p:spPr>
          <a:xfrm>
            <a:off x="716280" y="2053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pharmaceutical inventory management application. The project focuses on centralized management</a:t>
            </a:r>
          </a:p>
        </p:txBody>
      </p:sp>
      <p:sp>
        <p:nvSpPr>
          <p:cNvPr id="12" name="TextBox 11"/>
          <p:cNvSpPr txBox="1"/>
          <p:nvPr/>
        </p:nvSpPr>
        <p:spPr>
          <a:xfrm>
            <a:off x="716280" y="2231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of medicines, suppliers, batches, purchases, sales, stock quantities, manufacturing dates, and expiry</a:t>
            </a:r>
          </a:p>
        </p:txBody>
      </p:sp>
      <p:sp>
        <p:nvSpPr>
          <p:cNvPr id="13" name="TextBox 12"/>
          <p:cNvSpPr txBox="1"/>
          <p:nvPr/>
        </p:nvSpPr>
        <p:spPr>
          <a:xfrm>
            <a:off x="716280" y="2408986"/>
            <a:ext cx="3170225" cy="203301"/>
          </a:xfrm>
          <a:prstGeom prst="rect">
            <a:avLst/>
          </a:prstGeom>
          <a:noFill/>
        </p:spPr>
        <p:txBody>
          <a:bodyPr wrap="none" lIns="0" tIns="0" rIns="0" bIns="0" anchor="t">
            <a:spAutoFit/>
          </a:bodyPr>
          <a:lstStyle/>
          <a:p>
            <a:pPr algn="l"/>
            <a:r>
              <a:rPr sz="1200" b="0" i="0">
                <a:solidFill>
                  <a:srgbClr val="000000"/>
                </a:solidFill>
                <a:latin typeface="Times New Roman"/>
              </a:rPr>
              <a:t>dates, as described in the submitted project abstract.</a:t>
            </a:r>
          </a:p>
        </p:txBody>
      </p:sp>
      <p:sp>
        <p:nvSpPr>
          <p:cNvPr id="14" name="TextBox 13"/>
          <p:cNvSpPr txBox="1"/>
          <p:nvPr/>
        </p:nvSpPr>
        <p:spPr>
          <a:xfrm>
            <a:off x="944880" y="26375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We further declare that the material presented in this report has been prepared for academic</a:t>
            </a:r>
          </a:p>
        </p:txBody>
      </p:sp>
      <p:sp>
        <p:nvSpPr>
          <p:cNvPr id="15" name="TextBox 14"/>
          <p:cNvSpPr txBox="1"/>
          <p:nvPr/>
        </p:nvSpPr>
        <p:spPr>
          <a:xfrm>
            <a:off x="716280" y="28153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submission and that the implementation details are documented according to the project scope and</a:t>
            </a:r>
          </a:p>
        </p:txBody>
      </p:sp>
      <p:sp>
        <p:nvSpPr>
          <p:cNvPr id="16" name="TextBox 15"/>
          <p:cNvSpPr txBox="1"/>
          <p:nvPr/>
        </p:nvSpPr>
        <p:spPr>
          <a:xfrm>
            <a:off x="716280" y="2993186"/>
            <a:ext cx="2332177" cy="203301"/>
          </a:xfrm>
          <a:prstGeom prst="rect">
            <a:avLst/>
          </a:prstGeom>
          <a:noFill/>
        </p:spPr>
        <p:txBody>
          <a:bodyPr wrap="none" lIns="0" tIns="0" rIns="0" bIns="0" anchor="t">
            <a:spAutoFit/>
          </a:bodyPr>
          <a:lstStyle/>
          <a:p>
            <a:pPr algn="l"/>
            <a:r>
              <a:rPr sz="1200" b="0" i="0">
                <a:solidFill>
                  <a:srgbClr val="000000"/>
                </a:solidFill>
                <a:latin typeface="Times New Roman"/>
              </a:rPr>
              <a:t>technologies identified for the project.</a:t>
            </a:r>
          </a:p>
        </p:txBody>
      </p:sp>
      <p:sp>
        <p:nvSpPr>
          <p:cNvPr id="17" name="TextBox 16"/>
          <p:cNvSpPr txBox="1"/>
          <p:nvPr/>
        </p:nvSpPr>
        <p:spPr>
          <a:xfrm>
            <a:off x="5400187" y="3221786"/>
            <a:ext cx="1443532" cy="203301"/>
          </a:xfrm>
          <a:prstGeom prst="rect">
            <a:avLst/>
          </a:prstGeom>
          <a:noFill/>
        </p:spPr>
        <p:txBody>
          <a:bodyPr wrap="none" lIns="0" tIns="0" rIns="0" bIns="0" anchor="t">
            <a:spAutoFit/>
          </a:bodyPr>
          <a:lstStyle/>
          <a:p>
            <a:pPr algn="l"/>
            <a:r>
              <a:rPr sz="1200" b="0" i="0">
                <a:solidFill>
                  <a:srgbClr val="000000"/>
                </a:solidFill>
                <a:latin typeface="Times New Roman"/>
              </a:rPr>
              <a:t>K.Girish – 2520030231</a:t>
            </a:r>
          </a:p>
        </p:txBody>
      </p:sp>
      <p:sp>
        <p:nvSpPr>
          <p:cNvPr id="18" name="TextBox 17"/>
          <p:cNvSpPr txBox="1"/>
          <p:nvPr/>
        </p:nvSpPr>
        <p:spPr>
          <a:xfrm>
            <a:off x="5366354" y="3450386"/>
            <a:ext cx="1477365" cy="203301"/>
          </a:xfrm>
          <a:prstGeom prst="rect">
            <a:avLst/>
          </a:prstGeom>
          <a:noFill/>
        </p:spPr>
        <p:txBody>
          <a:bodyPr wrap="none" lIns="0" tIns="0" rIns="0" bIns="0" anchor="t">
            <a:spAutoFit/>
          </a:bodyPr>
          <a:lstStyle/>
          <a:p>
            <a:pPr algn="l"/>
            <a:r>
              <a:rPr sz="1200" b="0" i="0">
                <a:solidFill>
                  <a:srgbClr val="000000"/>
                </a:solidFill>
                <a:latin typeface="Times New Roman"/>
              </a:rPr>
              <a:t>P.Venkat – 2520030450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60746"/>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3</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3074387" y="579322"/>
            <a:ext cx="1411223" cy="281432"/>
          </a:xfrm>
          <a:prstGeom prst="rect">
            <a:avLst/>
          </a:prstGeom>
          <a:noFill/>
        </p:spPr>
        <p:txBody>
          <a:bodyPr wrap="none" lIns="0" tIns="0" rIns="0" bIns="0" anchor="t">
            <a:spAutoFit/>
          </a:bodyPr>
          <a:lstStyle/>
          <a:p>
            <a:pPr algn="ctr"/>
            <a:r>
              <a:rPr sz="1600" b="1" i="0">
                <a:solidFill>
                  <a:srgbClr val="000000"/>
                </a:solidFill>
                <a:latin typeface="Times New Roman"/>
              </a:rPr>
              <a:t>CERTIFICATE</a:t>
            </a:r>
          </a:p>
        </p:txBody>
      </p:sp>
      <p:sp>
        <p:nvSpPr>
          <p:cNvPr id="5" name="TextBox 4"/>
          <p:cNvSpPr txBox="1"/>
          <p:nvPr/>
        </p:nvSpPr>
        <p:spPr>
          <a:xfrm>
            <a:off x="944880" y="9357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This is to certify that the project report entitled “Enterprise Pharmaceutical Stock and Inventory</a:t>
            </a:r>
          </a:p>
        </p:txBody>
      </p:sp>
      <p:sp>
        <p:nvSpPr>
          <p:cNvPr id="6" name="TextBox 5"/>
          <p:cNvSpPr txBox="1"/>
          <p:nvPr/>
        </p:nvSpPr>
        <p:spPr>
          <a:xfrm>
            <a:off x="716280" y="11135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Management System” is a bonafide work done and submitted by K.Girish – 2520030231 and</a:t>
            </a:r>
          </a:p>
        </p:txBody>
      </p:sp>
      <p:sp>
        <p:nvSpPr>
          <p:cNvPr id="7" name="TextBox 6"/>
          <p:cNvSpPr txBox="1"/>
          <p:nvPr/>
        </p:nvSpPr>
        <p:spPr>
          <a:xfrm>
            <a:off x="716280" y="1291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P.Venkat – 2520030450 in partial fulfillment of the requirements for the award of the degree of</a:t>
            </a:r>
          </a:p>
        </p:txBody>
      </p:sp>
      <p:sp>
        <p:nvSpPr>
          <p:cNvPr id="8" name="TextBox 7"/>
          <p:cNvSpPr txBox="1"/>
          <p:nvPr/>
        </p:nvSpPr>
        <p:spPr>
          <a:xfrm>
            <a:off x="716280" y="14691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BACHELOR OF TECHNOLOGY in the Department of Computer Science and Engineering, K L</a:t>
            </a:r>
          </a:p>
        </p:txBody>
      </p:sp>
      <p:sp>
        <p:nvSpPr>
          <p:cNvPr id="9" name="TextBox 8"/>
          <p:cNvSpPr txBox="1"/>
          <p:nvPr/>
        </p:nvSpPr>
        <p:spPr>
          <a:xfrm>
            <a:off x="716280" y="1646986"/>
            <a:ext cx="3978402" cy="203301"/>
          </a:xfrm>
          <a:prstGeom prst="rect">
            <a:avLst/>
          </a:prstGeom>
          <a:noFill/>
        </p:spPr>
        <p:txBody>
          <a:bodyPr wrap="none" lIns="0" tIns="0" rIns="0" bIns="0" anchor="t">
            <a:spAutoFit/>
          </a:bodyPr>
          <a:lstStyle/>
          <a:p>
            <a:pPr algn="l"/>
            <a:r>
              <a:rPr sz="1200" b="0" i="0">
                <a:solidFill>
                  <a:srgbClr val="000000"/>
                </a:solidFill>
                <a:latin typeface="Times New Roman"/>
              </a:rPr>
              <a:t>(Deemed to be) University, during the academic year 2026-2027.</a:t>
            </a:r>
          </a:p>
        </p:txBody>
      </p:sp>
      <p:sp>
        <p:nvSpPr>
          <p:cNvPr id="10" name="TextBox 9"/>
          <p:cNvSpPr txBox="1"/>
          <p:nvPr/>
        </p:nvSpPr>
        <p:spPr>
          <a:xfrm>
            <a:off x="944880" y="18755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presents a centralized backend solution for managing pharmaceutical inventory</a:t>
            </a:r>
          </a:p>
        </p:txBody>
      </p:sp>
      <p:sp>
        <p:nvSpPr>
          <p:cNvPr id="11" name="TextBox 10"/>
          <p:cNvSpPr txBox="1"/>
          <p:nvPr/>
        </p:nvSpPr>
        <p:spPr>
          <a:xfrm>
            <a:off x="716280" y="20533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operations, including medicine records, suppliers, batches, purchases, sales, stock levels, and</a:t>
            </a:r>
          </a:p>
        </p:txBody>
      </p:sp>
      <p:sp>
        <p:nvSpPr>
          <p:cNvPr id="12" name="TextBox 11"/>
          <p:cNvSpPr txBox="1"/>
          <p:nvPr/>
        </p:nvSpPr>
        <p:spPr>
          <a:xfrm>
            <a:off x="716280" y="2231186"/>
            <a:ext cx="1608429" cy="203301"/>
          </a:xfrm>
          <a:prstGeom prst="rect">
            <a:avLst/>
          </a:prstGeom>
          <a:noFill/>
        </p:spPr>
        <p:txBody>
          <a:bodyPr wrap="none" lIns="0" tIns="0" rIns="0" bIns="0" anchor="t">
            <a:spAutoFit/>
          </a:bodyPr>
          <a:lstStyle/>
          <a:p>
            <a:pPr algn="l"/>
            <a:r>
              <a:rPr sz="1200" b="0" i="0">
                <a:solidFill>
                  <a:srgbClr val="000000"/>
                </a:solidFill>
                <a:latin typeface="Times New Roman"/>
              </a:rPr>
              <a:t>expiry-related monitoring.</a:t>
            </a:r>
          </a:p>
        </p:txBody>
      </p:sp>
      <p:sp>
        <p:nvSpPr>
          <p:cNvPr id="13" name="TextBox 12"/>
          <p:cNvSpPr txBox="1"/>
          <p:nvPr/>
        </p:nvSpPr>
        <p:spPr>
          <a:xfrm>
            <a:off x="1076185" y="2599156"/>
            <a:ext cx="1292828" cy="184689"/>
          </a:xfrm>
          <a:prstGeom prst="rect">
            <a:avLst/>
          </a:prstGeom>
          <a:noFill/>
        </p:spPr>
        <p:txBody>
          <a:bodyPr wrap="none" lIns="0" tIns="0" rIns="0" bIns="0" anchor="t">
            <a:spAutoFit/>
          </a:bodyPr>
          <a:lstStyle/>
          <a:p>
            <a:pPr algn="l"/>
            <a:r>
              <a:rPr sz="1050" b="1" i="0">
                <a:solidFill>
                  <a:srgbClr val="000000"/>
                </a:solidFill>
                <a:latin typeface="Times New Roman"/>
              </a:rPr>
              <a:t>Signature of the Guide</a:t>
            </a:r>
          </a:p>
        </p:txBody>
      </p:sp>
      <p:sp>
        <p:nvSpPr>
          <p:cNvPr id="14" name="TextBox 13"/>
          <p:cNvSpPr txBox="1"/>
          <p:nvPr/>
        </p:nvSpPr>
        <p:spPr>
          <a:xfrm>
            <a:off x="3104048" y="2522956"/>
            <a:ext cx="1351902" cy="184689"/>
          </a:xfrm>
          <a:prstGeom prst="rect">
            <a:avLst/>
          </a:prstGeom>
          <a:noFill/>
        </p:spPr>
        <p:txBody>
          <a:bodyPr wrap="none" lIns="0" tIns="0" rIns="0" bIns="0" anchor="t">
            <a:spAutoFit/>
          </a:bodyPr>
          <a:lstStyle/>
          <a:p>
            <a:pPr algn="ctr"/>
            <a:r>
              <a:rPr sz="1050" b="1" i="0">
                <a:solidFill>
                  <a:srgbClr val="000000"/>
                </a:solidFill>
                <a:latin typeface="Times New Roman"/>
              </a:rPr>
              <a:t>Signature of the Course</a:t>
            </a:r>
          </a:p>
        </p:txBody>
      </p:sp>
      <p:sp>
        <p:nvSpPr>
          <p:cNvPr id="15" name="TextBox 14"/>
          <p:cNvSpPr txBox="1"/>
          <p:nvPr/>
        </p:nvSpPr>
        <p:spPr>
          <a:xfrm>
            <a:off x="3424422" y="2675356"/>
            <a:ext cx="711155" cy="184689"/>
          </a:xfrm>
          <a:prstGeom prst="rect">
            <a:avLst/>
          </a:prstGeom>
          <a:noFill/>
        </p:spPr>
        <p:txBody>
          <a:bodyPr wrap="none" lIns="0" tIns="0" rIns="0" bIns="0" anchor="t">
            <a:spAutoFit/>
          </a:bodyPr>
          <a:lstStyle/>
          <a:p>
            <a:pPr algn="ctr"/>
            <a:r>
              <a:rPr sz="1050" b="1" i="0">
                <a:solidFill>
                  <a:srgbClr val="000000"/>
                </a:solidFill>
                <a:latin typeface="Times New Roman"/>
              </a:rPr>
              <a:t>Coordinator</a:t>
            </a:r>
          </a:p>
        </p:txBody>
      </p:sp>
      <p:sp>
        <p:nvSpPr>
          <p:cNvPr id="16" name="TextBox 15"/>
          <p:cNvSpPr txBox="1"/>
          <p:nvPr/>
        </p:nvSpPr>
        <p:spPr>
          <a:xfrm>
            <a:off x="5213255" y="2599156"/>
            <a:ext cx="1248289" cy="184689"/>
          </a:xfrm>
          <a:prstGeom prst="rect">
            <a:avLst/>
          </a:prstGeom>
          <a:noFill/>
        </p:spPr>
        <p:txBody>
          <a:bodyPr wrap="none" lIns="0" tIns="0" rIns="0" bIns="0" anchor="t">
            <a:spAutoFit/>
          </a:bodyPr>
          <a:lstStyle/>
          <a:p>
            <a:pPr algn="l"/>
            <a:r>
              <a:rPr sz="1050" b="1" i="0">
                <a:solidFill>
                  <a:srgbClr val="000000"/>
                </a:solidFill>
                <a:latin typeface="Times New Roman"/>
              </a:rPr>
              <a:t>Signature of the HOD</a:t>
            </a:r>
          </a:p>
        </p:txBody>
      </p:sp>
      <p:sp>
        <p:nvSpPr>
          <p:cNvPr id="17" name="TextBox 16"/>
          <p:cNvSpPr txBox="1"/>
          <p:nvPr/>
        </p:nvSpPr>
        <p:spPr>
          <a:xfrm>
            <a:off x="744700" y="2902756"/>
            <a:ext cx="1066800" cy="177888"/>
          </a:xfrm>
          <a:prstGeom prst="rect">
            <a:avLst/>
          </a:prstGeom>
          <a:noFill/>
        </p:spPr>
        <p:txBody>
          <a:bodyPr wrap="none" lIns="0" tIns="0" rIns="0" bIns="0" anchor="t">
            <a:spAutoFit/>
          </a:bodyPr>
          <a:lstStyle/>
          <a:p>
            <a:pPr algn="l"/>
            <a:r>
              <a:rPr sz="1050" b="0" i="0">
                <a:solidFill>
                  <a:srgbClr val="000000"/>
                </a:solidFill>
                <a:latin typeface="Times New Roman"/>
              </a:rPr>
              <a:t>________________</a:t>
            </a:r>
          </a:p>
        </p:txBody>
      </p:sp>
      <p:sp>
        <p:nvSpPr>
          <p:cNvPr id="18" name="TextBox 17"/>
          <p:cNvSpPr txBox="1"/>
          <p:nvPr/>
        </p:nvSpPr>
        <p:spPr>
          <a:xfrm>
            <a:off x="2802100" y="2902756"/>
            <a:ext cx="1066800" cy="177888"/>
          </a:xfrm>
          <a:prstGeom prst="rect">
            <a:avLst/>
          </a:prstGeom>
          <a:noFill/>
        </p:spPr>
        <p:txBody>
          <a:bodyPr wrap="none" lIns="0" tIns="0" rIns="0" bIns="0" anchor="t">
            <a:spAutoFit/>
          </a:bodyPr>
          <a:lstStyle/>
          <a:p>
            <a:pPr algn="l"/>
            <a:r>
              <a:rPr sz="1050" b="0" i="0">
                <a:solidFill>
                  <a:srgbClr val="000000"/>
                </a:solidFill>
                <a:latin typeface="Times New Roman"/>
              </a:rPr>
              <a:t>________________</a:t>
            </a:r>
          </a:p>
        </p:txBody>
      </p:sp>
      <p:sp>
        <p:nvSpPr>
          <p:cNvPr id="19" name="TextBox 18"/>
          <p:cNvSpPr txBox="1"/>
          <p:nvPr/>
        </p:nvSpPr>
        <p:spPr>
          <a:xfrm>
            <a:off x="4859499" y="2902756"/>
            <a:ext cx="1066800" cy="177888"/>
          </a:xfrm>
          <a:prstGeom prst="rect">
            <a:avLst/>
          </a:prstGeom>
          <a:noFill/>
        </p:spPr>
        <p:txBody>
          <a:bodyPr wrap="none" lIns="0" tIns="0" rIns="0" bIns="0" anchor="t">
            <a:spAutoFit/>
          </a:bodyPr>
          <a:lstStyle/>
          <a:p>
            <a:pPr algn="l"/>
            <a:r>
              <a:rPr sz="1050" b="0" i="0">
                <a:solidFill>
                  <a:srgbClr val="000000"/>
                </a:solidFill>
                <a:latin typeface="Times New Roman"/>
              </a:rPr>
              <a:t>________________</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60746"/>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4</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639743" y="579322"/>
            <a:ext cx="2280513" cy="281432"/>
          </a:xfrm>
          <a:prstGeom prst="rect">
            <a:avLst/>
          </a:prstGeom>
          <a:noFill/>
        </p:spPr>
        <p:txBody>
          <a:bodyPr wrap="none" lIns="0" tIns="0" rIns="0" bIns="0" anchor="t">
            <a:spAutoFit/>
          </a:bodyPr>
          <a:lstStyle/>
          <a:p>
            <a:pPr algn="ctr"/>
            <a:r>
              <a:rPr sz="1600" b="1" i="0">
                <a:solidFill>
                  <a:srgbClr val="000000"/>
                </a:solidFill>
                <a:latin typeface="Times New Roman"/>
              </a:rPr>
              <a:t>ACKNOWLEDGEMENT</a:t>
            </a:r>
          </a:p>
        </p:txBody>
      </p:sp>
      <p:sp>
        <p:nvSpPr>
          <p:cNvPr id="5" name="TextBox 4"/>
          <p:cNvSpPr txBox="1"/>
          <p:nvPr/>
        </p:nvSpPr>
        <p:spPr>
          <a:xfrm>
            <a:off x="944880" y="9357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successful completion of this project would not have been possible without the guidance,</a:t>
            </a:r>
          </a:p>
        </p:txBody>
      </p:sp>
      <p:sp>
        <p:nvSpPr>
          <p:cNvPr id="6" name="TextBox 5"/>
          <p:cNvSpPr txBox="1"/>
          <p:nvPr/>
        </p:nvSpPr>
        <p:spPr>
          <a:xfrm>
            <a:off x="716280" y="1113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encouragement, and support received throughout the development process. We express our sincere</a:t>
            </a:r>
          </a:p>
        </p:txBody>
      </p:sp>
      <p:sp>
        <p:nvSpPr>
          <p:cNvPr id="7" name="TextBox 6"/>
          <p:cNvSpPr txBox="1"/>
          <p:nvPr/>
        </p:nvSpPr>
        <p:spPr>
          <a:xfrm>
            <a:off x="716280" y="1291386"/>
            <a:ext cx="6048603" cy="203301"/>
          </a:xfrm>
          <a:prstGeom prst="rect">
            <a:avLst/>
          </a:prstGeom>
          <a:noFill/>
        </p:spPr>
        <p:txBody>
          <a:bodyPr wrap="none" lIns="0" tIns="0" rIns="0" bIns="0" anchor="t">
            <a:spAutoFit/>
          </a:bodyPr>
          <a:lstStyle/>
          <a:p>
            <a:pPr algn="ctr"/>
            <a:r>
              <a:rPr sz="1200" b="0" i="0">
                <a:solidFill>
                  <a:srgbClr val="000000"/>
                </a:solidFill>
                <a:latin typeface="Times New Roman"/>
              </a:rPr>
              <a:t>gratitude to everyone who contributed directly or indirectly to the completion of this project report.</a:t>
            </a:r>
          </a:p>
        </p:txBody>
      </p:sp>
      <p:sp>
        <p:nvSpPr>
          <p:cNvPr id="8" name="TextBox 7"/>
          <p:cNvSpPr txBox="1"/>
          <p:nvPr/>
        </p:nvSpPr>
        <p:spPr>
          <a:xfrm>
            <a:off x="944880" y="15199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We are grateful to our project guide and faculty members of the Department of Computer</a:t>
            </a:r>
          </a:p>
        </p:txBody>
      </p:sp>
      <p:sp>
        <p:nvSpPr>
          <p:cNvPr id="9" name="TextBox 8"/>
          <p:cNvSpPr txBox="1"/>
          <p:nvPr/>
        </p:nvSpPr>
        <p:spPr>
          <a:xfrm>
            <a:off x="716280" y="16977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Science and Engineering for providing valuable suggestions, technical direction, and continuous</a:t>
            </a:r>
          </a:p>
        </p:txBody>
      </p:sp>
      <p:sp>
        <p:nvSpPr>
          <p:cNvPr id="10" name="TextBox 9"/>
          <p:cNvSpPr txBox="1"/>
          <p:nvPr/>
        </p:nvSpPr>
        <p:spPr>
          <a:xfrm>
            <a:off x="716280" y="18755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encouragement during the planning, implementation, testing, and documentation stages of the</a:t>
            </a:r>
          </a:p>
        </p:txBody>
      </p:sp>
      <p:sp>
        <p:nvSpPr>
          <p:cNvPr id="11" name="TextBox 10"/>
          <p:cNvSpPr txBox="1"/>
          <p:nvPr/>
        </p:nvSpPr>
        <p:spPr>
          <a:xfrm>
            <a:off x="716280" y="2053386"/>
            <a:ext cx="4236872" cy="203301"/>
          </a:xfrm>
          <a:prstGeom prst="rect">
            <a:avLst/>
          </a:prstGeom>
          <a:noFill/>
        </p:spPr>
        <p:txBody>
          <a:bodyPr wrap="none" lIns="0" tIns="0" rIns="0" bIns="0" anchor="t">
            <a:spAutoFit/>
          </a:bodyPr>
          <a:lstStyle/>
          <a:p>
            <a:pPr algn="l"/>
            <a:r>
              <a:rPr sz="1200" b="0" i="0">
                <a:solidFill>
                  <a:srgbClr val="000000"/>
                </a:solidFill>
                <a:latin typeface="Times New Roman"/>
              </a:rPr>
              <a:t>Enterprise Pharmaceutical Stock and Inventory Management System.</a:t>
            </a:r>
          </a:p>
        </p:txBody>
      </p:sp>
      <p:sp>
        <p:nvSpPr>
          <p:cNvPr id="12" name="TextBox 11"/>
          <p:cNvSpPr txBox="1"/>
          <p:nvPr/>
        </p:nvSpPr>
        <p:spPr>
          <a:xfrm>
            <a:off x="944880" y="22819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We also thank the department and university for providing the academic environment, laboratory</a:t>
            </a:r>
          </a:p>
        </p:txBody>
      </p:sp>
      <p:sp>
        <p:nvSpPr>
          <p:cNvPr id="13" name="TextBox 12"/>
          <p:cNvSpPr txBox="1"/>
          <p:nvPr/>
        </p:nvSpPr>
        <p:spPr>
          <a:xfrm>
            <a:off x="716280" y="24597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facilities, software tools, and learning resources required to carry out the project. The availability of</a:t>
            </a:r>
          </a:p>
        </p:txBody>
      </p:sp>
      <p:sp>
        <p:nvSpPr>
          <p:cNvPr id="14" name="TextBox 13"/>
          <p:cNvSpPr txBox="1"/>
          <p:nvPr/>
        </p:nvSpPr>
        <p:spPr>
          <a:xfrm>
            <a:off x="716280" y="26375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development tools such as Visual Studio Code, Node.js, npm, Postman, and database management</a:t>
            </a:r>
          </a:p>
        </p:txBody>
      </p:sp>
      <p:sp>
        <p:nvSpPr>
          <p:cNvPr id="15" name="TextBox 14"/>
          <p:cNvSpPr txBox="1"/>
          <p:nvPr/>
        </p:nvSpPr>
        <p:spPr>
          <a:xfrm>
            <a:off x="716280" y="2815386"/>
            <a:ext cx="3767480" cy="203301"/>
          </a:xfrm>
          <a:prstGeom prst="rect">
            <a:avLst/>
          </a:prstGeom>
          <a:noFill/>
        </p:spPr>
        <p:txBody>
          <a:bodyPr wrap="none" lIns="0" tIns="0" rIns="0" bIns="0" anchor="t">
            <a:spAutoFit/>
          </a:bodyPr>
          <a:lstStyle/>
          <a:p>
            <a:pPr algn="l"/>
            <a:r>
              <a:rPr sz="1200" b="0" i="0">
                <a:solidFill>
                  <a:srgbClr val="000000"/>
                </a:solidFill>
                <a:latin typeface="Times New Roman"/>
              </a:rPr>
              <a:t>utilities supported the practical implementation of the system.</a:t>
            </a:r>
          </a:p>
        </p:txBody>
      </p:sp>
      <p:sp>
        <p:nvSpPr>
          <p:cNvPr id="16" name="TextBox 15"/>
          <p:cNvSpPr txBox="1"/>
          <p:nvPr/>
        </p:nvSpPr>
        <p:spPr>
          <a:xfrm>
            <a:off x="944880" y="30439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Finally, we thank our parents, friends, classmates, and all those who supported us with their</a:t>
            </a:r>
          </a:p>
        </p:txBody>
      </p:sp>
      <p:sp>
        <p:nvSpPr>
          <p:cNvPr id="17" name="TextBox 16"/>
          <p:cNvSpPr txBox="1"/>
          <p:nvPr/>
        </p:nvSpPr>
        <p:spPr>
          <a:xfrm>
            <a:off x="716280" y="32217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time, suggestions, and encouragement. Their cooperation helped us complete the project</a:t>
            </a:r>
          </a:p>
        </p:txBody>
      </p:sp>
      <p:sp>
        <p:nvSpPr>
          <p:cNvPr id="18" name="TextBox 17"/>
          <p:cNvSpPr txBox="1"/>
          <p:nvPr/>
        </p:nvSpPr>
        <p:spPr>
          <a:xfrm>
            <a:off x="716280" y="3399586"/>
            <a:ext cx="3500171" cy="203301"/>
          </a:xfrm>
          <a:prstGeom prst="rect">
            <a:avLst/>
          </a:prstGeom>
          <a:noFill/>
        </p:spPr>
        <p:txBody>
          <a:bodyPr wrap="none" lIns="0" tIns="0" rIns="0" bIns="0" anchor="t">
            <a:spAutoFit/>
          </a:bodyPr>
          <a:lstStyle/>
          <a:p>
            <a:pPr algn="l"/>
            <a:r>
              <a:rPr sz="1200" b="0" i="0">
                <a:solidFill>
                  <a:srgbClr val="000000"/>
                </a:solidFill>
                <a:latin typeface="Times New Roman"/>
              </a:rPr>
              <a:t>successfully and present the work in a structured manner.</a:t>
            </a:r>
          </a:p>
        </p:txBody>
      </p:sp>
      <p:sp>
        <p:nvSpPr>
          <p:cNvPr id="19" name="TextBox 18"/>
          <p:cNvSpPr txBox="1"/>
          <p:nvPr/>
        </p:nvSpPr>
        <p:spPr>
          <a:xfrm>
            <a:off x="5400187" y="3628186"/>
            <a:ext cx="1443532" cy="203301"/>
          </a:xfrm>
          <a:prstGeom prst="rect">
            <a:avLst/>
          </a:prstGeom>
          <a:noFill/>
        </p:spPr>
        <p:txBody>
          <a:bodyPr wrap="none" lIns="0" tIns="0" rIns="0" bIns="0" anchor="t">
            <a:spAutoFit/>
          </a:bodyPr>
          <a:lstStyle/>
          <a:p>
            <a:pPr algn="l"/>
            <a:r>
              <a:rPr sz="1200" b="0" i="0">
                <a:solidFill>
                  <a:srgbClr val="000000"/>
                </a:solidFill>
                <a:latin typeface="Times New Roman"/>
              </a:rPr>
              <a:t>K.Girish – 2520030231</a:t>
            </a:r>
          </a:p>
        </p:txBody>
      </p:sp>
      <p:sp>
        <p:nvSpPr>
          <p:cNvPr id="20" name="TextBox 19"/>
          <p:cNvSpPr txBox="1"/>
          <p:nvPr/>
        </p:nvSpPr>
        <p:spPr>
          <a:xfrm>
            <a:off x="5366354" y="3856786"/>
            <a:ext cx="1477365" cy="203301"/>
          </a:xfrm>
          <a:prstGeom prst="rect">
            <a:avLst/>
          </a:prstGeom>
          <a:noFill/>
        </p:spPr>
        <p:txBody>
          <a:bodyPr wrap="none" lIns="0" tIns="0" rIns="0" bIns="0" anchor="t">
            <a:spAutoFit/>
          </a:bodyPr>
          <a:lstStyle/>
          <a:p>
            <a:pPr algn="l"/>
            <a:r>
              <a:rPr sz="1200" b="0" i="0">
                <a:solidFill>
                  <a:srgbClr val="000000"/>
                </a:solidFill>
                <a:latin typeface="Times New Roman"/>
              </a:rPr>
              <a:t>P.Venkat – 2520030450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60746"/>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5</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3226787" y="579322"/>
            <a:ext cx="1106423" cy="281432"/>
          </a:xfrm>
          <a:prstGeom prst="rect">
            <a:avLst/>
          </a:prstGeom>
          <a:noFill/>
        </p:spPr>
        <p:txBody>
          <a:bodyPr wrap="none" lIns="0" tIns="0" rIns="0" bIns="0" anchor="t">
            <a:spAutoFit/>
          </a:bodyPr>
          <a:lstStyle/>
          <a:p>
            <a:pPr algn="ctr"/>
            <a:r>
              <a:rPr sz="1600" b="1" i="0">
                <a:solidFill>
                  <a:srgbClr val="000000"/>
                </a:solidFill>
                <a:latin typeface="Times New Roman"/>
              </a:rPr>
              <a:t>ABSTRACT</a:t>
            </a:r>
          </a:p>
        </p:txBody>
      </p:sp>
      <p:sp>
        <p:nvSpPr>
          <p:cNvPr id="5" name="TextBox 4"/>
          <p:cNvSpPr txBox="1"/>
          <p:nvPr/>
        </p:nvSpPr>
        <p:spPr>
          <a:xfrm>
            <a:off x="944880" y="9357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Enterprise Pharmaceutical Stock and Inventory Management System is a backend-based</a:t>
            </a:r>
          </a:p>
        </p:txBody>
      </p:sp>
      <p:sp>
        <p:nvSpPr>
          <p:cNvPr id="6" name="TextBox 5"/>
          <p:cNvSpPr txBox="1"/>
          <p:nvPr/>
        </p:nvSpPr>
        <p:spPr>
          <a:xfrm>
            <a:off x="716280" y="1113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application designed to efficiently manage and monitor pharmaceutical inventory operations. The</a:t>
            </a:r>
          </a:p>
        </p:txBody>
      </p:sp>
      <p:sp>
        <p:nvSpPr>
          <p:cNvPr id="7" name="TextBox 6"/>
          <p:cNvSpPr txBox="1"/>
          <p:nvPr/>
        </p:nvSpPr>
        <p:spPr>
          <a:xfrm>
            <a:off x="716280" y="1291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system aims to overcome the limitations of traditional manual inventory management, such as data</a:t>
            </a:r>
          </a:p>
        </p:txBody>
      </p:sp>
      <p:sp>
        <p:nvSpPr>
          <p:cNvPr id="8" name="TextBox 7"/>
          <p:cNvSpPr txBox="1"/>
          <p:nvPr/>
        </p:nvSpPr>
        <p:spPr>
          <a:xfrm>
            <a:off x="716280" y="1469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duplication, human errors, stock shortages, overstocking, and difficulty in tracking medicine expiry</a:t>
            </a:r>
          </a:p>
        </p:txBody>
      </p:sp>
      <p:sp>
        <p:nvSpPr>
          <p:cNvPr id="9" name="TextBox 8"/>
          <p:cNvSpPr txBox="1"/>
          <p:nvPr/>
        </p:nvSpPr>
        <p:spPr>
          <a:xfrm>
            <a:off x="716280" y="16469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dates. It provides a centralized platform for managing medicines, suppliers, batches, purchases,</a:t>
            </a:r>
          </a:p>
        </p:txBody>
      </p:sp>
      <p:sp>
        <p:nvSpPr>
          <p:cNvPr id="10" name="TextBox 9"/>
          <p:cNvSpPr txBox="1"/>
          <p:nvPr/>
        </p:nvSpPr>
        <p:spPr>
          <a:xfrm>
            <a:off x="716280" y="18247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sales, and available stock. The backend is developed using Node.js and Express.js, which provide a</a:t>
            </a:r>
          </a:p>
        </p:txBody>
      </p:sp>
      <p:sp>
        <p:nvSpPr>
          <p:cNvPr id="11" name="TextBox 10"/>
          <p:cNvSpPr txBox="1"/>
          <p:nvPr/>
        </p:nvSpPr>
        <p:spPr>
          <a:xfrm>
            <a:off x="716280" y="2002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scalable environment for building RESTful APIs and handling communication between the</a:t>
            </a:r>
          </a:p>
        </p:txBody>
      </p:sp>
      <p:sp>
        <p:nvSpPr>
          <p:cNvPr id="12" name="TextBox 11"/>
          <p:cNvSpPr txBox="1"/>
          <p:nvPr/>
        </p:nvSpPr>
        <p:spPr>
          <a:xfrm>
            <a:off x="716280" y="2180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application and database. MongoDB is used as the database to store pharmaceutical and</a:t>
            </a:r>
          </a:p>
        </p:txBody>
      </p:sp>
      <p:sp>
        <p:nvSpPr>
          <p:cNvPr id="13" name="TextBox 12"/>
          <p:cNvSpPr txBox="1"/>
          <p:nvPr/>
        </p:nvSpPr>
        <p:spPr>
          <a:xfrm>
            <a:off x="716280" y="23581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inventory-related information in a flexible and organized manner. The system provides APIs for</a:t>
            </a:r>
          </a:p>
        </p:txBody>
      </p:sp>
      <p:sp>
        <p:nvSpPr>
          <p:cNvPr id="14" name="TextBox 13"/>
          <p:cNvSpPr txBox="1"/>
          <p:nvPr/>
        </p:nvSpPr>
        <p:spPr>
          <a:xfrm>
            <a:off x="716280" y="2535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adding, updating, deleting, and retrieving medicine and supplier details, as well as monitoring stock</a:t>
            </a:r>
          </a:p>
        </p:txBody>
      </p:sp>
      <p:sp>
        <p:nvSpPr>
          <p:cNvPr id="15" name="TextBox 14"/>
          <p:cNvSpPr txBox="1"/>
          <p:nvPr/>
        </p:nvSpPr>
        <p:spPr>
          <a:xfrm>
            <a:off x="716280" y="27137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quantities and inventory transactions. Batch numbers, manufacturing dates, and expiry dates can</a:t>
            </a:r>
          </a:p>
        </p:txBody>
      </p:sp>
      <p:sp>
        <p:nvSpPr>
          <p:cNvPr id="16" name="TextBox 15"/>
          <p:cNvSpPr txBox="1"/>
          <p:nvPr/>
        </p:nvSpPr>
        <p:spPr>
          <a:xfrm>
            <a:off x="716280" y="2891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also be maintained to improve medicine traceability and help prevent the distribution of expired</a:t>
            </a:r>
          </a:p>
        </p:txBody>
      </p:sp>
      <p:sp>
        <p:nvSpPr>
          <p:cNvPr id="17" name="TextBox 16"/>
          <p:cNvSpPr txBox="1"/>
          <p:nvPr/>
        </p:nvSpPr>
        <p:spPr>
          <a:xfrm>
            <a:off x="716280" y="3069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products. The system enables administrators and authorized staff to maintain accurate and up-to-date</a:t>
            </a:r>
          </a:p>
        </p:txBody>
      </p:sp>
      <p:sp>
        <p:nvSpPr>
          <p:cNvPr id="18" name="TextBox 17"/>
          <p:cNvSpPr txBox="1"/>
          <p:nvPr/>
        </p:nvSpPr>
        <p:spPr>
          <a:xfrm>
            <a:off x="716280" y="3247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inventory records and identify low-stock and near-expiry medicines. By automating routine</a:t>
            </a:r>
          </a:p>
        </p:txBody>
      </p:sp>
      <p:sp>
        <p:nvSpPr>
          <p:cNvPr id="19" name="TextBox 18"/>
          <p:cNvSpPr txBox="1"/>
          <p:nvPr/>
        </p:nvSpPr>
        <p:spPr>
          <a:xfrm>
            <a:off x="716280" y="3424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inventory operations, the proposed system reduces manual effort, improves data accuracy, saves</a:t>
            </a:r>
          </a:p>
        </p:txBody>
      </p:sp>
      <p:sp>
        <p:nvSpPr>
          <p:cNvPr id="20" name="TextBox 19"/>
          <p:cNvSpPr txBox="1"/>
          <p:nvPr/>
        </p:nvSpPr>
        <p:spPr>
          <a:xfrm>
            <a:off x="716280" y="36027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time, and supports better purchasing and stock management decisions. Overall, the Enterprise</a:t>
            </a:r>
          </a:p>
        </p:txBody>
      </p:sp>
      <p:sp>
        <p:nvSpPr>
          <p:cNvPr id="21" name="TextBox 20"/>
          <p:cNvSpPr txBox="1"/>
          <p:nvPr/>
        </p:nvSpPr>
        <p:spPr>
          <a:xfrm>
            <a:off x="716280" y="3780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Pharmaceutical Stock and Inventory Management System provides a reliable, secure, and scalable</a:t>
            </a:r>
          </a:p>
        </p:txBody>
      </p:sp>
      <p:sp>
        <p:nvSpPr>
          <p:cNvPr id="22" name="TextBox 21"/>
          <p:cNvSpPr txBox="1"/>
          <p:nvPr/>
        </p:nvSpPr>
        <p:spPr>
          <a:xfrm>
            <a:off x="716280" y="39583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backend solution for pharmaceutical businesses, improving inventory control, stock visibility, and</a:t>
            </a:r>
          </a:p>
        </p:txBody>
      </p:sp>
      <p:sp>
        <p:nvSpPr>
          <p:cNvPr id="23" name="TextBox 22"/>
          <p:cNvSpPr txBox="1"/>
          <p:nvPr/>
        </p:nvSpPr>
        <p:spPr>
          <a:xfrm>
            <a:off x="716280" y="4136186"/>
            <a:ext cx="3110484" cy="203301"/>
          </a:xfrm>
          <a:prstGeom prst="rect">
            <a:avLst/>
          </a:prstGeom>
          <a:noFill/>
        </p:spPr>
        <p:txBody>
          <a:bodyPr wrap="none" lIns="0" tIns="0" rIns="0" bIns="0" anchor="t">
            <a:spAutoFit/>
          </a:bodyPr>
          <a:lstStyle/>
          <a:p>
            <a:pPr algn="l"/>
            <a:r>
              <a:rPr sz="1200" b="0" i="0">
                <a:solidFill>
                  <a:srgbClr val="000000"/>
                </a:solidFill>
                <a:latin typeface="Times New Roman"/>
              </a:rPr>
              <a:t>efficient management of pharmaceutical resources.</a:t>
            </a:r>
          </a:p>
        </p:txBody>
      </p:sp>
      <p:sp>
        <p:nvSpPr>
          <p:cNvPr id="24" name="TextBox 23"/>
          <p:cNvSpPr txBox="1"/>
          <p:nvPr/>
        </p:nvSpPr>
        <p:spPr>
          <a:xfrm>
            <a:off x="716280" y="4403140"/>
            <a:ext cx="1002436" cy="246252"/>
          </a:xfrm>
          <a:prstGeom prst="rect">
            <a:avLst/>
          </a:prstGeom>
          <a:noFill/>
        </p:spPr>
        <p:txBody>
          <a:bodyPr wrap="none" lIns="0" tIns="0" rIns="0" bIns="0" anchor="t">
            <a:spAutoFit/>
          </a:bodyPr>
          <a:lstStyle/>
          <a:p>
            <a:pPr algn="l"/>
            <a:r>
              <a:rPr sz="1400" b="1" i="0">
                <a:solidFill>
                  <a:srgbClr val="000000"/>
                </a:solidFill>
                <a:latin typeface="Times New Roman"/>
              </a:rPr>
              <a:t>Team Details</a:t>
            </a:r>
          </a:p>
        </p:txBody>
      </p:sp>
      <p:sp>
        <p:nvSpPr>
          <p:cNvPr id="25" name="TextBox 24"/>
          <p:cNvSpPr txBox="1"/>
          <p:nvPr/>
        </p:nvSpPr>
        <p:spPr>
          <a:xfrm>
            <a:off x="1280011" y="4745456"/>
            <a:ext cx="885177" cy="184689"/>
          </a:xfrm>
          <a:prstGeom prst="rect">
            <a:avLst/>
          </a:prstGeom>
          <a:noFill/>
        </p:spPr>
        <p:txBody>
          <a:bodyPr wrap="none" lIns="0" tIns="0" rIns="0" bIns="0" anchor="t">
            <a:spAutoFit/>
          </a:bodyPr>
          <a:lstStyle/>
          <a:p>
            <a:pPr algn="l"/>
            <a:r>
              <a:rPr sz="1050" b="1" i="0">
                <a:solidFill>
                  <a:srgbClr val="000000"/>
                </a:solidFill>
                <a:latin typeface="Times New Roman"/>
              </a:rPr>
              <a:t>Roll Number(s)</a:t>
            </a:r>
          </a:p>
        </p:txBody>
      </p:sp>
      <p:sp>
        <p:nvSpPr>
          <p:cNvPr id="26" name="TextBox 25"/>
          <p:cNvSpPr txBox="1"/>
          <p:nvPr/>
        </p:nvSpPr>
        <p:spPr>
          <a:xfrm>
            <a:off x="3196660" y="4745456"/>
            <a:ext cx="1166678" cy="184689"/>
          </a:xfrm>
          <a:prstGeom prst="rect">
            <a:avLst/>
          </a:prstGeom>
          <a:noFill/>
        </p:spPr>
        <p:txBody>
          <a:bodyPr wrap="none" lIns="0" tIns="0" rIns="0" bIns="0" anchor="t">
            <a:spAutoFit/>
          </a:bodyPr>
          <a:lstStyle/>
          <a:p>
            <a:pPr algn="ctr"/>
            <a:r>
              <a:rPr sz="1050" b="1" i="0">
                <a:solidFill>
                  <a:srgbClr val="000000"/>
                </a:solidFill>
                <a:latin typeface="Times New Roman"/>
              </a:rPr>
              <a:t>Name of the Student</a:t>
            </a:r>
          </a:p>
        </p:txBody>
      </p:sp>
      <p:sp>
        <p:nvSpPr>
          <p:cNvPr id="27" name="TextBox 26"/>
          <p:cNvSpPr txBox="1"/>
          <p:nvPr/>
        </p:nvSpPr>
        <p:spPr>
          <a:xfrm>
            <a:off x="5559565" y="4745456"/>
            <a:ext cx="555669" cy="184689"/>
          </a:xfrm>
          <a:prstGeom prst="rect">
            <a:avLst/>
          </a:prstGeom>
          <a:noFill/>
        </p:spPr>
        <p:txBody>
          <a:bodyPr wrap="none" lIns="0" tIns="0" rIns="0" bIns="0" anchor="t">
            <a:spAutoFit/>
          </a:bodyPr>
          <a:lstStyle/>
          <a:p>
            <a:pPr algn="l"/>
            <a:r>
              <a:rPr sz="1050" b="1" i="0">
                <a:solidFill>
                  <a:srgbClr val="000000"/>
                </a:solidFill>
                <a:latin typeface="Times New Roman"/>
              </a:rPr>
              <a:t>Signature</a:t>
            </a:r>
          </a:p>
        </p:txBody>
      </p:sp>
      <p:sp>
        <p:nvSpPr>
          <p:cNvPr id="28" name="TextBox 27"/>
          <p:cNvSpPr txBox="1"/>
          <p:nvPr/>
        </p:nvSpPr>
        <p:spPr>
          <a:xfrm>
            <a:off x="744700" y="4972856"/>
            <a:ext cx="666750" cy="177888"/>
          </a:xfrm>
          <a:prstGeom prst="rect">
            <a:avLst/>
          </a:prstGeom>
          <a:noFill/>
        </p:spPr>
        <p:txBody>
          <a:bodyPr wrap="none" lIns="0" tIns="0" rIns="0" bIns="0" anchor="t">
            <a:spAutoFit/>
          </a:bodyPr>
          <a:lstStyle/>
          <a:p>
            <a:pPr algn="l"/>
            <a:r>
              <a:rPr sz="1050" b="0" i="0">
                <a:solidFill>
                  <a:srgbClr val="000000"/>
                </a:solidFill>
                <a:latin typeface="Times New Roman"/>
              </a:rPr>
              <a:t>2520030231</a:t>
            </a:r>
          </a:p>
        </p:txBody>
      </p:sp>
      <p:sp>
        <p:nvSpPr>
          <p:cNvPr id="29" name="TextBox 28"/>
          <p:cNvSpPr txBox="1"/>
          <p:nvPr/>
        </p:nvSpPr>
        <p:spPr>
          <a:xfrm>
            <a:off x="2802100" y="4972856"/>
            <a:ext cx="462991" cy="177888"/>
          </a:xfrm>
          <a:prstGeom prst="rect">
            <a:avLst/>
          </a:prstGeom>
          <a:noFill/>
        </p:spPr>
        <p:txBody>
          <a:bodyPr wrap="none" lIns="0" tIns="0" rIns="0" bIns="0" anchor="t">
            <a:spAutoFit/>
          </a:bodyPr>
          <a:lstStyle/>
          <a:p>
            <a:pPr algn="l"/>
            <a:r>
              <a:rPr sz="1050" b="0" i="0">
                <a:solidFill>
                  <a:srgbClr val="000000"/>
                </a:solidFill>
                <a:latin typeface="Times New Roman"/>
              </a:rPr>
              <a:t>K.Girish</a:t>
            </a:r>
          </a:p>
        </p:txBody>
      </p:sp>
      <p:sp>
        <p:nvSpPr>
          <p:cNvPr id="31" name="TextBox 30"/>
          <p:cNvSpPr txBox="1"/>
          <p:nvPr/>
        </p:nvSpPr>
        <p:spPr>
          <a:xfrm>
            <a:off x="744700" y="5201456"/>
            <a:ext cx="666750" cy="177888"/>
          </a:xfrm>
          <a:prstGeom prst="rect">
            <a:avLst/>
          </a:prstGeom>
          <a:noFill/>
        </p:spPr>
        <p:txBody>
          <a:bodyPr wrap="none" lIns="0" tIns="0" rIns="0" bIns="0" anchor="t">
            <a:spAutoFit/>
          </a:bodyPr>
          <a:lstStyle/>
          <a:p>
            <a:pPr algn="l"/>
            <a:r>
              <a:rPr sz="1050" b="0" i="0">
                <a:solidFill>
                  <a:srgbClr val="000000"/>
                </a:solidFill>
                <a:latin typeface="Times New Roman"/>
              </a:rPr>
              <a:t>2520030450</a:t>
            </a:r>
          </a:p>
        </p:txBody>
      </p:sp>
      <p:sp>
        <p:nvSpPr>
          <p:cNvPr id="32" name="TextBox 31"/>
          <p:cNvSpPr txBox="1"/>
          <p:nvPr/>
        </p:nvSpPr>
        <p:spPr>
          <a:xfrm>
            <a:off x="2802100" y="5201456"/>
            <a:ext cx="492594" cy="177888"/>
          </a:xfrm>
          <a:prstGeom prst="rect">
            <a:avLst/>
          </a:prstGeom>
          <a:noFill/>
        </p:spPr>
        <p:txBody>
          <a:bodyPr wrap="none" lIns="0" tIns="0" rIns="0" bIns="0" anchor="t">
            <a:spAutoFit/>
          </a:bodyPr>
          <a:lstStyle/>
          <a:p>
            <a:pPr algn="l"/>
            <a:r>
              <a:rPr sz="1050" b="0" i="0">
                <a:solidFill>
                  <a:srgbClr val="000000"/>
                </a:solidFill>
                <a:latin typeface="Times New Roman"/>
              </a:rPr>
              <a:t>P.Venkat</a:t>
            </a:r>
          </a:p>
        </p:txBody>
      </p:sp>
      <p:sp>
        <p:nvSpPr>
          <p:cNvPr id="33" name="TextBox 32"/>
          <p:cNvSpPr txBox="1"/>
          <p:nvPr/>
        </p:nvSpPr>
        <p:spPr>
          <a:xfrm>
            <a:off x="4859499" y="5201456"/>
            <a:ext cx="1066800" cy="177888"/>
          </a:xfrm>
          <a:prstGeom prst="rect">
            <a:avLst/>
          </a:prstGeom>
          <a:noFill/>
        </p:spPr>
        <p:txBody>
          <a:bodyPr wrap="none" lIns="0" tIns="0" rIns="0" bIns="0" anchor="t">
            <a:spAutoFit/>
          </a:bodyPr>
          <a:lstStyle/>
          <a:p>
            <a:pPr algn="l"/>
            <a:r>
              <a:rPr sz="1050" b="0" i="0">
                <a:solidFill>
                  <a:srgbClr val="000000"/>
                </a:solidFill>
                <a:latin typeface="Times New Roman"/>
              </a:rPr>
              <a:t>________________</a:t>
            </a:r>
          </a:p>
        </p:txBody>
      </p:sp>
      <p:sp>
        <p:nvSpPr>
          <p:cNvPr id="34" name="TextBox 33"/>
          <p:cNvSpPr txBox="1"/>
          <p:nvPr/>
        </p:nvSpPr>
        <p:spPr>
          <a:xfrm>
            <a:off x="716280" y="5512104"/>
            <a:ext cx="3096031" cy="246252"/>
          </a:xfrm>
          <a:prstGeom prst="rect">
            <a:avLst/>
          </a:prstGeom>
          <a:noFill/>
        </p:spPr>
        <p:txBody>
          <a:bodyPr wrap="none" lIns="0" tIns="0" rIns="0" bIns="0" anchor="t">
            <a:spAutoFit/>
          </a:bodyPr>
          <a:lstStyle/>
          <a:p>
            <a:pPr algn="l"/>
            <a:r>
              <a:rPr sz="1400" b="1" i="0">
                <a:solidFill>
                  <a:srgbClr val="000000"/>
                </a:solidFill>
                <a:latin typeface="Times New Roman"/>
              </a:rPr>
              <a:t>Frameworks / Platforms / Software Used</a:t>
            </a:r>
          </a:p>
        </p:txBody>
      </p:sp>
      <p:sp>
        <p:nvSpPr>
          <p:cNvPr id="35" name="TextBox 34"/>
          <p:cNvSpPr txBox="1"/>
          <p:nvPr/>
        </p:nvSpPr>
        <p:spPr>
          <a:xfrm>
            <a:off x="716280" y="5791250"/>
            <a:ext cx="1496720" cy="203301"/>
          </a:xfrm>
          <a:prstGeom prst="rect">
            <a:avLst/>
          </a:prstGeom>
          <a:noFill/>
        </p:spPr>
        <p:txBody>
          <a:bodyPr wrap="none" lIns="0" tIns="0" rIns="0" bIns="0" anchor="t">
            <a:spAutoFit/>
          </a:bodyPr>
          <a:lstStyle/>
          <a:p>
            <a:pPr algn="l"/>
            <a:r>
              <a:rPr sz="1200" b="0" i="0">
                <a:solidFill>
                  <a:srgbClr val="000000"/>
                </a:solidFill>
                <a:latin typeface="Times New Roman"/>
              </a:rPr>
              <a:t>• Framework: Express.js</a:t>
            </a:r>
          </a:p>
        </p:txBody>
      </p:sp>
      <p:sp>
        <p:nvSpPr>
          <p:cNvPr id="36" name="TextBox 35"/>
          <p:cNvSpPr txBox="1"/>
          <p:nvPr/>
        </p:nvSpPr>
        <p:spPr>
          <a:xfrm>
            <a:off x="716280" y="6019850"/>
            <a:ext cx="1742541" cy="203301"/>
          </a:xfrm>
          <a:prstGeom prst="rect">
            <a:avLst/>
          </a:prstGeom>
          <a:noFill/>
        </p:spPr>
        <p:txBody>
          <a:bodyPr wrap="none" lIns="0" tIns="0" rIns="0" bIns="0" anchor="t">
            <a:spAutoFit/>
          </a:bodyPr>
          <a:lstStyle/>
          <a:p>
            <a:pPr algn="l"/>
            <a:r>
              <a:rPr sz="1200" b="0" i="0">
                <a:solidFill>
                  <a:srgbClr val="000000"/>
                </a:solidFill>
                <a:latin typeface="Times New Roman"/>
              </a:rPr>
              <a:t>• Platform/Runtime: Node.js</a:t>
            </a:r>
          </a:p>
        </p:txBody>
      </p:sp>
      <p:sp>
        <p:nvSpPr>
          <p:cNvPr id="37" name="TextBox 36"/>
          <p:cNvSpPr txBox="1"/>
          <p:nvPr/>
        </p:nvSpPr>
        <p:spPr>
          <a:xfrm>
            <a:off x="716280" y="6248450"/>
            <a:ext cx="2284019" cy="203301"/>
          </a:xfrm>
          <a:prstGeom prst="rect">
            <a:avLst/>
          </a:prstGeom>
          <a:noFill/>
        </p:spPr>
        <p:txBody>
          <a:bodyPr wrap="none" lIns="0" tIns="0" rIns="0" bIns="0" anchor="t">
            <a:spAutoFit/>
          </a:bodyPr>
          <a:lstStyle/>
          <a:p>
            <a:pPr algn="l"/>
            <a:r>
              <a:rPr sz="1200" b="0" i="0">
                <a:solidFill>
                  <a:srgbClr val="000000"/>
                </a:solidFill>
                <a:latin typeface="Times New Roman"/>
              </a:rPr>
              <a:t>• Programming Language: JavaScript</a:t>
            </a:r>
          </a:p>
        </p:txBody>
      </p:sp>
      <p:sp>
        <p:nvSpPr>
          <p:cNvPr id="38" name="TextBox 37"/>
          <p:cNvSpPr txBox="1"/>
          <p:nvPr/>
        </p:nvSpPr>
        <p:spPr>
          <a:xfrm>
            <a:off x="716280" y="6477051"/>
            <a:ext cx="1382420" cy="203301"/>
          </a:xfrm>
          <a:prstGeom prst="rect">
            <a:avLst/>
          </a:prstGeom>
          <a:noFill/>
        </p:spPr>
        <p:txBody>
          <a:bodyPr wrap="none" lIns="0" tIns="0" rIns="0" bIns="0" anchor="t">
            <a:spAutoFit/>
          </a:bodyPr>
          <a:lstStyle/>
          <a:p>
            <a:pPr algn="l"/>
            <a:r>
              <a:rPr sz="1200" b="0" i="0">
                <a:solidFill>
                  <a:srgbClr val="000000"/>
                </a:solidFill>
                <a:latin typeface="Times New Roman"/>
              </a:rPr>
              <a:t>• Database: MongoDB</a:t>
            </a:r>
          </a:p>
        </p:txBody>
      </p:sp>
      <p:sp>
        <p:nvSpPr>
          <p:cNvPr id="39" name="TextBox 38"/>
          <p:cNvSpPr txBox="1"/>
          <p:nvPr/>
        </p:nvSpPr>
        <p:spPr>
          <a:xfrm>
            <a:off x="716280" y="6705651"/>
            <a:ext cx="3139135" cy="203301"/>
          </a:xfrm>
          <a:prstGeom prst="rect">
            <a:avLst/>
          </a:prstGeom>
          <a:noFill/>
        </p:spPr>
        <p:txBody>
          <a:bodyPr wrap="none" lIns="0" tIns="0" rIns="0" bIns="0" anchor="t">
            <a:spAutoFit/>
          </a:bodyPr>
          <a:lstStyle/>
          <a:p>
            <a:pPr algn="l"/>
            <a:r>
              <a:rPr sz="1200" b="0" i="0">
                <a:solidFill>
                  <a:srgbClr val="000000"/>
                </a:solidFill>
                <a:latin typeface="Times New Roman"/>
              </a:rPr>
              <a:t>• Database Management Tool: MongoDB Compass</a:t>
            </a:r>
          </a:p>
        </p:txBody>
      </p:sp>
      <p:sp>
        <p:nvSpPr>
          <p:cNvPr id="40" name="TextBox 39"/>
          <p:cNvSpPr txBox="1"/>
          <p:nvPr/>
        </p:nvSpPr>
        <p:spPr>
          <a:xfrm>
            <a:off x="716280" y="6934251"/>
            <a:ext cx="1763725" cy="203301"/>
          </a:xfrm>
          <a:prstGeom prst="rect">
            <a:avLst/>
          </a:prstGeom>
          <a:noFill/>
        </p:spPr>
        <p:txBody>
          <a:bodyPr wrap="none" lIns="0" tIns="0" rIns="0" bIns="0" anchor="t">
            <a:spAutoFit/>
          </a:bodyPr>
          <a:lstStyle/>
          <a:p>
            <a:pPr algn="l"/>
            <a:r>
              <a:rPr sz="1200" b="0" i="0">
                <a:solidFill>
                  <a:srgbClr val="000000"/>
                </a:solidFill>
                <a:latin typeface="Times New Roman"/>
              </a:rPr>
              <a:t>• API Testing Tool: Postman</a:t>
            </a:r>
          </a:p>
        </p:txBody>
      </p:sp>
      <p:sp>
        <p:nvSpPr>
          <p:cNvPr id="41" name="TextBox 40"/>
          <p:cNvSpPr txBox="1"/>
          <p:nvPr/>
        </p:nvSpPr>
        <p:spPr>
          <a:xfrm>
            <a:off x="716280" y="7162851"/>
            <a:ext cx="3020872" cy="203301"/>
          </a:xfrm>
          <a:prstGeom prst="rect">
            <a:avLst/>
          </a:prstGeom>
          <a:noFill/>
        </p:spPr>
        <p:txBody>
          <a:bodyPr wrap="none" lIns="0" tIns="0" rIns="0" bIns="0" anchor="t">
            <a:spAutoFit/>
          </a:bodyPr>
          <a:lstStyle/>
          <a:p>
            <a:pPr algn="l"/>
            <a:r>
              <a:rPr sz="1200" b="0" i="0">
                <a:solidFill>
                  <a:srgbClr val="000000"/>
                </a:solidFill>
                <a:latin typeface="Times New Roman"/>
              </a:rPr>
              <a:t>• Development Environment: Visual Studio Code</a:t>
            </a:r>
          </a:p>
        </p:txBody>
      </p:sp>
      <p:sp>
        <p:nvSpPr>
          <p:cNvPr id="42" name="TextBox 41"/>
          <p:cNvSpPr txBox="1"/>
          <p:nvPr/>
        </p:nvSpPr>
        <p:spPr>
          <a:xfrm>
            <a:off x="716280" y="7391450"/>
            <a:ext cx="1530401" cy="203301"/>
          </a:xfrm>
          <a:prstGeom prst="rect">
            <a:avLst/>
          </a:prstGeom>
          <a:noFill/>
        </p:spPr>
        <p:txBody>
          <a:bodyPr wrap="none" lIns="0" tIns="0" rIns="0" bIns="0" anchor="t">
            <a:spAutoFit/>
          </a:bodyPr>
          <a:lstStyle/>
          <a:p>
            <a:pPr algn="l"/>
            <a:r>
              <a:rPr sz="1200" b="0" i="0">
                <a:solidFill>
                  <a:srgbClr val="000000"/>
                </a:solidFill>
                <a:latin typeface="Times New Roman"/>
              </a:rPr>
              <a:t>• Package Manager: npm</a:t>
            </a:r>
          </a:p>
        </p:txBody>
      </p:sp>
      <p:sp>
        <p:nvSpPr>
          <p:cNvPr id="43" name="TextBox 42"/>
          <p:cNvSpPr txBox="1"/>
          <p:nvPr/>
        </p:nvSpPr>
        <p:spPr>
          <a:xfrm>
            <a:off x="716280" y="7620050"/>
            <a:ext cx="2042769" cy="203301"/>
          </a:xfrm>
          <a:prstGeom prst="rect">
            <a:avLst/>
          </a:prstGeom>
          <a:noFill/>
        </p:spPr>
        <p:txBody>
          <a:bodyPr wrap="none" lIns="0" tIns="0" rIns="0" bIns="0" anchor="t">
            <a:spAutoFit/>
          </a:bodyPr>
          <a:lstStyle/>
          <a:p>
            <a:pPr algn="l"/>
            <a:r>
              <a:rPr sz="1200" b="0" i="0">
                <a:solidFill>
                  <a:srgbClr val="000000"/>
                </a:solidFill>
                <a:latin typeface="Times New Roman"/>
              </a:rPr>
              <a:t>• API Architecture: RESTful API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60746"/>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6</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738701" y="579322"/>
            <a:ext cx="2082596" cy="281432"/>
          </a:xfrm>
          <a:prstGeom prst="rect">
            <a:avLst/>
          </a:prstGeom>
          <a:noFill/>
        </p:spPr>
        <p:txBody>
          <a:bodyPr wrap="none" lIns="0" tIns="0" rIns="0" bIns="0" anchor="t">
            <a:spAutoFit/>
          </a:bodyPr>
          <a:lstStyle/>
          <a:p>
            <a:pPr algn="ctr"/>
            <a:r>
              <a:rPr sz="1600" b="1" i="0">
                <a:solidFill>
                  <a:srgbClr val="000000"/>
                </a:solidFill>
                <a:latin typeface="Times New Roman"/>
              </a:rPr>
              <a:t>INDEX (CONTINUED)</a:t>
            </a:r>
          </a:p>
        </p:txBody>
      </p:sp>
      <p:sp>
        <p:nvSpPr>
          <p:cNvPr id="5" name="TextBox 4"/>
          <p:cNvSpPr txBox="1"/>
          <p:nvPr/>
        </p:nvSpPr>
        <p:spPr>
          <a:xfrm>
            <a:off x="1296870" y="998956"/>
            <a:ext cx="337108" cy="184689"/>
          </a:xfrm>
          <a:prstGeom prst="rect">
            <a:avLst/>
          </a:prstGeom>
          <a:noFill/>
        </p:spPr>
        <p:txBody>
          <a:bodyPr wrap="none" lIns="0" tIns="0" rIns="0" bIns="0" anchor="t">
            <a:spAutoFit/>
          </a:bodyPr>
          <a:lstStyle/>
          <a:p>
            <a:pPr algn="l"/>
            <a:r>
              <a:rPr sz="1050" b="1" i="0">
                <a:solidFill>
                  <a:srgbClr val="000000"/>
                </a:solidFill>
                <a:latin typeface="Times New Roman"/>
              </a:rPr>
              <a:t>S. No.</a:t>
            </a:r>
          </a:p>
        </p:txBody>
      </p:sp>
      <p:sp>
        <p:nvSpPr>
          <p:cNvPr id="6" name="TextBox 5"/>
          <p:cNvSpPr txBox="1"/>
          <p:nvPr/>
        </p:nvSpPr>
        <p:spPr>
          <a:xfrm>
            <a:off x="2745508" y="998956"/>
            <a:ext cx="525932" cy="184689"/>
          </a:xfrm>
          <a:prstGeom prst="rect">
            <a:avLst/>
          </a:prstGeom>
          <a:noFill/>
        </p:spPr>
        <p:txBody>
          <a:bodyPr wrap="none" lIns="0" tIns="0" rIns="0" bIns="0" anchor="t">
            <a:spAutoFit/>
          </a:bodyPr>
          <a:lstStyle/>
          <a:p>
            <a:pPr algn="l"/>
            <a:r>
              <a:rPr sz="1050" b="1" i="0">
                <a:solidFill>
                  <a:srgbClr val="000000"/>
                </a:solidFill>
                <a:latin typeface="Times New Roman"/>
              </a:rPr>
              <a:t>Chapters</a:t>
            </a:r>
          </a:p>
        </p:txBody>
      </p:sp>
      <p:sp>
        <p:nvSpPr>
          <p:cNvPr id="7" name="TextBox 6"/>
          <p:cNvSpPr txBox="1"/>
          <p:nvPr/>
        </p:nvSpPr>
        <p:spPr>
          <a:xfrm>
            <a:off x="4362567" y="998956"/>
            <a:ext cx="377914" cy="184689"/>
          </a:xfrm>
          <a:prstGeom prst="rect">
            <a:avLst/>
          </a:prstGeom>
          <a:noFill/>
        </p:spPr>
        <p:txBody>
          <a:bodyPr wrap="none" lIns="0" tIns="0" rIns="0" bIns="0" anchor="t">
            <a:spAutoFit/>
          </a:bodyPr>
          <a:lstStyle/>
          <a:p>
            <a:pPr algn="l"/>
            <a:r>
              <a:rPr sz="1050" b="1" i="0">
                <a:solidFill>
                  <a:srgbClr val="000000"/>
                </a:solidFill>
                <a:latin typeface="Times New Roman"/>
              </a:rPr>
              <a:t>Topics</a:t>
            </a:r>
          </a:p>
        </p:txBody>
      </p:sp>
      <p:sp>
        <p:nvSpPr>
          <p:cNvPr id="8" name="TextBox 7"/>
          <p:cNvSpPr txBox="1"/>
          <p:nvPr/>
        </p:nvSpPr>
        <p:spPr>
          <a:xfrm>
            <a:off x="5842743" y="998956"/>
            <a:ext cx="503663" cy="184689"/>
          </a:xfrm>
          <a:prstGeom prst="rect">
            <a:avLst/>
          </a:prstGeom>
          <a:noFill/>
        </p:spPr>
        <p:txBody>
          <a:bodyPr wrap="none" lIns="0" tIns="0" rIns="0" bIns="0" anchor="t">
            <a:spAutoFit/>
          </a:bodyPr>
          <a:lstStyle/>
          <a:p>
            <a:pPr algn="l"/>
            <a:r>
              <a:rPr sz="1050" b="1" i="0">
                <a:solidFill>
                  <a:srgbClr val="000000"/>
                </a:solidFill>
                <a:latin typeface="Times New Roman"/>
              </a:rPr>
              <a:t>Page No.</a:t>
            </a:r>
          </a:p>
        </p:txBody>
      </p:sp>
      <p:sp>
        <p:nvSpPr>
          <p:cNvPr id="9" name="TextBox 8"/>
          <p:cNvSpPr txBox="1"/>
          <p:nvPr/>
        </p:nvSpPr>
        <p:spPr>
          <a:xfrm>
            <a:off x="744700" y="1683556"/>
            <a:ext cx="101600" cy="177888"/>
          </a:xfrm>
          <a:prstGeom prst="rect">
            <a:avLst/>
          </a:prstGeom>
          <a:noFill/>
        </p:spPr>
        <p:txBody>
          <a:bodyPr wrap="none" lIns="0" tIns="0" rIns="0" bIns="0" anchor="t">
            <a:spAutoFit/>
          </a:bodyPr>
          <a:lstStyle/>
          <a:p>
            <a:pPr algn="l"/>
            <a:r>
              <a:rPr sz="1050" b="0" i="0">
                <a:solidFill>
                  <a:srgbClr val="000000"/>
                </a:solidFill>
                <a:latin typeface="Times New Roman"/>
              </a:rPr>
              <a:t>6</a:t>
            </a:r>
          </a:p>
        </p:txBody>
      </p:sp>
      <p:sp>
        <p:nvSpPr>
          <p:cNvPr id="10" name="TextBox 9"/>
          <p:cNvSpPr txBox="1"/>
          <p:nvPr/>
        </p:nvSpPr>
        <p:spPr>
          <a:xfrm>
            <a:off x="2287750" y="1683556"/>
            <a:ext cx="844505" cy="177888"/>
          </a:xfrm>
          <a:prstGeom prst="rect">
            <a:avLst/>
          </a:prstGeom>
          <a:noFill/>
        </p:spPr>
        <p:txBody>
          <a:bodyPr wrap="none" lIns="0" tIns="0" rIns="0" bIns="0" anchor="t">
            <a:spAutoFit/>
          </a:bodyPr>
          <a:lstStyle/>
          <a:p>
            <a:pPr algn="l"/>
            <a:r>
              <a:rPr sz="1050" b="0" i="0">
                <a:solidFill>
                  <a:srgbClr val="000000"/>
                </a:solidFill>
                <a:latin typeface="Times New Roman"/>
              </a:rPr>
              <a:t>Implementation</a:t>
            </a:r>
          </a:p>
        </p:txBody>
      </p:sp>
      <p:sp>
        <p:nvSpPr>
          <p:cNvPr id="11" name="TextBox 10"/>
          <p:cNvSpPr txBox="1"/>
          <p:nvPr/>
        </p:nvSpPr>
        <p:spPr>
          <a:xfrm>
            <a:off x="3830799" y="1226356"/>
            <a:ext cx="903712" cy="177888"/>
          </a:xfrm>
          <a:prstGeom prst="rect">
            <a:avLst/>
          </a:prstGeom>
          <a:noFill/>
        </p:spPr>
        <p:txBody>
          <a:bodyPr wrap="none" lIns="0" tIns="0" rIns="0" bIns="0" anchor="t">
            <a:spAutoFit/>
          </a:bodyPr>
          <a:lstStyle/>
          <a:p>
            <a:pPr algn="l"/>
            <a:r>
              <a:rPr sz="1050" b="0" i="0">
                <a:solidFill>
                  <a:srgbClr val="000000"/>
                </a:solidFill>
                <a:latin typeface="Times New Roman"/>
              </a:rPr>
              <a:t>6.1 Module-wise</a:t>
            </a:r>
          </a:p>
        </p:txBody>
      </p:sp>
      <p:sp>
        <p:nvSpPr>
          <p:cNvPr id="12" name="TextBox 11"/>
          <p:cNvSpPr txBox="1"/>
          <p:nvPr/>
        </p:nvSpPr>
        <p:spPr>
          <a:xfrm>
            <a:off x="3830799" y="1378756"/>
            <a:ext cx="844505" cy="177888"/>
          </a:xfrm>
          <a:prstGeom prst="rect">
            <a:avLst/>
          </a:prstGeom>
          <a:noFill/>
        </p:spPr>
        <p:txBody>
          <a:bodyPr wrap="none" lIns="0" tIns="0" rIns="0" bIns="0" anchor="t">
            <a:spAutoFit/>
          </a:bodyPr>
          <a:lstStyle/>
          <a:p>
            <a:pPr algn="l"/>
            <a:r>
              <a:rPr sz="1050" b="0" i="0">
                <a:solidFill>
                  <a:srgbClr val="000000"/>
                </a:solidFill>
                <a:latin typeface="Times New Roman"/>
              </a:rPr>
              <a:t>Implementation</a:t>
            </a:r>
          </a:p>
        </p:txBody>
      </p:sp>
      <p:sp>
        <p:nvSpPr>
          <p:cNvPr id="13" name="TextBox 12"/>
          <p:cNvSpPr txBox="1"/>
          <p:nvPr/>
        </p:nvSpPr>
        <p:spPr>
          <a:xfrm>
            <a:off x="3830799" y="1531156"/>
            <a:ext cx="1236954" cy="177888"/>
          </a:xfrm>
          <a:prstGeom prst="rect">
            <a:avLst/>
          </a:prstGeom>
          <a:noFill/>
        </p:spPr>
        <p:txBody>
          <a:bodyPr wrap="none" lIns="0" tIns="0" rIns="0" bIns="0" anchor="t">
            <a:spAutoFit/>
          </a:bodyPr>
          <a:lstStyle/>
          <a:p>
            <a:pPr algn="l"/>
            <a:r>
              <a:rPr sz="1050" b="0" i="0">
                <a:solidFill>
                  <a:srgbClr val="000000"/>
                </a:solidFill>
                <a:latin typeface="Times New Roman"/>
              </a:rPr>
              <a:t>6.2 Backend Logic and</a:t>
            </a:r>
          </a:p>
        </p:txBody>
      </p:sp>
      <p:sp>
        <p:nvSpPr>
          <p:cNvPr id="14" name="TextBox 13"/>
          <p:cNvSpPr txBox="1"/>
          <p:nvPr/>
        </p:nvSpPr>
        <p:spPr>
          <a:xfrm>
            <a:off x="3830799" y="1683556"/>
            <a:ext cx="559269" cy="177888"/>
          </a:xfrm>
          <a:prstGeom prst="rect">
            <a:avLst/>
          </a:prstGeom>
          <a:noFill/>
        </p:spPr>
        <p:txBody>
          <a:bodyPr wrap="none" lIns="0" tIns="0" rIns="0" bIns="0" anchor="t">
            <a:spAutoFit/>
          </a:bodyPr>
          <a:lstStyle/>
          <a:p>
            <a:pPr algn="ctr"/>
            <a:r>
              <a:rPr sz="1050" b="0" i="0">
                <a:solidFill>
                  <a:srgbClr val="000000"/>
                </a:solidFill>
                <a:latin typeface="Times New Roman"/>
              </a:rPr>
              <a:t>Data Flow</a:t>
            </a:r>
          </a:p>
        </p:txBody>
      </p:sp>
      <p:sp>
        <p:nvSpPr>
          <p:cNvPr id="15" name="TextBox 14"/>
          <p:cNvSpPr txBox="1"/>
          <p:nvPr/>
        </p:nvSpPr>
        <p:spPr>
          <a:xfrm>
            <a:off x="3830799" y="1835956"/>
            <a:ext cx="1033329" cy="177888"/>
          </a:xfrm>
          <a:prstGeom prst="rect">
            <a:avLst/>
          </a:prstGeom>
          <a:noFill/>
        </p:spPr>
        <p:txBody>
          <a:bodyPr wrap="none" lIns="0" tIns="0" rIns="0" bIns="0" anchor="t">
            <a:spAutoFit/>
          </a:bodyPr>
          <a:lstStyle/>
          <a:p>
            <a:pPr algn="l"/>
            <a:r>
              <a:rPr sz="1050" b="0" i="0">
                <a:solidFill>
                  <a:srgbClr val="000000"/>
                </a:solidFill>
                <a:latin typeface="Times New Roman"/>
              </a:rPr>
              <a:t>6.3 API Integration</a:t>
            </a:r>
          </a:p>
        </p:txBody>
      </p:sp>
      <p:sp>
        <p:nvSpPr>
          <p:cNvPr id="16" name="TextBox 15"/>
          <p:cNvSpPr txBox="1"/>
          <p:nvPr/>
        </p:nvSpPr>
        <p:spPr>
          <a:xfrm>
            <a:off x="3830799" y="1988356"/>
            <a:ext cx="1218552" cy="177888"/>
          </a:xfrm>
          <a:prstGeom prst="rect">
            <a:avLst/>
          </a:prstGeom>
          <a:noFill/>
        </p:spPr>
        <p:txBody>
          <a:bodyPr wrap="none" lIns="0" tIns="0" rIns="0" bIns="0" anchor="t">
            <a:spAutoFit/>
          </a:bodyPr>
          <a:lstStyle/>
          <a:p>
            <a:pPr algn="l"/>
            <a:r>
              <a:rPr sz="1050" b="0" i="0">
                <a:solidFill>
                  <a:srgbClr val="000000"/>
                </a:solidFill>
                <a:latin typeface="Times New Roman"/>
              </a:rPr>
              <a:t>6.4 Authentication and</a:t>
            </a:r>
          </a:p>
        </p:txBody>
      </p:sp>
      <p:sp>
        <p:nvSpPr>
          <p:cNvPr id="17" name="TextBox 16"/>
          <p:cNvSpPr txBox="1"/>
          <p:nvPr/>
        </p:nvSpPr>
        <p:spPr>
          <a:xfrm>
            <a:off x="3830799" y="2140756"/>
            <a:ext cx="740759" cy="177888"/>
          </a:xfrm>
          <a:prstGeom prst="rect">
            <a:avLst/>
          </a:prstGeom>
          <a:noFill/>
        </p:spPr>
        <p:txBody>
          <a:bodyPr wrap="none" lIns="0" tIns="0" rIns="0" bIns="0" anchor="t">
            <a:spAutoFit/>
          </a:bodyPr>
          <a:lstStyle/>
          <a:p>
            <a:pPr algn="l"/>
            <a:r>
              <a:rPr sz="1050" b="0" i="0">
                <a:solidFill>
                  <a:srgbClr val="000000"/>
                </a:solidFill>
                <a:latin typeface="Times New Roman"/>
              </a:rPr>
              <a:t>Authorization</a:t>
            </a:r>
          </a:p>
        </p:txBody>
      </p:sp>
      <p:sp>
        <p:nvSpPr>
          <p:cNvPr id="18" name="TextBox 17"/>
          <p:cNvSpPr txBox="1"/>
          <p:nvPr/>
        </p:nvSpPr>
        <p:spPr>
          <a:xfrm>
            <a:off x="5373849" y="1683556"/>
            <a:ext cx="311105" cy="177888"/>
          </a:xfrm>
          <a:prstGeom prst="rect">
            <a:avLst/>
          </a:prstGeom>
          <a:noFill/>
        </p:spPr>
        <p:txBody>
          <a:bodyPr wrap="none" lIns="0" tIns="0" rIns="0" bIns="0" anchor="t">
            <a:spAutoFit/>
          </a:bodyPr>
          <a:lstStyle/>
          <a:p>
            <a:pPr algn="l"/>
            <a:r>
              <a:rPr sz="1050" b="0" i="0">
                <a:solidFill>
                  <a:srgbClr val="000000"/>
                </a:solidFill>
                <a:latin typeface="Times New Roman"/>
              </a:rPr>
              <a:t>27-30</a:t>
            </a:r>
          </a:p>
        </p:txBody>
      </p:sp>
      <p:sp>
        <p:nvSpPr>
          <p:cNvPr id="19" name="TextBox 18"/>
          <p:cNvSpPr txBox="1"/>
          <p:nvPr/>
        </p:nvSpPr>
        <p:spPr>
          <a:xfrm>
            <a:off x="744700" y="2521756"/>
            <a:ext cx="101600" cy="177888"/>
          </a:xfrm>
          <a:prstGeom prst="rect">
            <a:avLst/>
          </a:prstGeom>
          <a:noFill/>
        </p:spPr>
        <p:txBody>
          <a:bodyPr wrap="none" lIns="0" tIns="0" rIns="0" bIns="0" anchor="t">
            <a:spAutoFit/>
          </a:bodyPr>
          <a:lstStyle/>
          <a:p>
            <a:pPr algn="l"/>
            <a:r>
              <a:rPr sz="1050" b="0" i="0">
                <a:solidFill>
                  <a:srgbClr val="000000"/>
                </a:solidFill>
                <a:latin typeface="Times New Roman"/>
              </a:rPr>
              <a:t>7</a:t>
            </a:r>
          </a:p>
        </p:txBody>
      </p:sp>
      <p:sp>
        <p:nvSpPr>
          <p:cNvPr id="20" name="TextBox 19"/>
          <p:cNvSpPr txBox="1"/>
          <p:nvPr/>
        </p:nvSpPr>
        <p:spPr>
          <a:xfrm>
            <a:off x="2287750" y="2521756"/>
            <a:ext cx="451789" cy="177888"/>
          </a:xfrm>
          <a:prstGeom prst="rect">
            <a:avLst/>
          </a:prstGeom>
          <a:noFill/>
        </p:spPr>
        <p:txBody>
          <a:bodyPr wrap="none" lIns="0" tIns="0" rIns="0" bIns="0" anchor="t">
            <a:spAutoFit/>
          </a:bodyPr>
          <a:lstStyle/>
          <a:p>
            <a:pPr algn="l"/>
            <a:r>
              <a:rPr sz="1050" b="0" i="0">
                <a:solidFill>
                  <a:srgbClr val="000000"/>
                </a:solidFill>
                <a:latin typeface="Times New Roman"/>
              </a:rPr>
              <a:t>Features</a:t>
            </a:r>
          </a:p>
        </p:txBody>
      </p:sp>
      <p:sp>
        <p:nvSpPr>
          <p:cNvPr id="21" name="TextBox 20"/>
          <p:cNvSpPr txBox="1"/>
          <p:nvPr/>
        </p:nvSpPr>
        <p:spPr>
          <a:xfrm>
            <a:off x="3830799" y="2369356"/>
            <a:ext cx="1351902" cy="177888"/>
          </a:xfrm>
          <a:prstGeom prst="rect">
            <a:avLst/>
          </a:prstGeom>
          <a:noFill/>
        </p:spPr>
        <p:txBody>
          <a:bodyPr wrap="none" lIns="0" tIns="0" rIns="0" bIns="0" anchor="t">
            <a:spAutoFit/>
          </a:bodyPr>
          <a:lstStyle/>
          <a:p>
            <a:pPr algn="l"/>
            <a:r>
              <a:rPr sz="1050" b="0" i="0">
                <a:solidFill>
                  <a:srgbClr val="000000"/>
                </a:solidFill>
                <a:latin typeface="Times New Roman"/>
              </a:rPr>
              <a:t>7.1 List of Main Features</a:t>
            </a:r>
          </a:p>
        </p:txBody>
      </p:sp>
      <p:sp>
        <p:nvSpPr>
          <p:cNvPr id="22" name="TextBox 21"/>
          <p:cNvSpPr txBox="1"/>
          <p:nvPr/>
        </p:nvSpPr>
        <p:spPr>
          <a:xfrm>
            <a:off x="3830799" y="2521756"/>
            <a:ext cx="1192415" cy="177888"/>
          </a:xfrm>
          <a:prstGeom prst="rect">
            <a:avLst/>
          </a:prstGeom>
          <a:noFill/>
        </p:spPr>
        <p:txBody>
          <a:bodyPr wrap="none" lIns="0" tIns="0" rIns="0" bIns="0" anchor="t">
            <a:spAutoFit/>
          </a:bodyPr>
          <a:lstStyle/>
          <a:p>
            <a:pPr algn="l"/>
            <a:r>
              <a:rPr sz="1050" b="0" i="0">
                <a:solidFill>
                  <a:srgbClr val="000000"/>
                </a:solidFill>
                <a:latin typeface="Times New Roman"/>
              </a:rPr>
              <a:t>7.2 How Each Feature</a:t>
            </a:r>
          </a:p>
        </p:txBody>
      </p:sp>
      <p:sp>
        <p:nvSpPr>
          <p:cNvPr id="23" name="TextBox 22"/>
          <p:cNvSpPr txBox="1"/>
          <p:nvPr/>
        </p:nvSpPr>
        <p:spPr>
          <a:xfrm>
            <a:off x="3830799" y="2674156"/>
            <a:ext cx="355511" cy="177888"/>
          </a:xfrm>
          <a:prstGeom prst="rect">
            <a:avLst/>
          </a:prstGeom>
          <a:noFill/>
        </p:spPr>
        <p:txBody>
          <a:bodyPr wrap="none" lIns="0" tIns="0" rIns="0" bIns="0" anchor="t">
            <a:spAutoFit/>
          </a:bodyPr>
          <a:lstStyle/>
          <a:p>
            <a:pPr algn="ctr"/>
            <a:r>
              <a:rPr sz="1050" b="0" i="0">
                <a:solidFill>
                  <a:srgbClr val="000000"/>
                </a:solidFill>
                <a:latin typeface="Times New Roman"/>
              </a:rPr>
              <a:t>Works</a:t>
            </a:r>
          </a:p>
        </p:txBody>
      </p:sp>
      <p:sp>
        <p:nvSpPr>
          <p:cNvPr id="24" name="TextBox 23"/>
          <p:cNvSpPr txBox="1"/>
          <p:nvPr/>
        </p:nvSpPr>
        <p:spPr>
          <a:xfrm>
            <a:off x="5373849" y="2521756"/>
            <a:ext cx="311105" cy="177888"/>
          </a:xfrm>
          <a:prstGeom prst="rect">
            <a:avLst/>
          </a:prstGeom>
          <a:noFill/>
        </p:spPr>
        <p:txBody>
          <a:bodyPr wrap="none" lIns="0" tIns="0" rIns="0" bIns="0" anchor="t">
            <a:spAutoFit/>
          </a:bodyPr>
          <a:lstStyle/>
          <a:p>
            <a:pPr algn="l"/>
            <a:r>
              <a:rPr sz="1050" b="0" i="0">
                <a:solidFill>
                  <a:srgbClr val="000000"/>
                </a:solidFill>
                <a:latin typeface="Times New Roman"/>
              </a:rPr>
              <a:t>31-32</a:t>
            </a:r>
          </a:p>
        </p:txBody>
      </p:sp>
      <p:sp>
        <p:nvSpPr>
          <p:cNvPr id="25" name="TextBox 24"/>
          <p:cNvSpPr txBox="1"/>
          <p:nvPr/>
        </p:nvSpPr>
        <p:spPr>
          <a:xfrm>
            <a:off x="744700" y="3131356"/>
            <a:ext cx="101600" cy="177888"/>
          </a:xfrm>
          <a:prstGeom prst="rect">
            <a:avLst/>
          </a:prstGeom>
          <a:noFill/>
        </p:spPr>
        <p:txBody>
          <a:bodyPr wrap="none" lIns="0" tIns="0" rIns="0" bIns="0" anchor="t">
            <a:spAutoFit/>
          </a:bodyPr>
          <a:lstStyle/>
          <a:p>
            <a:pPr algn="l"/>
            <a:r>
              <a:rPr sz="1050" b="0" i="0">
                <a:solidFill>
                  <a:srgbClr val="000000"/>
                </a:solidFill>
                <a:latin typeface="Times New Roman"/>
              </a:rPr>
              <a:t>8</a:t>
            </a:r>
          </a:p>
        </p:txBody>
      </p:sp>
      <p:sp>
        <p:nvSpPr>
          <p:cNvPr id="26" name="TextBox 25"/>
          <p:cNvSpPr txBox="1"/>
          <p:nvPr/>
        </p:nvSpPr>
        <p:spPr>
          <a:xfrm>
            <a:off x="2287750" y="3131356"/>
            <a:ext cx="400050" cy="177888"/>
          </a:xfrm>
          <a:prstGeom prst="rect">
            <a:avLst/>
          </a:prstGeom>
          <a:noFill/>
        </p:spPr>
        <p:txBody>
          <a:bodyPr wrap="none" lIns="0" tIns="0" rIns="0" bIns="0" anchor="t">
            <a:spAutoFit/>
          </a:bodyPr>
          <a:lstStyle/>
          <a:p>
            <a:pPr algn="l"/>
            <a:r>
              <a:rPr sz="1050" b="0" i="0">
                <a:solidFill>
                  <a:srgbClr val="000000"/>
                </a:solidFill>
                <a:latin typeface="Times New Roman"/>
              </a:rPr>
              <a:t>Testing</a:t>
            </a:r>
          </a:p>
        </p:txBody>
      </p:sp>
      <p:sp>
        <p:nvSpPr>
          <p:cNvPr id="27" name="TextBox 26"/>
          <p:cNvSpPr txBox="1"/>
          <p:nvPr/>
        </p:nvSpPr>
        <p:spPr>
          <a:xfrm>
            <a:off x="3830799" y="2902756"/>
            <a:ext cx="1092803" cy="177888"/>
          </a:xfrm>
          <a:prstGeom prst="rect">
            <a:avLst/>
          </a:prstGeom>
          <a:noFill/>
        </p:spPr>
        <p:txBody>
          <a:bodyPr wrap="none" lIns="0" tIns="0" rIns="0" bIns="0" anchor="t">
            <a:spAutoFit/>
          </a:bodyPr>
          <a:lstStyle/>
          <a:p>
            <a:pPr algn="l"/>
            <a:r>
              <a:rPr sz="1050" b="0" i="0">
                <a:solidFill>
                  <a:srgbClr val="000000"/>
                </a:solidFill>
                <a:latin typeface="Times New Roman"/>
              </a:rPr>
              <a:t>8.1 Postman Testing</a:t>
            </a:r>
          </a:p>
        </p:txBody>
      </p:sp>
      <p:sp>
        <p:nvSpPr>
          <p:cNvPr id="28" name="TextBox 27"/>
          <p:cNvSpPr txBox="1"/>
          <p:nvPr/>
        </p:nvSpPr>
        <p:spPr>
          <a:xfrm>
            <a:off x="3830799" y="3055156"/>
            <a:ext cx="1218552" cy="177888"/>
          </a:xfrm>
          <a:prstGeom prst="rect">
            <a:avLst/>
          </a:prstGeom>
          <a:noFill/>
        </p:spPr>
        <p:txBody>
          <a:bodyPr wrap="none" lIns="0" tIns="0" rIns="0" bIns="0" anchor="t">
            <a:spAutoFit/>
          </a:bodyPr>
          <a:lstStyle/>
          <a:p>
            <a:pPr algn="l"/>
            <a:r>
              <a:rPr sz="1050" b="0" i="0">
                <a:solidFill>
                  <a:srgbClr val="000000"/>
                </a:solidFill>
                <a:latin typeface="Times New Roman"/>
              </a:rPr>
              <a:t>8.2 Integration Testing</a:t>
            </a:r>
          </a:p>
        </p:txBody>
      </p:sp>
      <p:sp>
        <p:nvSpPr>
          <p:cNvPr id="29" name="TextBox 28"/>
          <p:cNvSpPr txBox="1"/>
          <p:nvPr/>
        </p:nvSpPr>
        <p:spPr>
          <a:xfrm>
            <a:off x="3830799" y="3207556"/>
            <a:ext cx="1433379" cy="177888"/>
          </a:xfrm>
          <a:prstGeom prst="rect">
            <a:avLst/>
          </a:prstGeom>
          <a:noFill/>
        </p:spPr>
        <p:txBody>
          <a:bodyPr wrap="none" lIns="0" tIns="0" rIns="0" bIns="0" anchor="t">
            <a:spAutoFit/>
          </a:bodyPr>
          <a:lstStyle/>
          <a:p>
            <a:pPr algn="l"/>
            <a:r>
              <a:rPr sz="1050" b="0" i="0">
                <a:solidFill>
                  <a:srgbClr val="000000"/>
                </a:solidFill>
                <a:latin typeface="Times New Roman"/>
              </a:rPr>
              <a:t>8.3 Tools Used for Testing</a:t>
            </a:r>
          </a:p>
        </p:txBody>
      </p:sp>
      <p:sp>
        <p:nvSpPr>
          <p:cNvPr id="30" name="TextBox 29"/>
          <p:cNvSpPr txBox="1"/>
          <p:nvPr/>
        </p:nvSpPr>
        <p:spPr>
          <a:xfrm>
            <a:off x="3830799" y="3359956"/>
            <a:ext cx="1426045" cy="177888"/>
          </a:xfrm>
          <a:prstGeom prst="rect">
            <a:avLst/>
          </a:prstGeom>
          <a:noFill/>
        </p:spPr>
        <p:txBody>
          <a:bodyPr wrap="none" lIns="0" tIns="0" rIns="0" bIns="0" anchor="t">
            <a:spAutoFit/>
          </a:bodyPr>
          <a:lstStyle/>
          <a:p>
            <a:pPr algn="l"/>
            <a:r>
              <a:rPr sz="1050" b="0" i="0">
                <a:solidFill>
                  <a:srgbClr val="000000"/>
                </a:solidFill>
                <a:latin typeface="Times New Roman"/>
              </a:rPr>
              <a:t>8.4 Test Cases and Results</a:t>
            </a:r>
          </a:p>
        </p:txBody>
      </p:sp>
      <p:sp>
        <p:nvSpPr>
          <p:cNvPr id="31" name="TextBox 30"/>
          <p:cNvSpPr txBox="1"/>
          <p:nvPr/>
        </p:nvSpPr>
        <p:spPr>
          <a:xfrm>
            <a:off x="5373849" y="3131356"/>
            <a:ext cx="311105" cy="177888"/>
          </a:xfrm>
          <a:prstGeom prst="rect">
            <a:avLst/>
          </a:prstGeom>
          <a:noFill/>
        </p:spPr>
        <p:txBody>
          <a:bodyPr wrap="none" lIns="0" tIns="0" rIns="0" bIns="0" anchor="t">
            <a:spAutoFit/>
          </a:bodyPr>
          <a:lstStyle/>
          <a:p>
            <a:pPr algn="l"/>
            <a:r>
              <a:rPr sz="1050" b="0" i="0">
                <a:solidFill>
                  <a:srgbClr val="000000"/>
                </a:solidFill>
                <a:latin typeface="Times New Roman"/>
              </a:rPr>
              <a:t>33-36</a:t>
            </a:r>
          </a:p>
        </p:txBody>
      </p:sp>
      <p:sp>
        <p:nvSpPr>
          <p:cNvPr id="32" name="TextBox 31"/>
          <p:cNvSpPr txBox="1"/>
          <p:nvPr/>
        </p:nvSpPr>
        <p:spPr>
          <a:xfrm>
            <a:off x="744700" y="3817156"/>
            <a:ext cx="101600" cy="177888"/>
          </a:xfrm>
          <a:prstGeom prst="rect">
            <a:avLst/>
          </a:prstGeom>
          <a:noFill/>
        </p:spPr>
        <p:txBody>
          <a:bodyPr wrap="none" lIns="0" tIns="0" rIns="0" bIns="0" anchor="t">
            <a:spAutoFit/>
          </a:bodyPr>
          <a:lstStyle/>
          <a:p>
            <a:pPr algn="l"/>
            <a:r>
              <a:rPr sz="1050" b="0" i="0">
                <a:solidFill>
                  <a:srgbClr val="000000"/>
                </a:solidFill>
                <a:latin typeface="Times New Roman"/>
              </a:rPr>
              <a:t>9</a:t>
            </a:r>
          </a:p>
        </p:txBody>
      </p:sp>
      <p:sp>
        <p:nvSpPr>
          <p:cNvPr id="33" name="TextBox 32"/>
          <p:cNvSpPr txBox="1"/>
          <p:nvPr/>
        </p:nvSpPr>
        <p:spPr>
          <a:xfrm>
            <a:off x="2287750" y="3817156"/>
            <a:ext cx="659282" cy="177888"/>
          </a:xfrm>
          <a:prstGeom prst="rect">
            <a:avLst/>
          </a:prstGeom>
          <a:noFill/>
        </p:spPr>
        <p:txBody>
          <a:bodyPr wrap="none" lIns="0" tIns="0" rIns="0" bIns="0" anchor="t">
            <a:spAutoFit/>
          </a:bodyPr>
          <a:lstStyle/>
          <a:p>
            <a:pPr algn="l"/>
            <a:r>
              <a:rPr sz="1050" b="0" i="0">
                <a:solidFill>
                  <a:srgbClr val="000000"/>
                </a:solidFill>
                <a:latin typeface="Times New Roman"/>
              </a:rPr>
              <a:t>Deployment</a:t>
            </a:r>
          </a:p>
        </p:txBody>
      </p:sp>
      <p:sp>
        <p:nvSpPr>
          <p:cNvPr id="34" name="TextBox 33"/>
          <p:cNvSpPr txBox="1"/>
          <p:nvPr/>
        </p:nvSpPr>
        <p:spPr>
          <a:xfrm>
            <a:off x="3830799" y="3588556"/>
            <a:ext cx="1051998" cy="177888"/>
          </a:xfrm>
          <a:prstGeom prst="rect">
            <a:avLst/>
          </a:prstGeom>
          <a:noFill/>
        </p:spPr>
        <p:txBody>
          <a:bodyPr wrap="none" lIns="0" tIns="0" rIns="0" bIns="0" anchor="t">
            <a:spAutoFit/>
          </a:bodyPr>
          <a:lstStyle/>
          <a:p>
            <a:pPr algn="l"/>
            <a:r>
              <a:rPr sz="1050" b="0" i="0">
                <a:solidFill>
                  <a:srgbClr val="000000"/>
                </a:solidFill>
                <a:latin typeface="Times New Roman"/>
              </a:rPr>
              <a:t>9.1 Steps to Deploy</a:t>
            </a:r>
          </a:p>
        </p:txBody>
      </p:sp>
      <p:sp>
        <p:nvSpPr>
          <p:cNvPr id="35" name="TextBox 34"/>
          <p:cNvSpPr txBox="1"/>
          <p:nvPr/>
        </p:nvSpPr>
        <p:spPr>
          <a:xfrm>
            <a:off x="3830799" y="3740956"/>
            <a:ext cx="896379" cy="177888"/>
          </a:xfrm>
          <a:prstGeom prst="rect">
            <a:avLst/>
          </a:prstGeom>
          <a:noFill/>
        </p:spPr>
        <p:txBody>
          <a:bodyPr wrap="none" lIns="0" tIns="0" rIns="0" bIns="0" anchor="t">
            <a:spAutoFit/>
          </a:bodyPr>
          <a:lstStyle/>
          <a:p>
            <a:pPr algn="l"/>
            <a:r>
              <a:rPr sz="1050" b="0" i="0">
                <a:solidFill>
                  <a:srgbClr val="000000"/>
                </a:solidFill>
                <a:latin typeface="Times New Roman"/>
              </a:rPr>
              <a:t>9.2 Environment</a:t>
            </a:r>
          </a:p>
        </p:txBody>
      </p:sp>
      <p:sp>
        <p:nvSpPr>
          <p:cNvPr id="36" name="TextBox 35"/>
          <p:cNvSpPr txBox="1"/>
          <p:nvPr/>
        </p:nvSpPr>
        <p:spPr>
          <a:xfrm>
            <a:off x="3830799" y="3893356"/>
            <a:ext cx="748226" cy="177888"/>
          </a:xfrm>
          <a:prstGeom prst="rect">
            <a:avLst/>
          </a:prstGeom>
          <a:noFill/>
        </p:spPr>
        <p:txBody>
          <a:bodyPr wrap="none" lIns="0" tIns="0" rIns="0" bIns="0" anchor="t">
            <a:spAutoFit/>
          </a:bodyPr>
          <a:lstStyle/>
          <a:p>
            <a:pPr algn="l"/>
            <a:r>
              <a:rPr sz="1050" b="0" i="0">
                <a:solidFill>
                  <a:srgbClr val="000000"/>
                </a:solidFill>
                <a:latin typeface="Times New Roman"/>
              </a:rPr>
              <a:t>Configuration</a:t>
            </a:r>
          </a:p>
        </p:txBody>
      </p:sp>
      <p:sp>
        <p:nvSpPr>
          <p:cNvPr id="37" name="TextBox 36"/>
          <p:cNvSpPr txBox="1"/>
          <p:nvPr/>
        </p:nvSpPr>
        <p:spPr>
          <a:xfrm>
            <a:off x="3830799" y="4045756"/>
            <a:ext cx="1266691" cy="177888"/>
          </a:xfrm>
          <a:prstGeom prst="rect">
            <a:avLst/>
          </a:prstGeom>
          <a:noFill/>
        </p:spPr>
        <p:txBody>
          <a:bodyPr wrap="none" lIns="0" tIns="0" rIns="0" bIns="0" anchor="t">
            <a:spAutoFit/>
          </a:bodyPr>
          <a:lstStyle/>
          <a:p>
            <a:pPr algn="l"/>
            <a:r>
              <a:rPr sz="1050" b="0" i="0">
                <a:solidFill>
                  <a:srgbClr val="000000"/>
                </a:solidFill>
                <a:latin typeface="Times New Roman"/>
              </a:rPr>
              <a:t>9.3 Hosting of Backend</a:t>
            </a:r>
          </a:p>
        </p:txBody>
      </p:sp>
      <p:sp>
        <p:nvSpPr>
          <p:cNvPr id="38" name="TextBox 37"/>
          <p:cNvSpPr txBox="1"/>
          <p:nvPr/>
        </p:nvSpPr>
        <p:spPr>
          <a:xfrm>
            <a:off x="5373849" y="3817156"/>
            <a:ext cx="311105" cy="177888"/>
          </a:xfrm>
          <a:prstGeom prst="rect">
            <a:avLst/>
          </a:prstGeom>
          <a:noFill/>
        </p:spPr>
        <p:txBody>
          <a:bodyPr wrap="none" lIns="0" tIns="0" rIns="0" bIns="0" anchor="t">
            <a:spAutoFit/>
          </a:bodyPr>
          <a:lstStyle/>
          <a:p>
            <a:pPr algn="l"/>
            <a:r>
              <a:rPr sz="1050" b="0" i="0">
                <a:solidFill>
                  <a:srgbClr val="000000"/>
                </a:solidFill>
                <a:latin typeface="Times New Roman"/>
              </a:rPr>
              <a:t>37-39</a:t>
            </a:r>
          </a:p>
        </p:txBody>
      </p:sp>
      <p:sp>
        <p:nvSpPr>
          <p:cNvPr id="39" name="TextBox 38"/>
          <p:cNvSpPr txBox="1"/>
          <p:nvPr/>
        </p:nvSpPr>
        <p:spPr>
          <a:xfrm>
            <a:off x="744700" y="4579156"/>
            <a:ext cx="133350" cy="177888"/>
          </a:xfrm>
          <a:prstGeom prst="rect">
            <a:avLst/>
          </a:prstGeom>
          <a:noFill/>
        </p:spPr>
        <p:txBody>
          <a:bodyPr wrap="none" lIns="0" tIns="0" rIns="0" bIns="0" anchor="t">
            <a:spAutoFit/>
          </a:bodyPr>
          <a:lstStyle/>
          <a:p>
            <a:pPr algn="l"/>
            <a:r>
              <a:rPr sz="1050" b="0" i="0">
                <a:solidFill>
                  <a:srgbClr val="000000"/>
                </a:solidFill>
                <a:latin typeface="Times New Roman"/>
              </a:rPr>
              <a:t>10</a:t>
            </a:r>
          </a:p>
        </p:txBody>
      </p:sp>
      <p:sp>
        <p:nvSpPr>
          <p:cNvPr id="40" name="TextBox 39"/>
          <p:cNvSpPr txBox="1"/>
          <p:nvPr/>
        </p:nvSpPr>
        <p:spPr>
          <a:xfrm>
            <a:off x="2287750" y="4579156"/>
            <a:ext cx="1378038" cy="177888"/>
          </a:xfrm>
          <a:prstGeom prst="rect">
            <a:avLst/>
          </a:prstGeom>
          <a:noFill/>
        </p:spPr>
        <p:txBody>
          <a:bodyPr wrap="none" lIns="0" tIns="0" rIns="0" bIns="0" anchor="t">
            <a:spAutoFit/>
          </a:bodyPr>
          <a:lstStyle/>
          <a:p>
            <a:pPr algn="l"/>
            <a:r>
              <a:rPr sz="1050" b="0" i="0">
                <a:solidFill>
                  <a:srgbClr val="000000"/>
                </a:solidFill>
                <a:latin typeface="Times New Roman"/>
              </a:rPr>
              <a:t>Challenges &amp; Limitations</a:t>
            </a:r>
          </a:p>
        </p:txBody>
      </p:sp>
      <p:sp>
        <p:nvSpPr>
          <p:cNvPr id="41" name="TextBox 40"/>
          <p:cNvSpPr txBox="1"/>
          <p:nvPr/>
        </p:nvSpPr>
        <p:spPr>
          <a:xfrm>
            <a:off x="3830799" y="4274356"/>
            <a:ext cx="1355502" cy="177888"/>
          </a:xfrm>
          <a:prstGeom prst="rect">
            <a:avLst/>
          </a:prstGeom>
          <a:noFill/>
        </p:spPr>
        <p:txBody>
          <a:bodyPr wrap="none" lIns="0" tIns="0" rIns="0" bIns="0" anchor="t">
            <a:spAutoFit/>
          </a:bodyPr>
          <a:lstStyle/>
          <a:p>
            <a:pPr algn="l"/>
            <a:r>
              <a:rPr sz="1050" b="0" i="0">
                <a:solidFill>
                  <a:srgbClr val="000000"/>
                </a:solidFill>
                <a:latin typeface="Times New Roman"/>
              </a:rPr>
              <a:t>10.1 Issues Faced During</a:t>
            </a:r>
          </a:p>
        </p:txBody>
      </p:sp>
      <p:sp>
        <p:nvSpPr>
          <p:cNvPr id="42" name="TextBox 41"/>
          <p:cNvSpPr txBox="1"/>
          <p:nvPr/>
        </p:nvSpPr>
        <p:spPr>
          <a:xfrm>
            <a:off x="3830799" y="4426756"/>
            <a:ext cx="718489" cy="177888"/>
          </a:xfrm>
          <a:prstGeom prst="rect">
            <a:avLst/>
          </a:prstGeom>
          <a:noFill/>
        </p:spPr>
        <p:txBody>
          <a:bodyPr wrap="none" lIns="0" tIns="0" rIns="0" bIns="0" anchor="t">
            <a:spAutoFit/>
          </a:bodyPr>
          <a:lstStyle/>
          <a:p>
            <a:pPr algn="l"/>
            <a:r>
              <a:rPr sz="1050" b="0" i="0">
                <a:solidFill>
                  <a:srgbClr val="000000"/>
                </a:solidFill>
                <a:latin typeface="Times New Roman"/>
              </a:rPr>
              <a:t>Development</a:t>
            </a:r>
          </a:p>
        </p:txBody>
      </p:sp>
      <p:sp>
        <p:nvSpPr>
          <p:cNvPr id="43" name="TextBox 42"/>
          <p:cNvSpPr txBox="1"/>
          <p:nvPr/>
        </p:nvSpPr>
        <p:spPr>
          <a:xfrm>
            <a:off x="3830799" y="4579156"/>
            <a:ext cx="1233620" cy="177888"/>
          </a:xfrm>
          <a:prstGeom prst="rect">
            <a:avLst/>
          </a:prstGeom>
          <a:noFill/>
        </p:spPr>
        <p:txBody>
          <a:bodyPr wrap="none" lIns="0" tIns="0" rIns="0" bIns="0" anchor="t">
            <a:spAutoFit/>
          </a:bodyPr>
          <a:lstStyle/>
          <a:p>
            <a:pPr algn="l"/>
            <a:r>
              <a:rPr sz="1050" b="0" i="0">
                <a:solidFill>
                  <a:srgbClr val="000000"/>
                </a:solidFill>
                <a:latin typeface="Times New Roman"/>
              </a:rPr>
              <a:t>10.2 Solutions Applied</a:t>
            </a:r>
          </a:p>
        </p:txBody>
      </p:sp>
      <p:sp>
        <p:nvSpPr>
          <p:cNvPr id="44" name="TextBox 43"/>
          <p:cNvSpPr txBox="1"/>
          <p:nvPr/>
        </p:nvSpPr>
        <p:spPr>
          <a:xfrm>
            <a:off x="3830799" y="4731556"/>
            <a:ext cx="1322431" cy="177888"/>
          </a:xfrm>
          <a:prstGeom prst="rect">
            <a:avLst/>
          </a:prstGeom>
          <a:noFill/>
        </p:spPr>
        <p:txBody>
          <a:bodyPr wrap="none" lIns="0" tIns="0" rIns="0" bIns="0" anchor="t">
            <a:spAutoFit/>
          </a:bodyPr>
          <a:lstStyle/>
          <a:p>
            <a:pPr algn="l"/>
            <a:r>
              <a:rPr sz="1050" b="0" i="0">
                <a:solidFill>
                  <a:srgbClr val="000000"/>
                </a:solidFill>
                <a:latin typeface="Times New Roman"/>
              </a:rPr>
              <a:t>10.3 Current Limitations</a:t>
            </a:r>
          </a:p>
        </p:txBody>
      </p:sp>
      <p:sp>
        <p:nvSpPr>
          <p:cNvPr id="45" name="TextBox 44"/>
          <p:cNvSpPr txBox="1"/>
          <p:nvPr/>
        </p:nvSpPr>
        <p:spPr>
          <a:xfrm>
            <a:off x="3830799" y="4883956"/>
            <a:ext cx="896245" cy="177888"/>
          </a:xfrm>
          <a:prstGeom prst="rect">
            <a:avLst/>
          </a:prstGeom>
          <a:noFill/>
        </p:spPr>
        <p:txBody>
          <a:bodyPr wrap="none" lIns="0" tIns="0" rIns="0" bIns="0" anchor="t">
            <a:spAutoFit/>
          </a:bodyPr>
          <a:lstStyle/>
          <a:p>
            <a:pPr algn="l"/>
            <a:r>
              <a:rPr sz="1050" b="0" i="0">
                <a:solidFill>
                  <a:srgbClr val="000000"/>
                </a:solidFill>
                <a:latin typeface="Times New Roman"/>
              </a:rPr>
              <a:t>or Known Issues</a:t>
            </a:r>
          </a:p>
        </p:txBody>
      </p:sp>
      <p:sp>
        <p:nvSpPr>
          <p:cNvPr id="46" name="TextBox 45"/>
          <p:cNvSpPr txBox="1"/>
          <p:nvPr/>
        </p:nvSpPr>
        <p:spPr>
          <a:xfrm>
            <a:off x="5373849" y="4579156"/>
            <a:ext cx="311105" cy="177888"/>
          </a:xfrm>
          <a:prstGeom prst="rect">
            <a:avLst/>
          </a:prstGeom>
          <a:noFill/>
        </p:spPr>
        <p:txBody>
          <a:bodyPr wrap="none" lIns="0" tIns="0" rIns="0" bIns="0" anchor="t">
            <a:spAutoFit/>
          </a:bodyPr>
          <a:lstStyle/>
          <a:p>
            <a:pPr algn="l"/>
            <a:r>
              <a:rPr sz="1050" b="0" i="0">
                <a:solidFill>
                  <a:srgbClr val="000000"/>
                </a:solidFill>
                <a:latin typeface="Times New Roman"/>
              </a:rPr>
              <a:t>40-42</a:t>
            </a:r>
          </a:p>
        </p:txBody>
      </p:sp>
      <p:sp>
        <p:nvSpPr>
          <p:cNvPr id="47" name="TextBox 46"/>
          <p:cNvSpPr txBox="1"/>
          <p:nvPr/>
        </p:nvSpPr>
        <p:spPr>
          <a:xfrm>
            <a:off x="744700" y="5264956"/>
            <a:ext cx="133350" cy="177888"/>
          </a:xfrm>
          <a:prstGeom prst="rect">
            <a:avLst/>
          </a:prstGeom>
          <a:noFill/>
        </p:spPr>
        <p:txBody>
          <a:bodyPr wrap="none" lIns="0" tIns="0" rIns="0" bIns="0" anchor="t">
            <a:spAutoFit/>
          </a:bodyPr>
          <a:lstStyle/>
          <a:p>
            <a:pPr algn="l"/>
            <a:r>
              <a:rPr sz="1050" b="0" i="0">
                <a:solidFill>
                  <a:srgbClr val="000000"/>
                </a:solidFill>
                <a:latin typeface="Times New Roman"/>
              </a:rPr>
              <a:t>11</a:t>
            </a:r>
          </a:p>
        </p:txBody>
      </p:sp>
      <p:sp>
        <p:nvSpPr>
          <p:cNvPr id="48" name="TextBox 47"/>
          <p:cNvSpPr txBox="1"/>
          <p:nvPr/>
        </p:nvSpPr>
        <p:spPr>
          <a:xfrm>
            <a:off x="2287750" y="5264956"/>
            <a:ext cx="1159211" cy="177888"/>
          </a:xfrm>
          <a:prstGeom prst="rect">
            <a:avLst/>
          </a:prstGeom>
          <a:noFill/>
        </p:spPr>
        <p:txBody>
          <a:bodyPr wrap="none" lIns="0" tIns="0" rIns="0" bIns="0" anchor="t">
            <a:spAutoFit/>
          </a:bodyPr>
          <a:lstStyle/>
          <a:p>
            <a:pPr algn="l"/>
            <a:r>
              <a:rPr sz="1050" b="0" i="0">
                <a:solidFill>
                  <a:srgbClr val="000000"/>
                </a:solidFill>
                <a:latin typeface="Times New Roman"/>
              </a:rPr>
              <a:t>Future Enhancements</a:t>
            </a:r>
          </a:p>
        </p:txBody>
      </p:sp>
      <p:sp>
        <p:nvSpPr>
          <p:cNvPr id="49" name="TextBox 48"/>
          <p:cNvSpPr txBox="1"/>
          <p:nvPr/>
        </p:nvSpPr>
        <p:spPr>
          <a:xfrm>
            <a:off x="3830799" y="5112556"/>
            <a:ext cx="1181480" cy="177888"/>
          </a:xfrm>
          <a:prstGeom prst="rect">
            <a:avLst/>
          </a:prstGeom>
          <a:noFill/>
        </p:spPr>
        <p:txBody>
          <a:bodyPr wrap="none" lIns="0" tIns="0" rIns="0" bIns="0" anchor="t">
            <a:spAutoFit/>
          </a:bodyPr>
          <a:lstStyle/>
          <a:p>
            <a:pPr algn="l"/>
            <a:r>
              <a:rPr sz="1050" b="0" i="0">
                <a:solidFill>
                  <a:srgbClr val="000000"/>
                </a:solidFill>
                <a:latin typeface="Times New Roman"/>
              </a:rPr>
              <a:t>11.1 Planned Features</a:t>
            </a:r>
          </a:p>
        </p:txBody>
      </p:sp>
      <p:sp>
        <p:nvSpPr>
          <p:cNvPr id="50" name="TextBox 49"/>
          <p:cNvSpPr txBox="1"/>
          <p:nvPr/>
        </p:nvSpPr>
        <p:spPr>
          <a:xfrm>
            <a:off x="3830799" y="5264956"/>
            <a:ext cx="1381639" cy="177888"/>
          </a:xfrm>
          <a:prstGeom prst="rect">
            <a:avLst/>
          </a:prstGeom>
          <a:noFill/>
        </p:spPr>
        <p:txBody>
          <a:bodyPr wrap="none" lIns="0" tIns="0" rIns="0" bIns="0" anchor="t">
            <a:spAutoFit/>
          </a:bodyPr>
          <a:lstStyle/>
          <a:p>
            <a:pPr algn="l"/>
            <a:r>
              <a:rPr sz="1050" b="0" i="0">
                <a:solidFill>
                  <a:srgbClr val="000000"/>
                </a:solidFill>
                <a:latin typeface="Times New Roman"/>
              </a:rPr>
              <a:t>11.2 Possible Integrations</a:t>
            </a:r>
          </a:p>
        </p:txBody>
      </p:sp>
      <p:sp>
        <p:nvSpPr>
          <p:cNvPr id="51" name="TextBox 50"/>
          <p:cNvSpPr txBox="1"/>
          <p:nvPr/>
        </p:nvSpPr>
        <p:spPr>
          <a:xfrm>
            <a:off x="3830799" y="5417356"/>
            <a:ext cx="900112" cy="177888"/>
          </a:xfrm>
          <a:prstGeom prst="rect">
            <a:avLst/>
          </a:prstGeom>
          <a:noFill/>
        </p:spPr>
        <p:txBody>
          <a:bodyPr wrap="none" lIns="0" tIns="0" rIns="0" bIns="0" anchor="t">
            <a:spAutoFit/>
          </a:bodyPr>
          <a:lstStyle/>
          <a:p>
            <a:pPr algn="l"/>
            <a:r>
              <a:rPr sz="1050" b="0" i="0">
                <a:solidFill>
                  <a:srgbClr val="000000"/>
                </a:solidFill>
                <a:latin typeface="Times New Roman"/>
              </a:rPr>
              <a:t>or Optimizations</a:t>
            </a:r>
          </a:p>
        </p:txBody>
      </p:sp>
      <p:sp>
        <p:nvSpPr>
          <p:cNvPr id="52" name="TextBox 51"/>
          <p:cNvSpPr txBox="1"/>
          <p:nvPr/>
        </p:nvSpPr>
        <p:spPr>
          <a:xfrm>
            <a:off x="5373849" y="5264956"/>
            <a:ext cx="311105" cy="177888"/>
          </a:xfrm>
          <a:prstGeom prst="rect">
            <a:avLst/>
          </a:prstGeom>
          <a:noFill/>
        </p:spPr>
        <p:txBody>
          <a:bodyPr wrap="none" lIns="0" tIns="0" rIns="0" bIns="0" anchor="t">
            <a:spAutoFit/>
          </a:bodyPr>
          <a:lstStyle/>
          <a:p>
            <a:pPr algn="l"/>
            <a:r>
              <a:rPr sz="1050" b="0" i="0">
                <a:solidFill>
                  <a:srgbClr val="000000"/>
                </a:solidFill>
                <a:latin typeface="Times New Roman"/>
              </a:rPr>
              <a:t>43-44</a:t>
            </a:r>
          </a:p>
        </p:txBody>
      </p:sp>
      <p:sp>
        <p:nvSpPr>
          <p:cNvPr id="53" name="TextBox 52"/>
          <p:cNvSpPr txBox="1"/>
          <p:nvPr/>
        </p:nvSpPr>
        <p:spPr>
          <a:xfrm>
            <a:off x="744700" y="5950756"/>
            <a:ext cx="133350" cy="177888"/>
          </a:xfrm>
          <a:prstGeom prst="rect">
            <a:avLst/>
          </a:prstGeom>
          <a:noFill/>
        </p:spPr>
        <p:txBody>
          <a:bodyPr wrap="none" lIns="0" tIns="0" rIns="0" bIns="0" anchor="t">
            <a:spAutoFit/>
          </a:bodyPr>
          <a:lstStyle/>
          <a:p>
            <a:pPr algn="l"/>
            <a:r>
              <a:rPr sz="1050" b="0" i="0">
                <a:solidFill>
                  <a:srgbClr val="000000"/>
                </a:solidFill>
                <a:latin typeface="Times New Roman"/>
              </a:rPr>
              <a:t>12</a:t>
            </a:r>
          </a:p>
        </p:txBody>
      </p:sp>
      <p:sp>
        <p:nvSpPr>
          <p:cNvPr id="54" name="TextBox 53"/>
          <p:cNvSpPr txBox="1"/>
          <p:nvPr/>
        </p:nvSpPr>
        <p:spPr>
          <a:xfrm>
            <a:off x="2287750" y="5950756"/>
            <a:ext cx="607542" cy="177888"/>
          </a:xfrm>
          <a:prstGeom prst="rect">
            <a:avLst/>
          </a:prstGeom>
          <a:noFill/>
        </p:spPr>
        <p:txBody>
          <a:bodyPr wrap="none" lIns="0" tIns="0" rIns="0" bIns="0" anchor="t">
            <a:spAutoFit/>
          </a:bodyPr>
          <a:lstStyle/>
          <a:p>
            <a:pPr algn="l"/>
            <a:r>
              <a:rPr sz="1050" b="0" i="0">
                <a:solidFill>
                  <a:srgbClr val="000000"/>
                </a:solidFill>
                <a:latin typeface="Times New Roman"/>
              </a:rPr>
              <a:t>Conclusion</a:t>
            </a:r>
          </a:p>
        </p:txBody>
      </p:sp>
      <p:sp>
        <p:nvSpPr>
          <p:cNvPr id="55" name="TextBox 54"/>
          <p:cNvSpPr txBox="1"/>
          <p:nvPr/>
        </p:nvSpPr>
        <p:spPr>
          <a:xfrm>
            <a:off x="3830799" y="5645956"/>
            <a:ext cx="1126007" cy="177888"/>
          </a:xfrm>
          <a:prstGeom prst="rect">
            <a:avLst/>
          </a:prstGeom>
          <a:noFill/>
        </p:spPr>
        <p:txBody>
          <a:bodyPr wrap="none" lIns="0" tIns="0" rIns="0" bIns="0" anchor="t">
            <a:spAutoFit/>
          </a:bodyPr>
          <a:lstStyle/>
          <a:p>
            <a:pPr algn="l"/>
            <a:r>
              <a:rPr sz="1050" b="0" i="0">
                <a:solidFill>
                  <a:srgbClr val="000000"/>
                </a:solidFill>
                <a:latin typeface="Times New Roman"/>
              </a:rPr>
              <a:t>12.1 Summary of the</a:t>
            </a:r>
          </a:p>
        </p:txBody>
      </p:sp>
      <p:sp>
        <p:nvSpPr>
          <p:cNvPr id="56" name="TextBox 55"/>
          <p:cNvSpPr txBox="1"/>
          <p:nvPr/>
        </p:nvSpPr>
        <p:spPr>
          <a:xfrm>
            <a:off x="3830799" y="5798356"/>
            <a:ext cx="377780" cy="177888"/>
          </a:xfrm>
          <a:prstGeom prst="rect">
            <a:avLst/>
          </a:prstGeom>
          <a:noFill/>
        </p:spPr>
        <p:txBody>
          <a:bodyPr wrap="none" lIns="0" tIns="0" rIns="0" bIns="0" anchor="t">
            <a:spAutoFit/>
          </a:bodyPr>
          <a:lstStyle/>
          <a:p>
            <a:pPr algn="ctr"/>
            <a:r>
              <a:rPr sz="1050" b="0" i="0">
                <a:solidFill>
                  <a:srgbClr val="000000"/>
                </a:solidFill>
                <a:latin typeface="Times New Roman"/>
              </a:rPr>
              <a:t>Project</a:t>
            </a:r>
          </a:p>
        </p:txBody>
      </p:sp>
      <p:sp>
        <p:nvSpPr>
          <p:cNvPr id="57" name="TextBox 56"/>
          <p:cNvSpPr txBox="1"/>
          <p:nvPr/>
        </p:nvSpPr>
        <p:spPr>
          <a:xfrm>
            <a:off x="3830799" y="5950756"/>
            <a:ext cx="1370171" cy="177888"/>
          </a:xfrm>
          <a:prstGeom prst="rect">
            <a:avLst/>
          </a:prstGeom>
          <a:noFill/>
        </p:spPr>
        <p:txBody>
          <a:bodyPr wrap="none" lIns="0" tIns="0" rIns="0" bIns="0" anchor="t">
            <a:spAutoFit/>
          </a:bodyPr>
          <a:lstStyle/>
          <a:p>
            <a:pPr algn="l"/>
            <a:r>
              <a:rPr sz="1050" b="0" i="0">
                <a:solidFill>
                  <a:srgbClr val="000000"/>
                </a:solidFill>
                <a:latin typeface="Times New Roman"/>
              </a:rPr>
              <a:t>12.2 What Was Achieved</a:t>
            </a:r>
          </a:p>
        </p:txBody>
      </p:sp>
      <p:sp>
        <p:nvSpPr>
          <p:cNvPr id="58" name="TextBox 57"/>
          <p:cNvSpPr txBox="1"/>
          <p:nvPr/>
        </p:nvSpPr>
        <p:spPr>
          <a:xfrm>
            <a:off x="3830799" y="6103156"/>
            <a:ext cx="1040796" cy="177888"/>
          </a:xfrm>
          <a:prstGeom prst="rect">
            <a:avLst/>
          </a:prstGeom>
          <a:noFill/>
        </p:spPr>
        <p:txBody>
          <a:bodyPr wrap="none" lIns="0" tIns="0" rIns="0" bIns="0" anchor="t">
            <a:spAutoFit/>
          </a:bodyPr>
          <a:lstStyle/>
          <a:p>
            <a:pPr algn="l"/>
            <a:r>
              <a:rPr sz="1050" b="0" i="0">
                <a:solidFill>
                  <a:srgbClr val="000000"/>
                </a:solidFill>
                <a:latin typeface="Times New Roman"/>
              </a:rPr>
              <a:t>12.3 Skills Learned</a:t>
            </a:r>
          </a:p>
        </p:txBody>
      </p:sp>
      <p:sp>
        <p:nvSpPr>
          <p:cNvPr id="59" name="TextBox 58"/>
          <p:cNvSpPr txBox="1"/>
          <p:nvPr/>
        </p:nvSpPr>
        <p:spPr>
          <a:xfrm>
            <a:off x="3830799" y="6255556"/>
            <a:ext cx="1129607" cy="177888"/>
          </a:xfrm>
          <a:prstGeom prst="rect">
            <a:avLst/>
          </a:prstGeom>
          <a:noFill/>
        </p:spPr>
        <p:txBody>
          <a:bodyPr wrap="none" lIns="0" tIns="0" rIns="0" bIns="0" anchor="t">
            <a:spAutoFit/>
          </a:bodyPr>
          <a:lstStyle/>
          <a:p>
            <a:pPr algn="l"/>
            <a:r>
              <a:rPr sz="1050" b="0" i="0">
                <a:solidFill>
                  <a:srgbClr val="000000"/>
                </a:solidFill>
                <a:latin typeface="Times New Roman"/>
              </a:rPr>
              <a:t>During Development</a:t>
            </a:r>
          </a:p>
        </p:txBody>
      </p:sp>
      <p:sp>
        <p:nvSpPr>
          <p:cNvPr id="60" name="TextBox 59"/>
          <p:cNvSpPr txBox="1"/>
          <p:nvPr/>
        </p:nvSpPr>
        <p:spPr>
          <a:xfrm>
            <a:off x="5373849" y="5950756"/>
            <a:ext cx="311105" cy="177888"/>
          </a:xfrm>
          <a:prstGeom prst="rect">
            <a:avLst/>
          </a:prstGeom>
          <a:noFill/>
        </p:spPr>
        <p:txBody>
          <a:bodyPr wrap="none" lIns="0" tIns="0" rIns="0" bIns="0" anchor="t">
            <a:spAutoFit/>
          </a:bodyPr>
          <a:lstStyle/>
          <a:p>
            <a:pPr algn="l"/>
            <a:r>
              <a:rPr sz="1050" b="0" i="0">
                <a:solidFill>
                  <a:srgbClr val="000000"/>
                </a:solidFill>
                <a:latin typeface="Times New Roman"/>
              </a:rPr>
              <a:t>45-47</a:t>
            </a:r>
          </a:p>
        </p:txBody>
      </p:sp>
      <p:sp>
        <p:nvSpPr>
          <p:cNvPr id="61" name="TextBox 60"/>
          <p:cNvSpPr txBox="1"/>
          <p:nvPr/>
        </p:nvSpPr>
        <p:spPr>
          <a:xfrm>
            <a:off x="744700" y="6560356"/>
            <a:ext cx="133350" cy="177889"/>
          </a:xfrm>
          <a:prstGeom prst="rect">
            <a:avLst/>
          </a:prstGeom>
          <a:noFill/>
        </p:spPr>
        <p:txBody>
          <a:bodyPr wrap="none" lIns="0" tIns="0" rIns="0" bIns="0" anchor="t">
            <a:spAutoFit/>
          </a:bodyPr>
          <a:lstStyle/>
          <a:p>
            <a:pPr algn="l"/>
            <a:r>
              <a:rPr sz="1050" b="0" i="0">
                <a:solidFill>
                  <a:srgbClr val="000000"/>
                </a:solidFill>
                <a:latin typeface="Times New Roman"/>
              </a:rPr>
              <a:t>13</a:t>
            </a:r>
          </a:p>
        </p:txBody>
      </p:sp>
      <p:sp>
        <p:nvSpPr>
          <p:cNvPr id="62" name="TextBox 61"/>
          <p:cNvSpPr txBox="1"/>
          <p:nvPr/>
        </p:nvSpPr>
        <p:spPr>
          <a:xfrm>
            <a:off x="2287750" y="6560356"/>
            <a:ext cx="592340" cy="177889"/>
          </a:xfrm>
          <a:prstGeom prst="rect">
            <a:avLst/>
          </a:prstGeom>
          <a:noFill/>
        </p:spPr>
        <p:txBody>
          <a:bodyPr wrap="none" lIns="0" tIns="0" rIns="0" bIns="0" anchor="t">
            <a:spAutoFit/>
          </a:bodyPr>
          <a:lstStyle/>
          <a:p>
            <a:pPr algn="l"/>
            <a:r>
              <a:rPr sz="1050" b="0" i="0">
                <a:solidFill>
                  <a:srgbClr val="000000"/>
                </a:solidFill>
                <a:latin typeface="Times New Roman"/>
              </a:rPr>
              <a:t>References</a:t>
            </a:r>
          </a:p>
        </p:txBody>
      </p:sp>
      <p:sp>
        <p:nvSpPr>
          <p:cNvPr id="63" name="TextBox 62"/>
          <p:cNvSpPr txBox="1"/>
          <p:nvPr/>
        </p:nvSpPr>
        <p:spPr>
          <a:xfrm>
            <a:off x="3830799" y="6484156"/>
            <a:ext cx="1352035" cy="177888"/>
          </a:xfrm>
          <a:prstGeom prst="rect">
            <a:avLst/>
          </a:prstGeom>
          <a:noFill/>
        </p:spPr>
        <p:txBody>
          <a:bodyPr wrap="none" lIns="0" tIns="0" rIns="0" bIns="0" anchor="t">
            <a:spAutoFit/>
          </a:bodyPr>
          <a:lstStyle/>
          <a:p>
            <a:pPr algn="l"/>
            <a:r>
              <a:rPr sz="1050" b="0" i="0">
                <a:solidFill>
                  <a:srgbClr val="000000"/>
                </a:solidFill>
                <a:latin typeface="Times New Roman"/>
              </a:rPr>
              <a:t>Books, tutorials, API and</a:t>
            </a:r>
          </a:p>
        </p:txBody>
      </p:sp>
      <p:sp>
        <p:nvSpPr>
          <p:cNvPr id="64" name="TextBox 63"/>
          <p:cNvSpPr txBox="1"/>
          <p:nvPr/>
        </p:nvSpPr>
        <p:spPr>
          <a:xfrm>
            <a:off x="3830799" y="6636556"/>
            <a:ext cx="1329499" cy="177889"/>
          </a:xfrm>
          <a:prstGeom prst="rect">
            <a:avLst/>
          </a:prstGeom>
          <a:noFill/>
        </p:spPr>
        <p:txBody>
          <a:bodyPr wrap="none" lIns="0" tIns="0" rIns="0" bIns="0" anchor="t">
            <a:spAutoFit/>
          </a:bodyPr>
          <a:lstStyle/>
          <a:p>
            <a:pPr algn="l"/>
            <a:r>
              <a:rPr sz="1050" b="0" i="0">
                <a:solidFill>
                  <a:srgbClr val="000000"/>
                </a:solidFill>
                <a:latin typeface="Times New Roman"/>
              </a:rPr>
              <a:t>documentation resources</a:t>
            </a:r>
          </a:p>
        </p:txBody>
      </p:sp>
      <p:sp>
        <p:nvSpPr>
          <p:cNvPr id="65" name="TextBox 64"/>
          <p:cNvSpPr txBox="1"/>
          <p:nvPr/>
        </p:nvSpPr>
        <p:spPr>
          <a:xfrm>
            <a:off x="5373849" y="6560356"/>
            <a:ext cx="311105" cy="177889"/>
          </a:xfrm>
          <a:prstGeom prst="rect">
            <a:avLst/>
          </a:prstGeom>
          <a:noFill/>
        </p:spPr>
        <p:txBody>
          <a:bodyPr wrap="none" lIns="0" tIns="0" rIns="0" bIns="0" anchor="t">
            <a:spAutoFit/>
          </a:bodyPr>
          <a:lstStyle/>
          <a:p>
            <a:pPr algn="l"/>
            <a:r>
              <a:rPr sz="1050" b="0" i="0">
                <a:solidFill>
                  <a:srgbClr val="000000"/>
                </a:solidFill>
                <a:latin typeface="Times New Roman"/>
              </a:rPr>
              <a:t>48-49</a:t>
            </a:r>
          </a:p>
        </p:txBody>
      </p:sp>
      <p:sp>
        <p:nvSpPr>
          <p:cNvPr id="66" name="TextBox 65"/>
          <p:cNvSpPr txBox="1"/>
          <p:nvPr/>
        </p:nvSpPr>
        <p:spPr>
          <a:xfrm>
            <a:off x="744700" y="7246156"/>
            <a:ext cx="133350" cy="177889"/>
          </a:xfrm>
          <a:prstGeom prst="rect">
            <a:avLst/>
          </a:prstGeom>
          <a:noFill/>
        </p:spPr>
        <p:txBody>
          <a:bodyPr wrap="none" lIns="0" tIns="0" rIns="0" bIns="0" anchor="t">
            <a:spAutoFit/>
          </a:bodyPr>
          <a:lstStyle/>
          <a:p>
            <a:pPr algn="l"/>
            <a:r>
              <a:rPr sz="1050" b="0" i="0">
                <a:solidFill>
                  <a:srgbClr val="000000"/>
                </a:solidFill>
                <a:latin typeface="Times New Roman"/>
              </a:rPr>
              <a:t>14</a:t>
            </a:r>
          </a:p>
        </p:txBody>
      </p:sp>
      <p:sp>
        <p:nvSpPr>
          <p:cNvPr id="67" name="TextBox 66"/>
          <p:cNvSpPr txBox="1"/>
          <p:nvPr/>
        </p:nvSpPr>
        <p:spPr>
          <a:xfrm>
            <a:off x="2287750" y="7246156"/>
            <a:ext cx="629545" cy="177889"/>
          </a:xfrm>
          <a:prstGeom prst="rect">
            <a:avLst/>
          </a:prstGeom>
          <a:noFill/>
        </p:spPr>
        <p:txBody>
          <a:bodyPr wrap="none" lIns="0" tIns="0" rIns="0" bIns="0" anchor="t">
            <a:spAutoFit/>
          </a:bodyPr>
          <a:lstStyle/>
          <a:p>
            <a:pPr algn="l"/>
            <a:r>
              <a:rPr sz="1050" b="0" i="0">
                <a:solidFill>
                  <a:srgbClr val="000000"/>
                </a:solidFill>
                <a:latin typeface="Times New Roman"/>
              </a:rPr>
              <a:t>Appendices</a:t>
            </a:r>
          </a:p>
        </p:txBody>
      </p:sp>
      <p:sp>
        <p:nvSpPr>
          <p:cNvPr id="68" name="TextBox 67"/>
          <p:cNvSpPr txBox="1"/>
          <p:nvPr/>
        </p:nvSpPr>
        <p:spPr>
          <a:xfrm>
            <a:off x="3830799" y="6865156"/>
            <a:ext cx="1348035" cy="177889"/>
          </a:xfrm>
          <a:prstGeom prst="rect">
            <a:avLst/>
          </a:prstGeom>
          <a:noFill/>
        </p:spPr>
        <p:txBody>
          <a:bodyPr wrap="none" lIns="0" tIns="0" rIns="0" bIns="0" anchor="t">
            <a:spAutoFit/>
          </a:bodyPr>
          <a:lstStyle/>
          <a:p>
            <a:pPr algn="l"/>
            <a:r>
              <a:rPr sz="1050" b="0" i="0">
                <a:solidFill>
                  <a:srgbClr val="000000"/>
                </a:solidFill>
                <a:latin typeface="Times New Roman"/>
              </a:rPr>
              <a:t>Screenshots/placeholders</a:t>
            </a:r>
          </a:p>
        </p:txBody>
      </p:sp>
      <p:sp>
        <p:nvSpPr>
          <p:cNvPr id="69" name="TextBox 68"/>
          <p:cNvSpPr txBox="1"/>
          <p:nvPr/>
        </p:nvSpPr>
        <p:spPr>
          <a:xfrm>
            <a:off x="3830799" y="7017556"/>
            <a:ext cx="1155611" cy="177889"/>
          </a:xfrm>
          <a:prstGeom prst="rect">
            <a:avLst/>
          </a:prstGeom>
          <a:noFill/>
        </p:spPr>
        <p:txBody>
          <a:bodyPr wrap="none" lIns="0" tIns="0" rIns="0" bIns="0" anchor="t">
            <a:spAutoFit/>
          </a:bodyPr>
          <a:lstStyle/>
          <a:p>
            <a:pPr algn="l"/>
            <a:r>
              <a:rPr sz="1050" b="0" i="0">
                <a:solidFill>
                  <a:srgbClr val="000000"/>
                </a:solidFill>
                <a:latin typeface="Times New Roman"/>
              </a:rPr>
              <a:t>Sample code snippets</a:t>
            </a:r>
          </a:p>
        </p:txBody>
      </p:sp>
      <p:sp>
        <p:nvSpPr>
          <p:cNvPr id="70" name="TextBox 69"/>
          <p:cNvSpPr txBox="1"/>
          <p:nvPr/>
        </p:nvSpPr>
        <p:spPr>
          <a:xfrm>
            <a:off x="3830799" y="7169956"/>
            <a:ext cx="918648" cy="177889"/>
          </a:xfrm>
          <a:prstGeom prst="rect">
            <a:avLst/>
          </a:prstGeom>
          <a:noFill/>
        </p:spPr>
        <p:txBody>
          <a:bodyPr wrap="none" lIns="0" tIns="0" rIns="0" bIns="0" anchor="t">
            <a:spAutoFit/>
          </a:bodyPr>
          <a:lstStyle/>
          <a:p>
            <a:pPr algn="l"/>
            <a:r>
              <a:rPr sz="1050" b="0" i="0">
                <a:solidFill>
                  <a:srgbClr val="000000"/>
                </a:solidFill>
                <a:latin typeface="Times New Roman"/>
              </a:rPr>
              <a:t>Installation/setup</a:t>
            </a:r>
          </a:p>
        </p:txBody>
      </p:sp>
      <p:sp>
        <p:nvSpPr>
          <p:cNvPr id="71" name="TextBox 70"/>
          <p:cNvSpPr txBox="1"/>
          <p:nvPr/>
        </p:nvSpPr>
        <p:spPr>
          <a:xfrm>
            <a:off x="3830799" y="7322356"/>
            <a:ext cx="622344" cy="177889"/>
          </a:xfrm>
          <a:prstGeom prst="rect">
            <a:avLst/>
          </a:prstGeom>
          <a:noFill/>
        </p:spPr>
        <p:txBody>
          <a:bodyPr wrap="none" lIns="0" tIns="0" rIns="0" bIns="0" anchor="t">
            <a:spAutoFit/>
          </a:bodyPr>
          <a:lstStyle/>
          <a:p>
            <a:pPr algn="ctr"/>
            <a:r>
              <a:rPr sz="1050" b="0" i="0">
                <a:solidFill>
                  <a:srgbClr val="000000"/>
                </a:solidFill>
                <a:latin typeface="Times New Roman"/>
              </a:rPr>
              <a:t>instructions</a:t>
            </a:r>
          </a:p>
        </p:txBody>
      </p:sp>
      <p:sp>
        <p:nvSpPr>
          <p:cNvPr id="72" name="TextBox 71"/>
          <p:cNvSpPr txBox="1"/>
          <p:nvPr/>
        </p:nvSpPr>
        <p:spPr>
          <a:xfrm>
            <a:off x="3830799" y="7474756"/>
            <a:ext cx="1077734" cy="177889"/>
          </a:xfrm>
          <a:prstGeom prst="rect">
            <a:avLst/>
          </a:prstGeom>
          <a:noFill/>
        </p:spPr>
        <p:txBody>
          <a:bodyPr wrap="none" lIns="0" tIns="0" rIns="0" bIns="0" anchor="t">
            <a:spAutoFit/>
          </a:bodyPr>
          <a:lstStyle/>
          <a:p>
            <a:pPr algn="l"/>
            <a:r>
              <a:rPr sz="1050" b="0" i="0">
                <a:solidFill>
                  <a:srgbClr val="000000"/>
                </a:solidFill>
                <a:latin typeface="Times New Roman"/>
              </a:rPr>
              <a:t>User manual / guide</a:t>
            </a:r>
          </a:p>
        </p:txBody>
      </p:sp>
      <p:sp>
        <p:nvSpPr>
          <p:cNvPr id="73" name="TextBox 72"/>
          <p:cNvSpPr txBox="1"/>
          <p:nvPr/>
        </p:nvSpPr>
        <p:spPr>
          <a:xfrm>
            <a:off x="3830799" y="7627156"/>
            <a:ext cx="699954" cy="177889"/>
          </a:xfrm>
          <a:prstGeom prst="rect">
            <a:avLst/>
          </a:prstGeom>
          <a:noFill/>
        </p:spPr>
        <p:txBody>
          <a:bodyPr wrap="none" lIns="0" tIns="0" rIns="0" bIns="0" anchor="t">
            <a:spAutoFit/>
          </a:bodyPr>
          <a:lstStyle/>
          <a:p>
            <a:pPr algn="ctr"/>
            <a:r>
              <a:rPr sz="1050" b="0" i="0">
                <a:solidFill>
                  <a:srgbClr val="000000"/>
                </a:solidFill>
                <a:latin typeface="Times New Roman"/>
              </a:rPr>
              <a:t>Review form</a:t>
            </a:r>
          </a:p>
        </p:txBody>
      </p:sp>
      <p:sp>
        <p:nvSpPr>
          <p:cNvPr id="74" name="TextBox 73"/>
          <p:cNvSpPr txBox="1"/>
          <p:nvPr/>
        </p:nvSpPr>
        <p:spPr>
          <a:xfrm>
            <a:off x="5373849" y="7246156"/>
            <a:ext cx="311105" cy="177889"/>
          </a:xfrm>
          <a:prstGeom prst="rect">
            <a:avLst/>
          </a:prstGeom>
          <a:noFill/>
        </p:spPr>
        <p:txBody>
          <a:bodyPr wrap="none" lIns="0" tIns="0" rIns="0" bIns="0" anchor="t">
            <a:spAutoFit/>
          </a:bodyPr>
          <a:lstStyle/>
          <a:p>
            <a:pPr algn="l"/>
            <a:r>
              <a:rPr sz="1050" b="0" i="0">
                <a:solidFill>
                  <a:srgbClr val="000000"/>
                </a:solidFill>
                <a:latin typeface="Times New Roman"/>
              </a:rPr>
              <a:t>50-54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60746"/>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7</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309644" y="579322"/>
            <a:ext cx="2940710" cy="281432"/>
          </a:xfrm>
          <a:prstGeom prst="rect">
            <a:avLst/>
          </a:prstGeom>
          <a:noFill/>
        </p:spPr>
        <p:txBody>
          <a:bodyPr wrap="none" lIns="0" tIns="0" rIns="0" bIns="0" anchor="t">
            <a:spAutoFit/>
          </a:bodyPr>
          <a:lstStyle/>
          <a:p>
            <a:pPr algn="ctr"/>
            <a:r>
              <a:rPr sz="1600" b="1" i="0">
                <a:solidFill>
                  <a:srgbClr val="000000"/>
                </a:solidFill>
                <a:latin typeface="Times New Roman"/>
              </a:rPr>
              <a:t>CHAPTER - 1 INTRODUCTION</a:t>
            </a:r>
          </a:p>
        </p:txBody>
      </p:sp>
      <p:sp>
        <p:nvSpPr>
          <p:cNvPr id="5" name="TextBox 4"/>
          <p:cNvSpPr txBox="1"/>
          <p:nvPr/>
        </p:nvSpPr>
        <p:spPr>
          <a:xfrm>
            <a:off x="716280" y="948740"/>
            <a:ext cx="2276551" cy="246252"/>
          </a:xfrm>
          <a:prstGeom prst="rect">
            <a:avLst/>
          </a:prstGeom>
          <a:noFill/>
        </p:spPr>
        <p:txBody>
          <a:bodyPr wrap="none" lIns="0" tIns="0" rIns="0" bIns="0" anchor="t">
            <a:spAutoFit/>
          </a:bodyPr>
          <a:lstStyle/>
          <a:p>
            <a:pPr algn="l"/>
            <a:r>
              <a:rPr sz="1400" b="1" i="0">
                <a:solidFill>
                  <a:srgbClr val="000000"/>
                </a:solidFill>
                <a:latin typeface="Times New Roman"/>
              </a:rPr>
              <a:t>1.1 Background of the Project</a:t>
            </a:r>
          </a:p>
        </p:txBody>
      </p:sp>
      <p:sp>
        <p:nvSpPr>
          <p:cNvPr id="6" name="TextBox 5"/>
          <p:cNvSpPr txBox="1"/>
          <p:nvPr/>
        </p:nvSpPr>
        <p:spPr>
          <a:xfrm>
            <a:off x="944880" y="1227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is motivated by the need to maintain reliable pharmaceutical inventory information</a:t>
            </a:r>
          </a:p>
        </p:txBody>
      </p:sp>
      <p:sp>
        <p:nvSpPr>
          <p:cNvPr id="7" name="TextBox 6"/>
          <p:cNvSpPr txBox="1"/>
          <p:nvPr/>
        </p:nvSpPr>
        <p:spPr>
          <a:xfrm>
            <a:off x="716280" y="1405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in an environment where medicine records, supplier details, batches, purchases, sales, and available</a:t>
            </a:r>
          </a:p>
        </p:txBody>
      </p:sp>
      <p:sp>
        <p:nvSpPr>
          <p:cNvPr id="8" name="TextBox 7"/>
          <p:cNvSpPr txBox="1"/>
          <p:nvPr/>
        </p:nvSpPr>
        <p:spPr>
          <a:xfrm>
            <a:off x="716280" y="15834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stock must remain connected. A centralized backend makes these records accessible through</a:t>
            </a:r>
          </a:p>
        </p:txBody>
      </p:sp>
      <p:sp>
        <p:nvSpPr>
          <p:cNvPr id="9" name="TextBox 8"/>
          <p:cNvSpPr txBox="1"/>
          <p:nvPr/>
        </p:nvSpPr>
        <p:spPr>
          <a:xfrm>
            <a:off x="716280" y="1761286"/>
            <a:ext cx="4541368" cy="203301"/>
          </a:xfrm>
          <a:prstGeom prst="rect">
            <a:avLst/>
          </a:prstGeom>
          <a:noFill/>
        </p:spPr>
        <p:txBody>
          <a:bodyPr wrap="none" lIns="0" tIns="0" rIns="0" bIns="0" anchor="t">
            <a:spAutoFit/>
          </a:bodyPr>
          <a:lstStyle/>
          <a:p>
            <a:pPr algn="l"/>
            <a:r>
              <a:rPr sz="1200" b="0" i="0">
                <a:solidFill>
                  <a:srgbClr val="000000"/>
                </a:solidFill>
                <a:latin typeface="Times New Roman"/>
              </a:rPr>
              <a:t>consistent services rather than depending on disconnected manual records.</a:t>
            </a:r>
          </a:p>
        </p:txBody>
      </p:sp>
      <p:sp>
        <p:nvSpPr>
          <p:cNvPr id="10" name="TextBox 9"/>
          <p:cNvSpPr txBox="1"/>
          <p:nvPr/>
        </p:nvSpPr>
        <p:spPr>
          <a:xfrm>
            <a:off x="944880" y="19898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backend approach also provides a foundation for future client applications. A web</a:t>
            </a:r>
          </a:p>
        </p:txBody>
      </p:sp>
      <p:sp>
        <p:nvSpPr>
          <p:cNvPr id="11" name="TextBox 10"/>
          <p:cNvSpPr txBox="1"/>
          <p:nvPr/>
        </p:nvSpPr>
        <p:spPr>
          <a:xfrm>
            <a:off x="716280" y="21676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dashboard, administrative interface, or other authorized client can consume the same RESTful APIs</a:t>
            </a:r>
          </a:p>
        </p:txBody>
      </p:sp>
      <p:sp>
        <p:nvSpPr>
          <p:cNvPr id="12" name="TextBox 11"/>
          <p:cNvSpPr txBox="1"/>
          <p:nvPr/>
        </p:nvSpPr>
        <p:spPr>
          <a:xfrm>
            <a:off x="716280" y="23454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without directly accessing the database. This separation improves maintainability and makes the</a:t>
            </a:r>
          </a:p>
        </p:txBody>
      </p:sp>
      <p:sp>
        <p:nvSpPr>
          <p:cNvPr id="13" name="TextBox 12"/>
          <p:cNvSpPr txBox="1"/>
          <p:nvPr/>
        </p:nvSpPr>
        <p:spPr>
          <a:xfrm>
            <a:off x="716280" y="2523286"/>
            <a:ext cx="1456029" cy="203301"/>
          </a:xfrm>
          <a:prstGeom prst="rect">
            <a:avLst/>
          </a:prstGeom>
          <a:noFill/>
        </p:spPr>
        <p:txBody>
          <a:bodyPr wrap="none" lIns="0" tIns="0" rIns="0" bIns="0" anchor="t">
            <a:spAutoFit/>
          </a:bodyPr>
          <a:lstStyle/>
          <a:p>
            <a:pPr algn="l"/>
            <a:r>
              <a:rPr sz="1200" b="0" i="0">
                <a:solidFill>
                  <a:srgbClr val="000000"/>
                </a:solidFill>
                <a:latin typeface="Times New Roman"/>
              </a:rPr>
              <a:t>system easier to extend.</a:t>
            </a:r>
          </a:p>
        </p:txBody>
      </p:sp>
      <p:sp>
        <p:nvSpPr>
          <p:cNvPr id="14" name="TextBox 13"/>
          <p:cNvSpPr txBox="1"/>
          <p:nvPr/>
        </p:nvSpPr>
        <p:spPr>
          <a:xfrm>
            <a:off x="944880" y="27518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pharmaceutical sector depends on accurate inventory information because medicines must</a:t>
            </a:r>
          </a:p>
        </p:txBody>
      </p:sp>
      <p:sp>
        <p:nvSpPr>
          <p:cNvPr id="15" name="TextBox 14"/>
          <p:cNvSpPr txBox="1"/>
          <p:nvPr/>
        </p:nvSpPr>
        <p:spPr>
          <a:xfrm>
            <a:off x="716280" y="2929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be available in the required quantity while also being traceable by batch and expiry information.</a:t>
            </a:r>
          </a:p>
        </p:txBody>
      </p:sp>
      <p:sp>
        <p:nvSpPr>
          <p:cNvPr id="16" name="TextBox 15"/>
          <p:cNvSpPr txBox="1"/>
          <p:nvPr/>
        </p:nvSpPr>
        <p:spPr>
          <a:xfrm>
            <a:off x="716280" y="31074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Traditional inventory processes that rely on notebooks, spreadsheets, or disconnected records can</a:t>
            </a:r>
          </a:p>
        </p:txBody>
      </p:sp>
      <p:sp>
        <p:nvSpPr>
          <p:cNvPr id="17" name="TextBox 16"/>
          <p:cNvSpPr txBox="1"/>
          <p:nvPr/>
        </p:nvSpPr>
        <p:spPr>
          <a:xfrm>
            <a:off x="716280" y="3285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become difficult to maintain as the number of medicines, suppliers, purchases, and sales increases.</a:t>
            </a:r>
          </a:p>
        </p:txBody>
      </p:sp>
      <p:sp>
        <p:nvSpPr>
          <p:cNvPr id="18" name="TextBox 17"/>
          <p:cNvSpPr txBox="1"/>
          <p:nvPr/>
        </p:nvSpPr>
        <p:spPr>
          <a:xfrm>
            <a:off x="716280" y="34630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Manual updates can result in duplicate records, incorrect quantities, delayed identification of</a:t>
            </a:r>
          </a:p>
        </p:txBody>
      </p:sp>
      <p:sp>
        <p:nvSpPr>
          <p:cNvPr id="19" name="TextBox 18"/>
          <p:cNvSpPr txBox="1"/>
          <p:nvPr/>
        </p:nvSpPr>
        <p:spPr>
          <a:xfrm>
            <a:off x="716280" y="3640886"/>
            <a:ext cx="4160825" cy="203301"/>
          </a:xfrm>
          <a:prstGeom prst="rect">
            <a:avLst/>
          </a:prstGeom>
          <a:noFill/>
        </p:spPr>
        <p:txBody>
          <a:bodyPr wrap="none" lIns="0" tIns="0" rIns="0" bIns="0" anchor="t">
            <a:spAutoFit/>
          </a:bodyPr>
          <a:lstStyle/>
          <a:p>
            <a:pPr algn="l"/>
            <a:r>
              <a:rPr sz="1200" b="0" i="0">
                <a:solidFill>
                  <a:srgbClr val="000000"/>
                </a:solidFill>
                <a:latin typeface="Times New Roman"/>
              </a:rPr>
              <a:t>shortages, and difficulty in identifying products approaching expiry.</a:t>
            </a:r>
          </a:p>
        </p:txBody>
      </p:sp>
      <p:sp>
        <p:nvSpPr>
          <p:cNvPr id="20" name="TextBox 19"/>
          <p:cNvSpPr txBox="1"/>
          <p:nvPr/>
        </p:nvSpPr>
        <p:spPr>
          <a:xfrm>
            <a:off x="944880" y="38694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Enterprise Pharmaceutical Stock and Inventory Management System is proposed as a</a:t>
            </a:r>
          </a:p>
        </p:txBody>
      </p:sp>
      <p:sp>
        <p:nvSpPr>
          <p:cNvPr id="21" name="TextBox 20"/>
          <p:cNvSpPr txBox="1"/>
          <p:nvPr/>
        </p:nvSpPr>
        <p:spPr>
          <a:xfrm>
            <a:off x="716280" y="4047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centralized backend application to organize these inventory activities. The system brings medicine</a:t>
            </a:r>
          </a:p>
        </p:txBody>
      </p:sp>
      <p:sp>
        <p:nvSpPr>
          <p:cNvPr id="22" name="TextBox 21"/>
          <p:cNvSpPr txBox="1"/>
          <p:nvPr/>
        </p:nvSpPr>
        <p:spPr>
          <a:xfrm>
            <a:off x="716280" y="42250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records, supplier details, batch information, purchases, sales, and available stock into one managed</a:t>
            </a:r>
          </a:p>
        </p:txBody>
      </p:sp>
      <p:sp>
        <p:nvSpPr>
          <p:cNvPr id="23" name="TextBox 22"/>
          <p:cNvSpPr txBox="1"/>
          <p:nvPr/>
        </p:nvSpPr>
        <p:spPr>
          <a:xfrm>
            <a:off x="716280" y="44028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environment. By using a database-backed RESTful service, inventory information can be stored in a</a:t>
            </a:r>
          </a:p>
        </p:txBody>
      </p:sp>
      <p:sp>
        <p:nvSpPr>
          <p:cNvPr id="24" name="TextBox 23"/>
          <p:cNvSpPr txBox="1"/>
          <p:nvPr/>
        </p:nvSpPr>
        <p:spPr>
          <a:xfrm>
            <a:off x="716280" y="4580686"/>
            <a:ext cx="4325264" cy="203301"/>
          </a:xfrm>
          <a:prstGeom prst="rect">
            <a:avLst/>
          </a:prstGeom>
          <a:noFill/>
        </p:spPr>
        <p:txBody>
          <a:bodyPr wrap="none" lIns="0" tIns="0" rIns="0" bIns="0" anchor="t">
            <a:spAutoFit/>
          </a:bodyPr>
          <a:lstStyle/>
          <a:p>
            <a:pPr algn="l"/>
            <a:r>
              <a:rPr sz="1200" b="0" i="0">
                <a:solidFill>
                  <a:srgbClr val="000000"/>
                </a:solidFill>
                <a:latin typeface="Times New Roman"/>
              </a:rPr>
              <a:t>structured manner and accessed through defined application interfaces.</a:t>
            </a:r>
          </a:p>
        </p:txBody>
      </p:sp>
      <p:sp>
        <p:nvSpPr>
          <p:cNvPr id="25" name="TextBox 24"/>
          <p:cNvSpPr txBox="1"/>
          <p:nvPr/>
        </p:nvSpPr>
        <p:spPr>
          <a:xfrm>
            <a:off x="944880" y="4809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uses Node.js and Express.js for backend development. Node.js provides the runtime</a:t>
            </a:r>
          </a:p>
        </p:txBody>
      </p:sp>
      <p:sp>
        <p:nvSpPr>
          <p:cNvPr id="26" name="TextBox 25"/>
          <p:cNvSpPr txBox="1"/>
          <p:nvPr/>
        </p:nvSpPr>
        <p:spPr>
          <a:xfrm>
            <a:off x="716280" y="49870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environment, while Express.js supports the creation of RESTful APIs and request-handling logic.</a:t>
            </a:r>
          </a:p>
        </p:txBody>
      </p:sp>
      <p:sp>
        <p:nvSpPr>
          <p:cNvPr id="27" name="TextBox 26"/>
          <p:cNvSpPr txBox="1"/>
          <p:nvPr/>
        </p:nvSpPr>
        <p:spPr>
          <a:xfrm>
            <a:off x="716280" y="51648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MongoDB is used to store pharmaceutical and inventory-related information. This combination</a:t>
            </a:r>
          </a:p>
        </p:txBody>
      </p:sp>
      <p:sp>
        <p:nvSpPr>
          <p:cNvPr id="28" name="TextBox 27"/>
          <p:cNvSpPr txBox="1"/>
          <p:nvPr/>
        </p:nvSpPr>
        <p:spPr>
          <a:xfrm>
            <a:off x="716280" y="5342686"/>
            <a:ext cx="5807202" cy="203301"/>
          </a:xfrm>
          <a:prstGeom prst="rect">
            <a:avLst/>
          </a:prstGeom>
          <a:noFill/>
        </p:spPr>
        <p:txBody>
          <a:bodyPr wrap="none" lIns="0" tIns="0" rIns="0" bIns="0" anchor="t">
            <a:spAutoFit/>
          </a:bodyPr>
          <a:lstStyle/>
          <a:p>
            <a:pPr algn="ctr"/>
            <a:r>
              <a:rPr sz="1200" b="0" i="0">
                <a:solidFill>
                  <a:srgbClr val="000000"/>
                </a:solidFill>
                <a:latin typeface="Times New Roman"/>
              </a:rPr>
              <a:t>provides a flexible foundation for maintaining records that may grow as the inventory expands.</a:t>
            </a:r>
          </a:p>
        </p:txBody>
      </p:sp>
      <p:sp>
        <p:nvSpPr>
          <p:cNvPr id="29" name="TextBox 28"/>
          <p:cNvSpPr txBox="1"/>
          <p:nvPr/>
        </p:nvSpPr>
        <p:spPr>
          <a:xfrm>
            <a:off x="944880" y="55712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system also focuses on traceability. Batch numbers, manufacturing dates, and expiry dates</a:t>
            </a:r>
          </a:p>
        </p:txBody>
      </p:sp>
      <p:sp>
        <p:nvSpPr>
          <p:cNvPr id="30" name="TextBox 29"/>
          <p:cNvSpPr txBox="1"/>
          <p:nvPr/>
        </p:nvSpPr>
        <p:spPr>
          <a:xfrm>
            <a:off x="716280" y="5749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can be maintained so that staff can understand the origin and status of stock. Low-stock and</a:t>
            </a:r>
          </a:p>
        </p:txBody>
      </p:sp>
      <p:sp>
        <p:nvSpPr>
          <p:cNvPr id="31" name="TextBox 30"/>
          <p:cNvSpPr txBox="1"/>
          <p:nvPr/>
        </p:nvSpPr>
        <p:spPr>
          <a:xfrm>
            <a:off x="716280" y="59268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near-expiry identification further supports routine inventory monitoring. The intended outcome is a</a:t>
            </a:r>
          </a:p>
        </p:txBody>
      </p:sp>
      <p:sp>
        <p:nvSpPr>
          <p:cNvPr id="32" name="TextBox 31"/>
          <p:cNvSpPr txBox="1"/>
          <p:nvPr/>
        </p:nvSpPr>
        <p:spPr>
          <a:xfrm>
            <a:off x="716280" y="6104686"/>
            <a:ext cx="4625797" cy="203301"/>
          </a:xfrm>
          <a:prstGeom prst="rect">
            <a:avLst/>
          </a:prstGeom>
          <a:noFill/>
        </p:spPr>
        <p:txBody>
          <a:bodyPr wrap="none" lIns="0" tIns="0" rIns="0" bIns="0" anchor="t">
            <a:spAutoFit/>
          </a:bodyPr>
          <a:lstStyle/>
          <a:p>
            <a:pPr algn="l"/>
            <a:r>
              <a:rPr sz="1200" b="0" i="0">
                <a:solidFill>
                  <a:srgbClr val="000000"/>
                </a:solidFill>
                <a:latin typeface="Times New Roman"/>
              </a:rPr>
              <a:t>more organized and reliable method of managing pharmaceutical resources.</a:t>
            </a:r>
          </a:p>
        </p:txBody>
      </p:sp>
      <p:sp>
        <p:nvSpPr>
          <p:cNvPr id="33" name="TextBox 32"/>
          <p:cNvSpPr txBox="1"/>
          <p:nvPr/>
        </p:nvSpPr>
        <p:spPr>
          <a:xfrm>
            <a:off x="716280" y="6371640"/>
            <a:ext cx="1733194" cy="246252"/>
          </a:xfrm>
          <a:prstGeom prst="rect">
            <a:avLst/>
          </a:prstGeom>
          <a:noFill/>
        </p:spPr>
        <p:txBody>
          <a:bodyPr wrap="none" lIns="0" tIns="0" rIns="0" bIns="0" anchor="t">
            <a:spAutoFit/>
          </a:bodyPr>
          <a:lstStyle/>
          <a:p>
            <a:pPr algn="l"/>
            <a:r>
              <a:rPr sz="1400" b="1" i="0">
                <a:solidFill>
                  <a:srgbClr val="000000"/>
                </a:solidFill>
                <a:latin typeface="Times New Roman"/>
              </a:rPr>
              <a:t>1.2 Problem Statement</a:t>
            </a:r>
          </a:p>
        </p:txBody>
      </p:sp>
      <p:sp>
        <p:nvSpPr>
          <p:cNvPr id="34" name="TextBox 33"/>
          <p:cNvSpPr txBox="1"/>
          <p:nvPr/>
        </p:nvSpPr>
        <p:spPr>
          <a:xfrm>
            <a:off x="944880" y="66507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Inventory errors can have a direct operational impact. An incorrect quantity may result in a</a:t>
            </a:r>
          </a:p>
        </p:txBody>
      </p:sp>
      <p:sp>
        <p:nvSpPr>
          <p:cNvPr id="35" name="TextBox 34"/>
          <p:cNvSpPr txBox="1"/>
          <p:nvPr/>
        </p:nvSpPr>
        <p:spPr>
          <a:xfrm>
            <a:off x="716280" y="68285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medicine being shown as available when it is not, while excessive stock can occupy storage capacity</a:t>
            </a:r>
          </a:p>
        </p:txBody>
      </p:sp>
      <p:sp>
        <p:nvSpPr>
          <p:cNvPr id="36" name="TextBox 35"/>
          <p:cNvSpPr txBox="1"/>
          <p:nvPr/>
        </p:nvSpPr>
        <p:spPr>
          <a:xfrm>
            <a:off x="716280" y="7006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unnecessarily. A centralized record of transactions provides a clearer basis for monitoring these</a:t>
            </a:r>
          </a:p>
        </p:txBody>
      </p:sp>
      <p:sp>
        <p:nvSpPr>
          <p:cNvPr id="37" name="TextBox 36"/>
          <p:cNvSpPr txBox="1"/>
          <p:nvPr/>
        </p:nvSpPr>
        <p:spPr>
          <a:xfrm>
            <a:off x="716280" y="7184186"/>
            <a:ext cx="528980" cy="203301"/>
          </a:xfrm>
          <a:prstGeom prst="rect">
            <a:avLst/>
          </a:prstGeom>
          <a:noFill/>
        </p:spPr>
        <p:txBody>
          <a:bodyPr wrap="none" lIns="0" tIns="0" rIns="0" bIns="0" anchor="t">
            <a:spAutoFit/>
          </a:bodyPr>
          <a:lstStyle/>
          <a:p>
            <a:pPr algn="l"/>
            <a:r>
              <a:rPr sz="1200" b="0" i="0">
                <a:solidFill>
                  <a:srgbClr val="000000"/>
                </a:solidFill>
                <a:latin typeface="Times New Roman"/>
              </a:rPr>
              <a:t>changes.</a:t>
            </a:r>
          </a:p>
        </p:txBody>
      </p:sp>
      <p:sp>
        <p:nvSpPr>
          <p:cNvPr id="38" name="TextBox 37"/>
          <p:cNvSpPr txBox="1"/>
          <p:nvPr/>
        </p:nvSpPr>
        <p:spPr>
          <a:xfrm>
            <a:off x="944880" y="74127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Expiry tracking is particularly important because the system must preserve date information at</a:t>
            </a:r>
          </a:p>
        </p:txBody>
      </p:sp>
      <p:sp>
        <p:nvSpPr>
          <p:cNvPr id="39" name="TextBox 38"/>
          <p:cNvSpPr txBox="1"/>
          <p:nvPr/>
        </p:nvSpPr>
        <p:spPr>
          <a:xfrm>
            <a:off x="716280" y="75905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batch level. Without accessible batch and expiry records, staff may need to manually inspect</a:t>
            </a:r>
          </a:p>
        </p:txBody>
      </p:sp>
      <p:sp>
        <p:nvSpPr>
          <p:cNvPr id="40" name="TextBox 39"/>
          <p:cNvSpPr txBox="1"/>
          <p:nvPr/>
        </p:nvSpPr>
        <p:spPr>
          <a:xfrm>
            <a:off x="716280" y="77683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separate documents. The proposed system reduces this effort by keeping these details in the same</a:t>
            </a:r>
          </a:p>
        </p:txBody>
      </p:sp>
      <p:sp>
        <p:nvSpPr>
          <p:cNvPr id="41" name="TextBox 40"/>
          <p:cNvSpPr txBox="1"/>
          <p:nvPr/>
        </p:nvSpPr>
        <p:spPr>
          <a:xfrm>
            <a:off x="716280" y="7946186"/>
            <a:ext cx="1100480" cy="203301"/>
          </a:xfrm>
          <a:prstGeom prst="rect">
            <a:avLst/>
          </a:prstGeom>
          <a:noFill/>
        </p:spPr>
        <p:txBody>
          <a:bodyPr wrap="none" lIns="0" tIns="0" rIns="0" bIns="0" anchor="t">
            <a:spAutoFit/>
          </a:bodyPr>
          <a:lstStyle/>
          <a:p>
            <a:pPr algn="l"/>
            <a:r>
              <a:rPr sz="1200" b="0" i="0">
                <a:solidFill>
                  <a:srgbClr val="000000"/>
                </a:solidFill>
                <a:latin typeface="Times New Roman"/>
              </a:rPr>
              <a:t>data environment.</a:t>
            </a:r>
          </a:p>
        </p:txBody>
      </p:sp>
      <p:sp>
        <p:nvSpPr>
          <p:cNvPr id="42" name="TextBox 41"/>
          <p:cNvSpPr txBox="1"/>
          <p:nvPr/>
        </p:nvSpPr>
        <p:spPr>
          <a:xfrm>
            <a:off x="944880" y="81747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Manual pharmaceutical inventory management creates several operational difficulties. When</a:t>
            </a:r>
          </a:p>
        </p:txBody>
      </p:sp>
      <p:sp>
        <p:nvSpPr>
          <p:cNvPr id="43" name="TextBox 42"/>
          <p:cNvSpPr txBox="1"/>
          <p:nvPr/>
        </p:nvSpPr>
        <p:spPr>
          <a:xfrm>
            <a:off x="716280" y="8352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stock records are maintained separately, staff may have to update the same information in multiple</a:t>
            </a:r>
          </a:p>
        </p:txBody>
      </p:sp>
      <p:sp>
        <p:nvSpPr>
          <p:cNvPr id="44" name="TextBox 43"/>
          <p:cNvSpPr txBox="1"/>
          <p:nvPr/>
        </p:nvSpPr>
        <p:spPr>
          <a:xfrm>
            <a:off x="716280" y="8530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locations. This increases the possibility of data duplication and human error. Incorrect stock values</a:t>
            </a:r>
          </a:p>
        </p:txBody>
      </p:sp>
      <p:sp>
        <p:nvSpPr>
          <p:cNvPr id="45" name="TextBox 44"/>
          <p:cNvSpPr txBox="1"/>
          <p:nvPr/>
        </p:nvSpPr>
        <p:spPr>
          <a:xfrm>
            <a:off x="716280" y="8708186"/>
            <a:ext cx="6086094" cy="203301"/>
          </a:xfrm>
          <a:prstGeom prst="rect">
            <a:avLst/>
          </a:prstGeom>
          <a:noFill/>
        </p:spPr>
        <p:txBody>
          <a:bodyPr wrap="none" lIns="0" tIns="0" rIns="0" bIns="0" anchor="t">
            <a:spAutoFit/>
          </a:bodyPr>
          <a:lstStyle/>
          <a:p>
            <a:pPr algn="ctr"/>
            <a:r>
              <a:rPr sz="1200" b="0" i="0">
                <a:solidFill>
                  <a:srgbClr val="000000"/>
                </a:solidFill>
                <a:latin typeface="Times New Roman"/>
              </a:rPr>
              <a:t>can affect purchasing decisions and may lead to either stock shortages or unnecessary overstocking.</a:t>
            </a:r>
          </a:p>
        </p:txBody>
      </p:sp>
      <p:sp>
        <p:nvSpPr>
          <p:cNvPr id="46" name="TextBox 45"/>
          <p:cNvSpPr txBox="1"/>
          <p:nvPr/>
        </p:nvSpPr>
        <p:spPr>
          <a:xfrm>
            <a:off x="944880" y="8936787"/>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Expiry management is another important challenge. Medicines are associated with</a:t>
            </a:r>
          </a:p>
        </p:txBody>
      </p:sp>
      <p:sp>
        <p:nvSpPr>
          <p:cNvPr id="47" name="TextBox 46"/>
          <p:cNvSpPr txBox="1"/>
          <p:nvPr/>
        </p:nvSpPr>
        <p:spPr>
          <a:xfrm>
            <a:off x="716280" y="9114587"/>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manufacturing and expiry dates, and these details need to be visible to authorized staff. If expiry</a:t>
            </a:r>
          </a:p>
        </p:txBody>
      </p:sp>
      <p:sp>
        <p:nvSpPr>
          <p:cNvPr id="48" name="TextBox 47"/>
          <p:cNvSpPr txBox="1"/>
          <p:nvPr/>
        </p:nvSpPr>
        <p:spPr>
          <a:xfrm>
            <a:off x="716280" y="9292387"/>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information is difficult to track, near-expiry medicines may not be identified early enough for</a:t>
            </a:r>
          </a:p>
        </p:txBody>
      </p:sp>
      <p:sp>
        <p:nvSpPr>
          <p:cNvPr id="49" name="TextBox 48"/>
          <p:cNvSpPr txBox="1"/>
          <p:nvPr/>
        </p:nvSpPr>
        <p:spPr>
          <a:xfrm>
            <a:off x="716280" y="9470187"/>
            <a:ext cx="6039307" cy="203301"/>
          </a:xfrm>
          <a:prstGeom prst="rect">
            <a:avLst/>
          </a:prstGeom>
          <a:noFill/>
        </p:spPr>
        <p:txBody>
          <a:bodyPr wrap="none" lIns="0" tIns="0" rIns="0" bIns="0" anchor="t">
            <a:spAutoFit/>
          </a:bodyPr>
          <a:lstStyle/>
          <a:p>
            <a:pPr algn="ctr"/>
            <a:r>
              <a:rPr sz="1200" b="0" i="0">
                <a:solidFill>
                  <a:srgbClr val="000000"/>
                </a:solidFill>
                <a:latin typeface="Times New Roman"/>
              </a:rPr>
              <a:t>appropriate action. A centralized application can make these records easier to retrieve and monitor.</a:t>
            </a:r>
          </a:p>
        </p:txBody>
      </p:sp>
      <p:sp>
        <p:nvSpPr>
          <p:cNvPr id="50" name="TextBox 49"/>
          <p:cNvSpPr txBox="1"/>
          <p:nvPr/>
        </p:nvSpPr>
        <p:spPr>
          <a:xfrm>
            <a:off x="944880" y="9698787"/>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Supplier and transaction information also needs to remain consistent. Medicines may be</a:t>
            </a:r>
          </a:p>
        </p:txBody>
      </p:sp>
      <p:sp>
        <p:nvSpPr>
          <p:cNvPr id="51" name="TextBox 50"/>
          <p:cNvSpPr txBox="1"/>
          <p:nvPr/>
        </p:nvSpPr>
        <p:spPr>
          <a:xfrm>
            <a:off x="716280" y="9876587"/>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purchased from different suppliers and moved through batches and sales transactions. Without 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8</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716280" y="580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connected system, it can be difficult to understand the current quantity, transaction history, or</a:t>
            </a:r>
          </a:p>
        </p:txBody>
      </p:sp>
      <p:sp>
        <p:nvSpPr>
          <p:cNvPr id="5" name="TextBox 4"/>
          <p:cNvSpPr txBox="1"/>
          <p:nvPr/>
        </p:nvSpPr>
        <p:spPr>
          <a:xfrm>
            <a:off x="716280" y="757986"/>
            <a:ext cx="2962960" cy="203301"/>
          </a:xfrm>
          <a:prstGeom prst="rect">
            <a:avLst/>
          </a:prstGeom>
          <a:noFill/>
        </p:spPr>
        <p:txBody>
          <a:bodyPr wrap="none" lIns="0" tIns="0" rIns="0" bIns="0" anchor="t">
            <a:spAutoFit/>
          </a:bodyPr>
          <a:lstStyle/>
          <a:p>
            <a:pPr algn="l"/>
            <a:r>
              <a:rPr sz="1200" b="0" i="0">
                <a:solidFill>
                  <a:srgbClr val="000000"/>
                </a:solidFill>
                <a:latin typeface="Times New Roman"/>
              </a:rPr>
              <a:t>supplier information associated with a medicine.</a:t>
            </a:r>
          </a:p>
        </p:txBody>
      </p:sp>
      <p:sp>
        <p:nvSpPr>
          <p:cNvPr id="6" name="TextBox 5"/>
          <p:cNvSpPr txBox="1"/>
          <p:nvPr/>
        </p:nvSpPr>
        <p:spPr>
          <a:xfrm>
            <a:off x="944880" y="9865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therefore addresses the need for a centralized backend system that provides CRUD</a:t>
            </a:r>
          </a:p>
        </p:txBody>
      </p:sp>
      <p:sp>
        <p:nvSpPr>
          <p:cNvPr id="7" name="TextBox 6"/>
          <p:cNvSpPr txBox="1"/>
          <p:nvPr/>
        </p:nvSpPr>
        <p:spPr>
          <a:xfrm>
            <a:off x="716280" y="1164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operations for medicines and suppliers, supports inventory transactions, maintains batch</a:t>
            </a:r>
          </a:p>
        </p:txBody>
      </p:sp>
      <p:sp>
        <p:nvSpPr>
          <p:cNvPr id="8" name="TextBox 7"/>
          <p:cNvSpPr txBox="1"/>
          <p:nvPr/>
        </p:nvSpPr>
        <p:spPr>
          <a:xfrm>
            <a:off x="716280" y="1342186"/>
            <a:ext cx="4219956" cy="203301"/>
          </a:xfrm>
          <a:prstGeom prst="rect">
            <a:avLst/>
          </a:prstGeom>
          <a:noFill/>
        </p:spPr>
        <p:txBody>
          <a:bodyPr wrap="none" lIns="0" tIns="0" rIns="0" bIns="0" anchor="t">
            <a:spAutoFit/>
          </a:bodyPr>
          <a:lstStyle/>
          <a:p>
            <a:pPr algn="l"/>
            <a:r>
              <a:rPr sz="1200" b="0" i="0">
                <a:solidFill>
                  <a:srgbClr val="000000"/>
                </a:solidFill>
                <a:latin typeface="Times New Roman"/>
              </a:rPr>
              <a:t>information, and helps identify low-stock and near-expiry medicines.</a:t>
            </a:r>
          </a:p>
        </p:txBody>
      </p:sp>
      <p:sp>
        <p:nvSpPr>
          <p:cNvPr id="9" name="TextBox 8"/>
          <p:cNvSpPr txBox="1"/>
          <p:nvPr/>
        </p:nvSpPr>
        <p:spPr>
          <a:xfrm>
            <a:off x="716280" y="1609140"/>
            <a:ext cx="1782445" cy="246252"/>
          </a:xfrm>
          <a:prstGeom prst="rect">
            <a:avLst/>
          </a:prstGeom>
          <a:noFill/>
        </p:spPr>
        <p:txBody>
          <a:bodyPr wrap="none" lIns="0" tIns="0" rIns="0" bIns="0" anchor="t">
            <a:spAutoFit/>
          </a:bodyPr>
          <a:lstStyle/>
          <a:p>
            <a:pPr algn="l"/>
            <a:r>
              <a:rPr sz="1400" b="1" i="0">
                <a:solidFill>
                  <a:srgbClr val="000000"/>
                </a:solidFill>
                <a:latin typeface="Times New Roman"/>
              </a:rPr>
              <a:t>1.3 Scope of the Project</a:t>
            </a:r>
          </a:p>
        </p:txBody>
      </p:sp>
      <p:sp>
        <p:nvSpPr>
          <p:cNvPr id="10" name="TextBox 9"/>
          <p:cNvSpPr txBox="1"/>
          <p:nvPr/>
        </p:nvSpPr>
        <p:spPr>
          <a:xfrm>
            <a:off x="944880" y="18882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scope also includes the supporting API behavior required to make these modules usable:</a:t>
            </a:r>
          </a:p>
        </p:txBody>
      </p:sp>
      <p:sp>
        <p:nvSpPr>
          <p:cNvPr id="11" name="TextBox 10"/>
          <p:cNvSpPr txBox="1"/>
          <p:nvPr/>
        </p:nvSpPr>
        <p:spPr>
          <a:xfrm>
            <a:off x="716280" y="20660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input validation, database connectivity, structured responses, error handling, and authorized access.</a:t>
            </a:r>
          </a:p>
        </p:txBody>
      </p:sp>
      <p:sp>
        <p:nvSpPr>
          <p:cNvPr id="12" name="TextBox 11"/>
          <p:cNvSpPr txBox="1"/>
          <p:nvPr/>
        </p:nvSpPr>
        <p:spPr>
          <a:xfrm>
            <a:off x="716280" y="2243886"/>
            <a:ext cx="5645963" cy="203301"/>
          </a:xfrm>
          <a:prstGeom prst="rect">
            <a:avLst/>
          </a:prstGeom>
          <a:noFill/>
        </p:spPr>
        <p:txBody>
          <a:bodyPr wrap="none" lIns="0" tIns="0" rIns="0" bIns="0" anchor="t">
            <a:spAutoFit/>
          </a:bodyPr>
          <a:lstStyle/>
          <a:p>
            <a:pPr algn="ctr"/>
            <a:r>
              <a:rPr sz="1200" b="0" i="0">
                <a:solidFill>
                  <a:srgbClr val="000000"/>
                </a:solidFill>
                <a:latin typeface="Times New Roman"/>
              </a:rPr>
              <a:t>These backend services form the operational foundation for a future administrative frontend.</a:t>
            </a:r>
          </a:p>
        </p:txBody>
      </p:sp>
      <p:sp>
        <p:nvSpPr>
          <p:cNvPr id="13" name="TextBox 12"/>
          <p:cNvSpPr txBox="1"/>
          <p:nvPr/>
        </p:nvSpPr>
        <p:spPr>
          <a:xfrm>
            <a:off x="944880" y="24724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is designed as a scalable foundation rather than a replacement for every process in a</a:t>
            </a:r>
          </a:p>
        </p:txBody>
      </p:sp>
      <p:sp>
        <p:nvSpPr>
          <p:cNvPr id="14" name="TextBox 13"/>
          <p:cNvSpPr txBox="1"/>
          <p:nvPr/>
        </p:nvSpPr>
        <p:spPr>
          <a:xfrm>
            <a:off x="716280" y="2650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pharmaceutical organization. Functions not specified in the submitted abstract, such as external</a:t>
            </a:r>
          </a:p>
        </p:txBody>
      </p:sp>
      <p:sp>
        <p:nvSpPr>
          <p:cNvPr id="15" name="TextBox 14"/>
          <p:cNvSpPr txBox="1"/>
          <p:nvPr/>
        </p:nvSpPr>
        <p:spPr>
          <a:xfrm>
            <a:off x="716280" y="2828086"/>
            <a:ext cx="5459577" cy="203301"/>
          </a:xfrm>
          <a:prstGeom prst="rect">
            <a:avLst/>
          </a:prstGeom>
          <a:noFill/>
        </p:spPr>
        <p:txBody>
          <a:bodyPr wrap="none" lIns="0" tIns="0" rIns="0" bIns="0" anchor="t">
            <a:spAutoFit/>
          </a:bodyPr>
          <a:lstStyle/>
          <a:p>
            <a:pPr algn="ctr"/>
            <a:r>
              <a:rPr sz="1200" b="0" i="0">
                <a:solidFill>
                  <a:srgbClr val="000000"/>
                </a:solidFill>
                <a:latin typeface="Times New Roman"/>
              </a:rPr>
              <a:t>regulatory reporting or automated warehouse hardware, remain outside the present scope.</a:t>
            </a:r>
          </a:p>
        </p:txBody>
      </p:sp>
      <p:sp>
        <p:nvSpPr>
          <p:cNvPr id="16" name="TextBox 15"/>
          <p:cNvSpPr txBox="1"/>
          <p:nvPr/>
        </p:nvSpPr>
        <p:spPr>
          <a:xfrm>
            <a:off x="944880" y="30566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scope of the Enterprise Pharmaceutical Stock and Inventory Management System covers the</a:t>
            </a:r>
          </a:p>
        </p:txBody>
      </p:sp>
      <p:sp>
        <p:nvSpPr>
          <p:cNvPr id="17" name="TextBox 16"/>
          <p:cNvSpPr txBox="1"/>
          <p:nvPr/>
        </p:nvSpPr>
        <p:spPr>
          <a:xfrm>
            <a:off x="716280" y="32344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backend services required to manage pharmaceutical inventory data. The central modules are</a:t>
            </a:r>
          </a:p>
        </p:txBody>
      </p:sp>
      <p:sp>
        <p:nvSpPr>
          <p:cNvPr id="18" name="TextBox 17"/>
          <p:cNvSpPr txBox="1"/>
          <p:nvPr/>
        </p:nvSpPr>
        <p:spPr>
          <a:xfrm>
            <a:off x="716280" y="3412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medicines, suppliers, batches, purchases, sales, and available stock. The application provides the</a:t>
            </a:r>
          </a:p>
        </p:txBody>
      </p:sp>
      <p:sp>
        <p:nvSpPr>
          <p:cNvPr id="19" name="TextBox 18"/>
          <p:cNvSpPr txBox="1"/>
          <p:nvPr/>
        </p:nvSpPr>
        <p:spPr>
          <a:xfrm>
            <a:off x="716280" y="3590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data operations needed to create, retrieve, update, and delete relevant records and to monitor</a:t>
            </a:r>
          </a:p>
        </p:txBody>
      </p:sp>
      <p:sp>
        <p:nvSpPr>
          <p:cNvPr id="20" name="TextBox 19"/>
          <p:cNvSpPr txBox="1"/>
          <p:nvPr/>
        </p:nvSpPr>
        <p:spPr>
          <a:xfrm>
            <a:off x="716280" y="3767886"/>
            <a:ext cx="1388363" cy="203301"/>
          </a:xfrm>
          <a:prstGeom prst="rect">
            <a:avLst/>
          </a:prstGeom>
          <a:noFill/>
        </p:spPr>
        <p:txBody>
          <a:bodyPr wrap="none" lIns="0" tIns="0" rIns="0" bIns="0" anchor="t">
            <a:spAutoFit/>
          </a:bodyPr>
          <a:lstStyle/>
          <a:p>
            <a:pPr algn="l"/>
            <a:r>
              <a:rPr sz="1200" b="0" i="0">
                <a:solidFill>
                  <a:srgbClr val="000000"/>
                </a:solidFill>
                <a:latin typeface="Times New Roman"/>
              </a:rPr>
              <a:t>inventory transactions.</a:t>
            </a:r>
          </a:p>
        </p:txBody>
      </p:sp>
      <p:sp>
        <p:nvSpPr>
          <p:cNvPr id="21" name="TextBox 20"/>
          <p:cNvSpPr txBox="1"/>
          <p:nvPr/>
        </p:nvSpPr>
        <p:spPr>
          <a:xfrm>
            <a:off x="944880" y="39964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medicine module covers core medicine information and its relationship with inventory. The</a:t>
            </a:r>
          </a:p>
        </p:txBody>
      </p:sp>
      <p:sp>
        <p:nvSpPr>
          <p:cNvPr id="22" name="TextBox 21"/>
          <p:cNvSpPr txBox="1"/>
          <p:nvPr/>
        </p:nvSpPr>
        <p:spPr>
          <a:xfrm>
            <a:off x="716280" y="4174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supplier module maintains supplier-related records. Batch management stores batch numbers</a:t>
            </a:r>
          </a:p>
        </p:txBody>
      </p:sp>
      <p:sp>
        <p:nvSpPr>
          <p:cNvPr id="23" name="TextBox 22"/>
          <p:cNvSpPr txBox="1"/>
          <p:nvPr/>
        </p:nvSpPr>
        <p:spPr>
          <a:xfrm>
            <a:off x="716280" y="43520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together with manufacturing and expiry information. Purchase and sales modules represent</a:t>
            </a:r>
          </a:p>
        </p:txBody>
      </p:sp>
      <p:sp>
        <p:nvSpPr>
          <p:cNvPr id="24" name="TextBox 23"/>
          <p:cNvSpPr txBox="1"/>
          <p:nvPr/>
        </p:nvSpPr>
        <p:spPr>
          <a:xfrm>
            <a:off x="716280" y="45298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inventory movement, while stock monitoring provides the current inventory view needed for routine</a:t>
            </a:r>
          </a:p>
        </p:txBody>
      </p:sp>
      <p:sp>
        <p:nvSpPr>
          <p:cNvPr id="25" name="TextBox 24"/>
          <p:cNvSpPr txBox="1"/>
          <p:nvPr/>
        </p:nvSpPr>
        <p:spPr>
          <a:xfrm>
            <a:off x="716280" y="4707686"/>
            <a:ext cx="672998" cy="203301"/>
          </a:xfrm>
          <a:prstGeom prst="rect">
            <a:avLst/>
          </a:prstGeom>
          <a:noFill/>
        </p:spPr>
        <p:txBody>
          <a:bodyPr wrap="none" lIns="0" tIns="0" rIns="0" bIns="0" anchor="t">
            <a:spAutoFit/>
          </a:bodyPr>
          <a:lstStyle/>
          <a:p>
            <a:pPr algn="l"/>
            <a:r>
              <a:rPr sz="1200" b="0" i="0">
                <a:solidFill>
                  <a:srgbClr val="000000"/>
                </a:solidFill>
                <a:latin typeface="Times New Roman"/>
              </a:rPr>
              <a:t>operations.</a:t>
            </a:r>
          </a:p>
        </p:txBody>
      </p:sp>
      <p:sp>
        <p:nvSpPr>
          <p:cNvPr id="26" name="TextBox 25"/>
          <p:cNvSpPr txBox="1"/>
          <p:nvPr/>
        </p:nvSpPr>
        <p:spPr>
          <a:xfrm>
            <a:off x="944880" y="4936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system is intended for administrators and authorized staff. Access control can be applied so</a:t>
            </a:r>
          </a:p>
        </p:txBody>
      </p:sp>
      <p:sp>
        <p:nvSpPr>
          <p:cNvPr id="27" name="TextBox 26"/>
          <p:cNvSpPr txBox="1"/>
          <p:nvPr/>
        </p:nvSpPr>
        <p:spPr>
          <a:xfrm>
            <a:off x="716280" y="51140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that only permitted users can perform sensitive inventory operations. The backend can also be</a:t>
            </a:r>
          </a:p>
        </p:txBody>
      </p:sp>
      <p:sp>
        <p:nvSpPr>
          <p:cNvPr id="28" name="TextBox 27"/>
          <p:cNvSpPr txBox="1"/>
          <p:nvPr/>
        </p:nvSpPr>
        <p:spPr>
          <a:xfrm>
            <a:off x="716280" y="52918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extended with reporting, analytics, alerts, barcode support, and additional integrations in future</a:t>
            </a:r>
          </a:p>
        </p:txBody>
      </p:sp>
      <p:sp>
        <p:nvSpPr>
          <p:cNvPr id="29" name="TextBox 28"/>
          <p:cNvSpPr txBox="1"/>
          <p:nvPr/>
        </p:nvSpPr>
        <p:spPr>
          <a:xfrm>
            <a:off x="716280" y="5469686"/>
            <a:ext cx="546049" cy="203301"/>
          </a:xfrm>
          <a:prstGeom prst="rect">
            <a:avLst/>
          </a:prstGeom>
          <a:noFill/>
        </p:spPr>
        <p:txBody>
          <a:bodyPr wrap="none" lIns="0" tIns="0" rIns="0" bIns="0" anchor="t">
            <a:spAutoFit/>
          </a:bodyPr>
          <a:lstStyle/>
          <a:p>
            <a:pPr algn="l"/>
            <a:r>
              <a:rPr sz="1200" b="0" i="0">
                <a:solidFill>
                  <a:srgbClr val="000000"/>
                </a:solidFill>
                <a:latin typeface="Times New Roman"/>
              </a:rPr>
              <a:t>versions.</a:t>
            </a:r>
          </a:p>
        </p:txBody>
      </p:sp>
      <p:sp>
        <p:nvSpPr>
          <p:cNvPr id="30" name="TextBox 29"/>
          <p:cNvSpPr txBox="1"/>
          <p:nvPr/>
        </p:nvSpPr>
        <p:spPr>
          <a:xfrm>
            <a:off x="944880" y="56982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current scope is centered on backend inventory management. It does not claim to implement</a:t>
            </a:r>
          </a:p>
        </p:txBody>
      </p:sp>
      <p:sp>
        <p:nvSpPr>
          <p:cNvPr id="31" name="TextBox 30"/>
          <p:cNvSpPr txBox="1"/>
          <p:nvPr/>
        </p:nvSpPr>
        <p:spPr>
          <a:xfrm>
            <a:off x="716280" y="58760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external pharmaceutical regulation workflows, physical warehouse automation, or external</a:t>
            </a:r>
          </a:p>
        </p:txBody>
      </p:sp>
      <p:sp>
        <p:nvSpPr>
          <p:cNvPr id="32" name="TextBox 31"/>
          <p:cNvSpPr txBox="1"/>
          <p:nvPr/>
        </p:nvSpPr>
        <p:spPr>
          <a:xfrm>
            <a:off x="716280" y="6053886"/>
            <a:ext cx="5807202" cy="203301"/>
          </a:xfrm>
          <a:prstGeom prst="rect">
            <a:avLst/>
          </a:prstGeom>
          <a:noFill/>
        </p:spPr>
        <p:txBody>
          <a:bodyPr wrap="none" lIns="0" tIns="0" rIns="0" bIns="0" anchor="t">
            <a:spAutoFit/>
          </a:bodyPr>
          <a:lstStyle/>
          <a:p>
            <a:pPr algn="ctr"/>
            <a:r>
              <a:rPr sz="1200" b="0" i="0">
                <a:solidFill>
                  <a:srgbClr val="000000"/>
                </a:solidFill>
                <a:latin typeface="Times New Roman"/>
              </a:rPr>
              <a:t>commercial payment systems unless those are separately integrated in a future implementation.</a:t>
            </a:r>
          </a:p>
        </p:txBody>
      </p:sp>
      <p:sp>
        <p:nvSpPr>
          <p:cNvPr id="33" name="TextBox 32"/>
          <p:cNvSpPr txBox="1"/>
          <p:nvPr/>
        </p:nvSpPr>
        <p:spPr>
          <a:xfrm>
            <a:off x="716280" y="6320840"/>
            <a:ext cx="2137867" cy="246252"/>
          </a:xfrm>
          <a:prstGeom prst="rect">
            <a:avLst/>
          </a:prstGeom>
          <a:noFill/>
        </p:spPr>
        <p:txBody>
          <a:bodyPr wrap="none" lIns="0" tIns="0" rIns="0" bIns="0" anchor="t">
            <a:spAutoFit/>
          </a:bodyPr>
          <a:lstStyle/>
          <a:p>
            <a:pPr algn="l"/>
            <a:r>
              <a:rPr sz="1400" b="1" i="0">
                <a:solidFill>
                  <a:srgbClr val="000000"/>
                </a:solidFill>
                <a:latin typeface="Times New Roman"/>
              </a:rPr>
              <a:t>1.4 Objectives of the Project</a:t>
            </a:r>
          </a:p>
        </p:txBody>
      </p:sp>
      <p:sp>
        <p:nvSpPr>
          <p:cNvPr id="34" name="TextBox 33"/>
          <p:cNvSpPr txBox="1"/>
          <p:nvPr/>
        </p:nvSpPr>
        <p:spPr>
          <a:xfrm>
            <a:off x="944880" y="65999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objectives combine operational improvement with software engineering practice. The</a:t>
            </a:r>
          </a:p>
        </p:txBody>
      </p:sp>
      <p:sp>
        <p:nvSpPr>
          <p:cNvPr id="35" name="TextBox 34"/>
          <p:cNvSpPr txBox="1"/>
          <p:nvPr/>
        </p:nvSpPr>
        <p:spPr>
          <a:xfrm>
            <a:off x="716280" y="67777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application is expected to make inventory information easier to maintain while demonstrating the</a:t>
            </a:r>
          </a:p>
        </p:txBody>
      </p:sp>
      <p:sp>
        <p:nvSpPr>
          <p:cNvPr id="36" name="TextBox 35"/>
          <p:cNvSpPr txBox="1"/>
          <p:nvPr/>
        </p:nvSpPr>
        <p:spPr>
          <a:xfrm>
            <a:off x="716280" y="69555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practical use of a modern JavaScript backend, a NoSQL database, REST API design, and testing</a:t>
            </a:r>
          </a:p>
        </p:txBody>
      </p:sp>
      <p:sp>
        <p:nvSpPr>
          <p:cNvPr id="37" name="TextBox 36"/>
          <p:cNvSpPr txBox="1"/>
          <p:nvPr/>
        </p:nvSpPr>
        <p:spPr>
          <a:xfrm>
            <a:off x="716280" y="7133386"/>
            <a:ext cx="334518" cy="203301"/>
          </a:xfrm>
          <a:prstGeom prst="rect">
            <a:avLst/>
          </a:prstGeom>
          <a:noFill/>
        </p:spPr>
        <p:txBody>
          <a:bodyPr wrap="none" lIns="0" tIns="0" rIns="0" bIns="0" anchor="t">
            <a:spAutoFit/>
          </a:bodyPr>
          <a:lstStyle/>
          <a:p>
            <a:pPr algn="l"/>
            <a:r>
              <a:rPr sz="1200" b="0" i="0">
                <a:solidFill>
                  <a:srgbClr val="000000"/>
                </a:solidFill>
                <a:latin typeface="Times New Roman"/>
              </a:rPr>
              <a:t>tools.</a:t>
            </a:r>
          </a:p>
        </p:txBody>
      </p:sp>
      <p:sp>
        <p:nvSpPr>
          <p:cNvPr id="38" name="TextBox 37"/>
          <p:cNvSpPr txBox="1"/>
          <p:nvPr/>
        </p:nvSpPr>
        <p:spPr>
          <a:xfrm>
            <a:off x="944880" y="73619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Another objective is to improve traceability. By maintaining batch numbers and manufacturing</a:t>
            </a:r>
          </a:p>
        </p:txBody>
      </p:sp>
      <p:sp>
        <p:nvSpPr>
          <p:cNvPr id="39" name="TextBox 38"/>
          <p:cNvSpPr txBox="1"/>
          <p:nvPr/>
        </p:nvSpPr>
        <p:spPr>
          <a:xfrm>
            <a:off x="716280" y="75397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and expiry dates, the backend can provide a more detailed view of stock than a simple total quantity</a:t>
            </a:r>
          </a:p>
        </p:txBody>
      </p:sp>
      <p:sp>
        <p:nvSpPr>
          <p:cNvPr id="40" name="TextBox 39"/>
          <p:cNvSpPr txBox="1"/>
          <p:nvPr/>
        </p:nvSpPr>
        <p:spPr>
          <a:xfrm>
            <a:off x="716280" y="7717586"/>
            <a:ext cx="427329" cy="203301"/>
          </a:xfrm>
          <a:prstGeom prst="rect">
            <a:avLst/>
          </a:prstGeom>
          <a:noFill/>
        </p:spPr>
        <p:txBody>
          <a:bodyPr wrap="none" lIns="0" tIns="0" rIns="0" bIns="0" anchor="t">
            <a:spAutoFit/>
          </a:bodyPr>
          <a:lstStyle/>
          <a:p>
            <a:pPr algn="l"/>
            <a:r>
              <a:rPr sz="1200" b="0" i="0">
                <a:solidFill>
                  <a:srgbClr val="000000"/>
                </a:solidFill>
                <a:latin typeface="Times New Roman"/>
              </a:rPr>
              <a:t>record.</a:t>
            </a:r>
          </a:p>
        </p:txBody>
      </p:sp>
      <p:sp>
        <p:nvSpPr>
          <p:cNvPr id="41" name="TextBox 40"/>
          <p:cNvSpPr txBox="1"/>
          <p:nvPr/>
        </p:nvSpPr>
        <p:spPr>
          <a:xfrm>
            <a:off x="944880" y="79461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primary objective is to design and develop a centralized backend application for</a:t>
            </a:r>
          </a:p>
        </p:txBody>
      </p:sp>
      <p:sp>
        <p:nvSpPr>
          <p:cNvPr id="42" name="TextBox 41"/>
          <p:cNvSpPr txBox="1"/>
          <p:nvPr/>
        </p:nvSpPr>
        <p:spPr>
          <a:xfrm>
            <a:off x="716280" y="81239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pharmaceutical stock and inventory management. The system should reduce dependence on manual</a:t>
            </a:r>
          </a:p>
        </p:txBody>
      </p:sp>
      <p:sp>
        <p:nvSpPr>
          <p:cNvPr id="43" name="TextBox 42"/>
          <p:cNvSpPr txBox="1"/>
          <p:nvPr/>
        </p:nvSpPr>
        <p:spPr>
          <a:xfrm>
            <a:off x="716280" y="8301786"/>
            <a:ext cx="4444136" cy="203301"/>
          </a:xfrm>
          <a:prstGeom prst="rect">
            <a:avLst/>
          </a:prstGeom>
          <a:noFill/>
        </p:spPr>
        <p:txBody>
          <a:bodyPr wrap="none" lIns="0" tIns="0" rIns="0" bIns="0" anchor="t">
            <a:spAutoFit/>
          </a:bodyPr>
          <a:lstStyle/>
          <a:p>
            <a:pPr algn="l"/>
            <a:r>
              <a:rPr sz="1200" b="0" i="0">
                <a:solidFill>
                  <a:srgbClr val="000000"/>
                </a:solidFill>
                <a:latin typeface="Times New Roman"/>
              </a:rPr>
              <a:t>record keeping and provide a consistent source of inventory information.</a:t>
            </a:r>
          </a:p>
        </p:txBody>
      </p:sp>
      <p:sp>
        <p:nvSpPr>
          <p:cNvPr id="44" name="TextBox 43"/>
          <p:cNvSpPr txBox="1"/>
          <p:nvPr/>
        </p:nvSpPr>
        <p:spPr>
          <a:xfrm>
            <a:off x="944880" y="8530386"/>
            <a:ext cx="2539746" cy="203301"/>
          </a:xfrm>
          <a:prstGeom prst="rect">
            <a:avLst/>
          </a:prstGeom>
          <a:noFill/>
        </p:spPr>
        <p:txBody>
          <a:bodyPr wrap="none" lIns="0" tIns="0" rIns="0" bIns="0" anchor="t">
            <a:spAutoFit/>
          </a:bodyPr>
          <a:lstStyle/>
          <a:p>
            <a:pPr algn="l"/>
            <a:r>
              <a:rPr sz="1200" b="0" i="0">
                <a:solidFill>
                  <a:srgbClr val="000000"/>
                </a:solidFill>
                <a:latin typeface="Times New Roman"/>
              </a:rPr>
              <a:t>Specific objectives include the following:</a:t>
            </a:r>
          </a:p>
        </p:txBody>
      </p:sp>
      <p:sp>
        <p:nvSpPr>
          <p:cNvPr id="45" name="TextBox 44"/>
          <p:cNvSpPr txBox="1"/>
          <p:nvPr/>
        </p:nvSpPr>
        <p:spPr>
          <a:xfrm>
            <a:off x="716280" y="8758986"/>
            <a:ext cx="3532480" cy="203301"/>
          </a:xfrm>
          <a:prstGeom prst="rect">
            <a:avLst/>
          </a:prstGeom>
          <a:noFill/>
        </p:spPr>
        <p:txBody>
          <a:bodyPr wrap="none" lIns="0" tIns="0" rIns="0" bIns="0" anchor="t">
            <a:spAutoFit/>
          </a:bodyPr>
          <a:lstStyle/>
          <a:p>
            <a:pPr algn="l"/>
            <a:r>
              <a:rPr sz="1200" b="0" i="0">
                <a:solidFill>
                  <a:srgbClr val="000000"/>
                </a:solidFill>
                <a:latin typeface="Times New Roman"/>
              </a:rPr>
              <a:t>• Maintain structured records for medicines and suppliers.</a:t>
            </a:r>
          </a:p>
        </p:txBody>
      </p:sp>
      <p:sp>
        <p:nvSpPr>
          <p:cNvPr id="46" name="TextBox 45"/>
          <p:cNvSpPr txBox="1"/>
          <p:nvPr/>
        </p:nvSpPr>
        <p:spPr>
          <a:xfrm>
            <a:off x="716280" y="8987586"/>
            <a:ext cx="4713275" cy="203301"/>
          </a:xfrm>
          <a:prstGeom prst="rect">
            <a:avLst/>
          </a:prstGeom>
          <a:noFill/>
        </p:spPr>
        <p:txBody>
          <a:bodyPr wrap="none" lIns="0" tIns="0" rIns="0" bIns="0" anchor="t">
            <a:spAutoFit/>
          </a:bodyPr>
          <a:lstStyle/>
          <a:p>
            <a:pPr algn="l"/>
            <a:r>
              <a:rPr sz="1200" b="0" i="0">
                <a:solidFill>
                  <a:srgbClr val="000000"/>
                </a:solidFill>
                <a:latin typeface="Times New Roman"/>
              </a:rPr>
              <a:t>• Store batch numbers, manufacturing dates, and expiry dates for traceability.</a:t>
            </a:r>
          </a:p>
        </p:txBody>
      </p:sp>
      <p:sp>
        <p:nvSpPr>
          <p:cNvPr id="47" name="TextBox 46"/>
          <p:cNvSpPr txBox="1"/>
          <p:nvPr/>
        </p:nvSpPr>
        <p:spPr>
          <a:xfrm>
            <a:off x="716280" y="9216186"/>
            <a:ext cx="4150309" cy="203301"/>
          </a:xfrm>
          <a:prstGeom prst="rect">
            <a:avLst/>
          </a:prstGeom>
          <a:noFill/>
        </p:spPr>
        <p:txBody>
          <a:bodyPr wrap="none" lIns="0" tIns="0" rIns="0" bIns="0" anchor="t">
            <a:spAutoFit/>
          </a:bodyPr>
          <a:lstStyle/>
          <a:p>
            <a:pPr algn="l"/>
            <a:r>
              <a:rPr sz="1200" b="0" i="0">
                <a:solidFill>
                  <a:srgbClr val="000000"/>
                </a:solidFill>
                <a:latin typeface="Times New Roman"/>
              </a:rPr>
              <a:t>• Support purchase and sales transactions that affect available stock.</a:t>
            </a:r>
          </a:p>
        </p:txBody>
      </p:sp>
      <p:sp>
        <p:nvSpPr>
          <p:cNvPr id="48" name="TextBox 47"/>
          <p:cNvSpPr txBox="1"/>
          <p:nvPr/>
        </p:nvSpPr>
        <p:spPr>
          <a:xfrm>
            <a:off x="716280" y="9444787"/>
            <a:ext cx="5026914" cy="203301"/>
          </a:xfrm>
          <a:prstGeom prst="rect">
            <a:avLst/>
          </a:prstGeom>
          <a:noFill/>
        </p:spPr>
        <p:txBody>
          <a:bodyPr wrap="none" lIns="0" tIns="0" rIns="0" bIns="0" anchor="t">
            <a:spAutoFit/>
          </a:bodyPr>
          <a:lstStyle/>
          <a:p>
            <a:pPr algn="l"/>
            <a:r>
              <a:rPr sz="1200" b="0" i="0">
                <a:solidFill>
                  <a:srgbClr val="000000"/>
                </a:solidFill>
                <a:latin typeface="Times New Roman"/>
              </a:rPr>
              <a:t>• Provide CRUD operations for relevant inventory records through RESTful APIs.</a:t>
            </a:r>
          </a:p>
        </p:txBody>
      </p:sp>
      <p:sp>
        <p:nvSpPr>
          <p:cNvPr id="49" name="TextBox 48"/>
          <p:cNvSpPr txBox="1"/>
          <p:nvPr/>
        </p:nvSpPr>
        <p:spPr>
          <a:xfrm>
            <a:off x="716280" y="9673387"/>
            <a:ext cx="4040428" cy="203301"/>
          </a:xfrm>
          <a:prstGeom prst="rect">
            <a:avLst/>
          </a:prstGeom>
          <a:noFill/>
        </p:spPr>
        <p:txBody>
          <a:bodyPr wrap="none" lIns="0" tIns="0" rIns="0" bIns="0" anchor="t">
            <a:spAutoFit/>
          </a:bodyPr>
          <a:lstStyle/>
          <a:p>
            <a:pPr algn="l"/>
            <a:r>
              <a:rPr sz="1200" b="0" i="0">
                <a:solidFill>
                  <a:srgbClr val="000000"/>
                </a:solidFill>
                <a:latin typeface="Times New Roman"/>
              </a:rPr>
              <a:t>• Identify low-stock medicines and medicines approaching expiry.</a:t>
            </a:r>
          </a:p>
        </p:txBody>
      </p:sp>
      <p:sp>
        <p:nvSpPr>
          <p:cNvPr id="50" name="TextBox 49"/>
          <p:cNvSpPr txBox="1"/>
          <p:nvPr/>
        </p:nvSpPr>
        <p:spPr>
          <a:xfrm>
            <a:off x="716280" y="9901987"/>
            <a:ext cx="4277106" cy="203301"/>
          </a:xfrm>
          <a:prstGeom prst="rect">
            <a:avLst/>
          </a:prstGeom>
          <a:noFill/>
        </p:spPr>
        <p:txBody>
          <a:bodyPr wrap="none" lIns="0" tIns="0" rIns="0" bIns="0" anchor="t">
            <a:spAutoFit/>
          </a:bodyPr>
          <a:lstStyle/>
          <a:p>
            <a:pPr algn="l"/>
            <a:r>
              <a:rPr sz="1200" b="0" i="0">
                <a:solidFill>
                  <a:srgbClr val="000000"/>
                </a:solidFill>
                <a:latin typeface="Times New Roman"/>
              </a:rPr>
              <a:t>• Reduce duplicate data and human errors through centralized storage.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9</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716280" y="580186"/>
            <a:ext cx="3579113" cy="203301"/>
          </a:xfrm>
          <a:prstGeom prst="rect">
            <a:avLst/>
          </a:prstGeom>
          <a:noFill/>
        </p:spPr>
        <p:txBody>
          <a:bodyPr wrap="none" lIns="0" tIns="0" rIns="0" bIns="0" anchor="t">
            <a:spAutoFit/>
          </a:bodyPr>
          <a:lstStyle/>
          <a:p>
            <a:pPr algn="l"/>
            <a:r>
              <a:rPr sz="1200" b="0" i="0">
                <a:solidFill>
                  <a:srgbClr val="000000"/>
                </a:solidFill>
                <a:latin typeface="Times New Roman"/>
              </a:rPr>
              <a:t>• Provide a scalable backend using Node.js and Express.js.</a:t>
            </a:r>
          </a:p>
        </p:txBody>
      </p:sp>
      <p:sp>
        <p:nvSpPr>
          <p:cNvPr id="5" name="TextBox 4"/>
          <p:cNvSpPr txBox="1"/>
          <p:nvPr/>
        </p:nvSpPr>
        <p:spPr>
          <a:xfrm>
            <a:off x="716280" y="808786"/>
            <a:ext cx="4116933" cy="203301"/>
          </a:xfrm>
          <a:prstGeom prst="rect">
            <a:avLst/>
          </a:prstGeom>
          <a:noFill/>
        </p:spPr>
        <p:txBody>
          <a:bodyPr wrap="none" lIns="0" tIns="0" rIns="0" bIns="0" anchor="t">
            <a:spAutoFit/>
          </a:bodyPr>
          <a:lstStyle/>
          <a:p>
            <a:pPr algn="l"/>
            <a:r>
              <a:rPr sz="1200" b="0" i="0">
                <a:solidFill>
                  <a:srgbClr val="000000"/>
                </a:solidFill>
                <a:latin typeface="Times New Roman"/>
              </a:rPr>
              <a:t>• Store pharmaceutical and inventory information using MongoDB.</a:t>
            </a:r>
          </a:p>
        </p:txBody>
      </p:sp>
      <p:sp>
        <p:nvSpPr>
          <p:cNvPr id="6" name="TextBox 5"/>
          <p:cNvSpPr txBox="1"/>
          <p:nvPr/>
        </p:nvSpPr>
        <p:spPr>
          <a:xfrm>
            <a:off x="716280" y="1037386"/>
            <a:ext cx="4480408" cy="203301"/>
          </a:xfrm>
          <a:prstGeom prst="rect">
            <a:avLst/>
          </a:prstGeom>
          <a:noFill/>
        </p:spPr>
        <p:txBody>
          <a:bodyPr wrap="none" lIns="0" tIns="0" rIns="0" bIns="0" anchor="t">
            <a:spAutoFit/>
          </a:bodyPr>
          <a:lstStyle/>
          <a:p>
            <a:pPr algn="l"/>
            <a:r>
              <a:rPr sz="1200" b="0" i="0">
                <a:solidFill>
                  <a:srgbClr val="000000"/>
                </a:solidFill>
                <a:latin typeface="Times New Roman"/>
              </a:rPr>
              <a:t>• Support authorized staff in maintaining accurate and up-to-date records.</a:t>
            </a:r>
          </a:p>
        </p:txBody>
      </p:sp>
      <p:sp>
        <p:nvSpPr>
          <p:cNvPr id="7" name="TextBox 6"/>
          <p:cNvSpPr txBox="1"/>
          <p:nvPr/>
        </p:nvSpPr>
        <p:spPr>
          <a:xfrm>
            <a:off x="716280" y="1304340"/>
            <a:ext cx="2563165" cy="246252"/>
          </a:xfrm>
          <a:prstGeom prst="rect">
            <a:avLst/>
          </a:prstGeom>
          <a:noFill/>
        </p:spPr>
        <p:txBody>
          <a:bodyPr wrap="none" lIns="0" tIns="0" rIns="0" bIns="0" anchor="t">
            <a:spAutoFit/>
          </a:bodyPr>
          <a:lstStyle/>
          <a:p>
            <a:pPr algn="l"/>
            <a:r>
              <a:rPr sz="1400" b="1" i="0">
                <a:solidFill>
                  <a:srgbClr val="000000"/>
                </a:solidFill>
                <a:latin typeface="Times New Roman"/>
              </a:rPr>
              <a:t>1.5 Importance of the Application</a:t>
            </a:r>
          </a:p>
        </p:txBody>
      </p:sp>
      <p:sp>
        <p:nvSpPr>
          <p:cNvPr id="8" name="TextBox 7"/>
          <p:cNvSpPr txBox="1"/>
          <p:nvPr/>
        </p:nvSpPr>
        <p:spPr>
          <a:xfrm>
            <a:off x="944880" y="15834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application is useful because inventory visibility is a fundamental requirement for organized</a:t>
            </a:r>
          </a:p>
        </p:txBody>
      </p:sp>
      <p:sp>
        <p:nvSpPr>
          <p:cNvPr id="9" name="TextBox 8"/>
          <p:cNvSpPr txBox="1"/>
          <p:nvPr/>
        </p:nvSpPr>
        <p:spPr>
          <a:xfrm>
            <a:off x="716280" y="17612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stock management. Centralized information allows authorized staff to retrieve the same current</a:t>
            </a:r>
          </a:p>
        </p:txBody>
      </p:sp>
      <p:sp>
        <p:nvSpPr>
          <p:cNvPr id="10" name="TextBox 9"/>
          <p:cNvSpPr txBox="1"/>
          <p:nvPr/>
        </p:nvSpPr>
        <p:spPr>
          <a:xfrm>
            <a:off x="716280" y="1939086"/>
            <a:ext cx="2445868" cy="203301"/>
          </a:xfrm>
          <a:prstGeom prst="rect">
            <a:avLst/>
          </a:prstGeom>
          <a:noFill/>
        </p:spPr>
        <p:txBody>
          <a:bodyPr wrap="none" lIns="0" tIns="0" rIns="0" bIns="0" anchor="t">
            <a:spAutoFit/>
          </a:bodyPr>
          <a:lstStyle/>
          <a:p>
            <a:pPr algn="l"/>
            <a:r>
              <a:rPr sz="1200" b="0" i="0">
                <a:solidFill>
                  <a:srgbClr val="000000"/>
                </a:solidFill>
                <a:latin typeface="Times New Roman"/>
              </a:rPr>
              <a:t>records and reduces repeated data entry.</a:t>
            </a:r>
          </a:p>
        </p:txBody>
      </p:sp>
      <p:sp>
        <p:nvSpPr>
          <p:cNvPr id="11" name="TextBox 10"/>
          <p:cNvSpPr txBox="1"/>
          <p:nvPr/>
        </p:nvSpPr>
        <p:spPr>
          <a:xfrm>
            <a:off x="944880" y="21676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system also creates a foundation for future analytical functions. Once medicine, supplier,</a:t>
            </a:r>
          </a:p>
        </p:txBody>
      </p:sp>
      <p:sp>
        <p:nvSpPr>
          <p:cNvPr id="12" name="TextBox 11"/>
          <p:cNvSpPr txBox="1"/>
          <p:nvPr/>
        </p:nvSpPr>
        <p:spPr>
          <a:xfrm>
            <a:off x="716280" y="23454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batch, purchase, sales, and stock data are maintained consistently, reports and dashboards can be</a:t>
            </a:r>
          </a:p>
        </p:txBody>
      </p:sp>
      <p:sp>
        <p:nvSpPr>
          <p:cNvPr id="13" name="TextBox 12"/>
          <p:cNvSpPr txBox="1"/>
          <p:nvPr/>
        </p:nvSpPr>
        <p:spPr>
          <a:xfrm>
            <a:off x="716280" y="2523286"/>
            <a:ext cx="2873959" cy="203301"/>
          </a:xfrm>
          <a:prstGeom prst="rect">
            <a:avLst/>
          </a:prstGeom>
          <a:noFill/>
        </p:spPr>
        <p:txBody>
          <a:bodyPr wrap="none" lIns="0" tIns="0" rIns="0" bIns="0" anchor="t">
            <a:spAutoFit/>
          </a:bodyPr>
          <a:lstStyle/>
          <a:p>
            <a:pPr algn="l"/>
            <a:r>
              <a:rPr sz="1200" b="0" i="0">
                <a:solidFill>
                  <a:srgbClr val="000000"/>
                </a:solidFill>
                <a:latin typeface="Times New Roman"/>
              </a:rPr>
              <a:t>added without redesigning the entire data flow.</a:t>
            </a:r>
          </a:p>
        </p:txBody>
      </p:sp>
      <p:sp>
        <p:nvSpPr>
          <p:cNvPr id="14" name="TextBox 13"/>
          <p:cNvSpPr txBox="1"/>
          <p:nvPr/>
        </p:nvSpPr>
        <p:spPr>
          <a:xfrm>
            <a:off x="944880" y="2751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application is important because pharmaceutical inventory requires both quantity control</a:t>
            </a:r>
          </a:p>
        </p:txBody>
      </p:sp>
      <p:sp>
        <p:nvSpPr>
          <p:cNvPr id="15" name="TextBox 14"/>
          <p:cNvSpPr txBox="1"/>
          <p:nvPr/>
        </p:nvSpPr>
        <p:spPr>
          <a:xfrm>
            <a:off x="716280" y="29296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and product traceability. A stock management system is not only expected to show how many units</a:t>
            </a:r>
          </a:p>
        </p:txBody>
      </p:sp>
      <p:sp>
        <p:nvSpPr>
          <p:cNvPr id="16" name="TextBox 15"/>
          <p:cNvSpPr txBox="1"/>
          <p:nvPr/>
        </p:nvSpPr>
        <p:spPr>
          <a:xfrm>
            <a:off x="716280" y="31074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are available; it should also help staff understand which batch the stock belongs to and when that</a:t>
            </a:r>
          </a:p>
        </p:txBody>
      </p:sp>
      <p:sp>
        <p:nvSpPr>
          <p:cNvPr id="17" name="TextBox 16"/>
          <p:cNvSpPr txBox="1"/>
          <p:nvPr/>
        </p:nvSpPr>
        <p:spPr>
          <a:xfrm>
            <a:off x="716280" y="3285286"/>
            <a:ext cx="5493715" cy="203301"/>
          </a:xfrm>
          <a:prstGeom prst="rect">
            <a:avLst/>
          </a:prstGeom>
          <a:noFill/>
        </p:spPr>
        <p:txBody>
          <a:bodyPr wrap="none" lIns="0" tIns="0" rIns="0" bIns="0" anchor="t">
            <a:spAutoFit/>
          </a:bodyPr>
          <a:lstStyle/>
          <a:p>
            <a:pPr algn="ctr"/>
            <a:r>
              <a:rPr sz="1200" b="0" i="0">
                <a:solidFill>
                  <a:srgbClr val="000000"/>
                </a:solidFill>
                <a:latin typeface="Times New Roman"/>
              </a:rPr>
              <a:t>batch expires. The proposed system places these details in a centralized data environment.</a:t>
            </a:r>
          </a:p>
        </p:txBody>
      </p:sp>
      <p:sp>
        <p:nvSpPr>
          <p:cNvPr id="18" name="TextBox 17"/>
          <p:cNvSpPr txBox="1"/>
          <p:nvPr/>
        </p:nvSpPr>
        <p:spPr>
          <a:xfrm>
            <a:off x="944880" y="35138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Automation can reduce the repetitive effort involved in maintaining inventory records. Instead of</a:t>
            </a:r>
          </a:p>
        </p:txBody>
      </p:sp>
      <p:sp>
        <p:nvSpPr>
          <p:cNvPr id="19" name="TextBox 18"/>
          <p:cNvSpPr txBox="1"/>
          <p:nvPr/>
        </p:nvSpPr>
        <p:spPr>
          <a:xfrm>
            <a:off x="716280" y="3691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calculating or searching through disconnected files, staff can use application services to retrieve</a:t>
            </a:r>
          </a:p>
        </p:txBody>
      </p:sp>
      <p:sp>
        <p:nvSpPr>
          <p:cNvPr id="20" name="TextBox 19"/>
          <p:cNvSpPr txBox="1"/>
          <p:nvPr/>
        </p:nvSpPr>
        <p:spPr>
          <a:xfrm>
            <a:off x="716280" y="38694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records and update transactions. This can improve consistency and make routine stock management</a:t>
            </a:r>
          </a:p>
        </p:txBody>
      </p:sp>
      <p:sp>
        <p:nvSpPr>
          <p:cNvPr id="21" name="TextBox 20"/>
          <p:cNvSpPr txBox="1"/>
          <p:nvPr/>
        </p:nvSpPr>
        <p:spPr>
          <a:xfrm>
            <a:off x="716280" y="4047286"/>
            <a:ext cx="897178" cy="203301"/>
          </a:xfrm>
          <a:prstGeom prst="rect">
            <a:avLst/>
          </a:prstGeom>
          <a:noFill/>
        </p:spPr>
        <p:txBody>
          <a:bodyPr wrap="none" lIns="0" tIns="0" rIns="0" bIns="0" anchor="t">
            <a:spAutoFit/>
          </a:bodyPr>
          <a:lstStyle/>
          <a:p>
            <a:pPr algn="l"/>
            <a:r>
              <a:rPr sz="1200" b="0" i="0">
                <a:solidFill>
                  <a:srgbClr val="000000"/>
                </a:solidFill>
                <a:latin typeface="Times New Roman"/>
              </a:rPr>
              <a:t>more efficient.</a:t>
            </a:r>
          </a:p>
        </p:txBody>
      </p:sp>
      <p:sp>
        <p:nvSpPr>
          <p:cNvPr id="22" name="TextBox 21"/>
          <p:cNvSpPr txBox="1"/>
          <p:nvPr/>
        </p:nvSpPr>
        <p:spPr>
          <a:xfrm>
            <a:off x="944880" y="42758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Another important aspect is decision support. Low-stock and near-expiry information can help</a:t>
            </a:r>
          </a:p>
        </p:txBody>
      </p:sp>
      <p:sp>
        <p:nvSpPr>
          <p:cNvPr id="23" name="TextBox 22"/>
          <p:cNvSpPr txBox="1"/>
          <p:nvPr/>
        </p:nvSpPr>
        <p:spPr>
          <a:xfrm>
            <a:off x="716280" y="4453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authorized staff identify records that need attention. Such visibility can support better purchasing</a:t>
            </a:r>
          </a:p>
        </p:txBody>
      </p:sp>
      <p:sp>
        <p:nvSpPr>
          <p:cNvPr id="24" name="TextBox 23"/>
          <p:cNvSpPr txBox="1"/>
          <p:nvPr/>
        </p:nvSpPr>
        <p:spPr>
          <a:xfrm>
            <a:off x="716280" y="4631486"/>
            <a:ext cx="5240121" cy="203301"/>
          </a:xfrm>
          <a:prstGeom prst="rect">
            <a:avLst/>
          </a:prstGeom>
          <a:noFill/>
        </p:spPr>
        <p:txBody>
          <a:bodyPr wrap="none" lIns="0" tIns="0" rIns="0" bIns="0" anchor="t">
            <a:spAutoFit/>
          </a:bodyPr>
          <a:lstStyle/>
          <a:p>
            <a:pPr algn="l"/>
            <a:r>
              <a:rPr sz="1200" b="0" i="0">
                <a:solidFill>
                  <a:srgbClr val="000000"/>
                </a:solidFill>
                <a:latin typeface="Times New Roman"/>
              </a:rPr>
              <a:t>and stock handling decisions without requiring staff to manually inspect every record.</a:t>
            </a:r>
          </a:p>
        </p:txBody>
      </p:sp>
      <p:sp>
        <p:nvSpPr>
          <p:cNvPr id="25" name="TextBox 24"/>
          <p:cNvSpPr txBox="1"/>
          <p:nvPr/>
        </p:nvSpPr>
        <p:spPr>
          <a:xfrm>
            <a:off x="944880" y="48600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From a software engineering perspective, the project demonstrates how a RESTful backend,</a:t>
            </a:r>
          </a:p>
        </p:txBody>
      </p:sp>
      <p:sp>
        <p:nvSpPr>
          <p:cNvPr id="26" name="TextBox 25"/>
          <p:cNvSpPr txBox="1"/>
          <p:nvPr/>
        </p:nvSpPr>
        <p:spPr>
          <a:xfrm>
            <a:off x="716280" y="50378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database management, validation, and testing tools can be combined to address a practical business</a:t>
            </a:r>
          </a:p>
        </p:txBody>
      </p:sp>
      <p:sp>
        <p:nvSpPr>
          <p:cNvPr id="27" name="TextBox 26"/>
          <p:cNvSpPr txBox="1"/>
          <p:nvPr/>
        </p:nvSpPr>
        <p:spPr>
          <a:xfrm>
            <a:off x="716280" y="5215686"/>
            <a:ext cx="546049" cy="203301"/>
          </a:xfrm>
          <a:prstGeom prst="rect">
            <a:avLst/>
          </a:prstGeom>
          <a:noFill/>
        </p:spPr>
        <p:txBody>
          <a:bodyPr wrap="none" lIns="0" tIns="0" rIns="0" bIns="0" anchor="t">
            <a:spAutoFit/>
          </a:bodyPr>
          <a:lstStyle/>
          <a:p>
            <a:pPr algn="l"/>
            <a:r>
              <a:rPr sz="1200" b="0" i="0">
                <a:solidFill>
                  <a:srgbClr val="000000"/>
                </a:solidFill>
                <a:latin typeface="Times New Roman"/>
              </a:rPr>
              <a:t>problem.</a:t>
            </a:r>
          </a:p>
        </p:txBody>
      </p:sp>
      <p:sp>
        <p:nvSpPr>
          <p:cNvPr id="28" name="TextBox 27"/>
          <p:cNvSpPr txBox="1"/>
          <p:nvPr/>
        </p:nvSpPr>
        <p:spPr>
          <a:xfrm>
            <a:off x="716280" y="5482640"/>
            <a:ext cx="2098751" cy="246252"/>
          </a:xfrm>
          <a:prstGeom prst="rect">
            <a:avLst/>
          </a:prstGeom>
          <a:noFill/>
        </p:spPr>
        <p:txBody>
          <a:bodyPr wrap="none" lIns="0" tIns="0" rIns="0" bIns="0" anchor="t">
            <a:spAutoFit/>
          </a:bodyPr>
          <a:lstStyle/>
          <a:p>
            <a:pPr algn="l"/>
            <a:r>
              <a:rPr sz="1400" b="1" i="0">
                <a:solidFill>
                  <a:srgbClr val="000000"/>
                </a:solidFill>
                <a:latin typeface="Times New Roman"/>
              </a:rPr>
              <a:t>1.6 Target Users / Audience</a:t>
            </a:r>
          </a:p>
        </p:txBody>
      </p:sp>
      <p:sp>
        <p:nvSpPr>
          <p:cNvPr id="29" name="TextBox 28"/>
          <p:cNvSpPr txBox="1"/>
          <p:nvPr/>
        </p:nvSpPr>
        <p:spPr>
          <a:xfrm>
            <a:off x="944880" y="57617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backend is primarily intended for staff who are responsible for maintaining and monitoring</a:t>
            </a:r>
          </a:p>
        </p:txBody>
      </p:sp>
      <p:sp>
        <p:nvSpPr>
          <p:cNvPr id="30" name="TextBox 29"/>
          <p:cNvSpPr txBox="1"/>
          <p:nvPr/>
        </p:nvSpPr>
        <p:spPr>
          <a:xfrm>
            <a:off x="716280" y="5939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pharmaceutical inventory. Different roles can be introduced later so that each category of user</a:t>
            </a:r>
          </a:p>
        </p:txBody>
      </p:sp>
      <p:sp>
        <p:nvSpPr>
          <p:cNvPr id="31" name="TextBox 30"/>
          <p:cNvSpPr txBox="1"/>
          <p:nvPr/>
        </p:nvSpPr>
        <p:spPr>
          <a:xfrm>
            <a:off x="716280" y="6117386"/>
            <a:ext cx="3665677" cy="203301"/>
          </a:xfrm>
          <a:prstGeom prst="rect">
            <a:avLst/>
          </a:prstGeom>
          <a:noFill/>
        </p:spPr>
        <p:txBody>
          <a:bodyPr wrap="none" lIns="0" tIns="0" rIns="0" bIns="0" anchor="t">
            <a:spAutoFit/>
          </a:bodyPr>
          <a:lstStyle/>
          <a:p>
            <a:pPr algn="l"/>
            <a:r>
              <a:rPr sz="1200" b="0" i="0">
                <a:solidFill>
                  <a:srgbClr val="000000"/>
                </a:solidFill>
                <a:latin typeface="Times New Roman"/>
              </a:rPr>
              <a:t>receives only the permissions needed for its responsibilities.</a:t>
            </a:r>
          </a:p>
        </p:txBody>
      </p:sp>
      <p:sp>
        <p:nvSpPr>
          <p:cNvPr id="32" name="TextBox 31"/>
          <p:cNvSpPr txBox="1"/>
          <p:nvPr/>
        </p:nvSpPr>
        <p:spPr>
          <a:xfrm>
            <a:off x="944880" y="63459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Management and other stakeholders can consume summarized inventory information through</a:t>
            </a:r>
          </a:p>
        </p:txBody>
      </p:sp>
      <p:sp>
        <p:nvSpPr>
          <p:cNvPr id="33" name="TextBox 32"/>
          <p:cNvSpPr txBox="1"/>
          <p:nvPr/>
        </p:nvSpPr>
        <p:spPr>
          <a:xfrm>
            <a:off x="716280" y="65237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future reports. The system therefore provides a common data foundation even when different users</a:t>
            </a:r>
          </a:p>
        </p:txBody>
      </p:sp>
      <p:sp>
        <p:nvSpPr>
          <p:cNvPr id="34" name="TextBox 33"/>
          <p:cNvSpPr txBox="1"/>
          <p:nvPr/>
        </p:nvSpPr>
        <p:spPr>
          <a:xfrm>
            <a:off x="716280" y="6701586"/>
            <a:ext cx="2857042" cy="203301"/>
          </a:xfrm>
          <a:prstGeom prst="rect">
            <a:avLst/>
          </a:prstGeom>
          <a:noFill/>
        </p:spPr>
        <p:txBody>
          <a:bodyPr wrap="none" lIns="0" tIns="0" rIns="0" bIns="0" anchor="t">
            <a:spAutoFit/>
          </a:bodyPr>
          <a:lstStyle/>
          <a:p>
            <a:pPr algn="l"/>
            <a:r>
              <a:rPr sz="1200" b="0" i="0">
                <a:solidFill>
                  <a:srgbClr val="000000"/>
                </a:solidFill>
                <a:latin typeface="Times New Roman"/>
              </a:rPr>
              <a:t>interact with the information in different ways.</a:t>
            </a:r>
          </a:p>
        </p:txBody>
      </p:sp>
      <p:sp>
        <p:nvSpPr>
          <p:cNvPr id="35" name="TextBox 34"/>
          <p:cNvSpPr txBox="1"/>
          <p:nvPr/>
        </p:nvSpPr>
        <p:spPr>
          <a:xfrm>
            <a:off x="944880" y="69301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primary users of the system are administrators and authorized pharmaceutical inventory</a:t>
            </a:r>
          </a:p>
        </p:txBody>
      </p:sp>
      <p:sp>
        <p:nvSpPr>
          <p:cNvPr id="36" name="TextBox 35"/>
          <p:cNvSpPr txBox="1"/>
          <p:nvPr/>
        </p:nvSpPr>
        <p:spPr>
          <a:xfrm>
            <a:off x="716280" y="7107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staff. Administrators may be responsible for maintaining core records and controlling access, while</a:t>
            </a:r>
          </a:p>
        </p:txBody>
      </p:sp>
      <p:sp>
        <p:nvSpPr>
          <p:cNvPr id="37" name="TextBox 36"/>
          <p:cNvSpPr txBox="1"/>
          <p:nvPr/>
        </p:nvSpPr>
        <p:spPr>
          <a:xfrm>
            <a:off x="716280" y="7285786"/>
            <a:ext cx="4342638" cy="203301"/>
          </a:xfrm>
          <a:prstGeom prst="rect">
            <a:avLst/>
          </a:prstGeom>
          <a:noFill/>
        </p:spPr>
        <p:txBody>
          <a:bodyPr wrap="none" lIns="0" tIns="0" rIns="0" bIns="0" anchor="t">
            <a:spAutoFit/>
          </a:bodyPr>
          <a:lstStyle/>
          <a:p>
            <a:pPr algn="l"/>
            <a:r>
              <a:rPr sz="1200" b="0" i="0">
                <a:solidFill>
                  <a:srgbClr val="000000"/>
                </a:solidFill>
                <a:latin typeface="Times New Roman"/>
              </a:rPr>
              <a:t>authorized staff may use the system for day-to-day inventory activities.</a:t>
            </a:r>
          </a:p>
        </p:txBody>
      </p:sp>
      <p:sp>
        <p:nvSpPr>
          <p:cNvPr id="38" name="TextBox 37"/>
          <p:cNvSpPr txBox="1"/>
          <p:nvPr/>
        </p:nvSpPr>
        <p:spPr>
          <a:xfrm>
            <a:off x="944880" y="75143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Other stakeholders can benefit indirectly from accurate inventory records. Procurement staff can</a:t>
            </a:r>
          </a:p>
        </p:txBody>
      </p:sp>
      <p:sp>
        <p:nvSpPr>
          <p:cNvPr id="39" name="TextBox 38"/>
          <p:cNvSpPr txBox="1"/>
          <p:nvPr/>
        </p:nvSpPr>
        <p:spPr>
          <a:xfrm>
            <a:off x="716280" y="76921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use stock information to understand when medicines need replenishment. Store or warehouse staff</a:t>
            </a:r>
          </a:p>
        </p:txBody>
      </p:sp>
      <p:sp>
        <p:nvSpPr>
          <p:cNvPr id="40" name="TextBox 39"/>
          <p:cNvSpPr txBox="1"/>
          <p:nvPr/>
        </p:nvSpPr>
        <p:spPr>
          <a:xfrm>
            <a:off x="716280" y="7869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can use batch and expiry information for stock handling. Management can use the centralized data</a:t>
            </a:r>
          </a:p>
        </p:txBody>
      </p:sp>
      <p:sp>
        <p:nvSpPr>
          <p:cNvPr id="41" name="TextBox 40"/>
          <p:cNvSpPr txBox="1"/>
          <p:nvPr/>
        </p:nvSpPr>
        <p:spPr>
          <a:xfrm>
            <a:off x="716280" y="8047786"/>
            <a:ext cx="2886456" cy="203301"/>
          </a:xfrm>
          <a:prstGeom prst="rect">
            <a:avLst/>
          </a:prstGeom>
          <a:noFill/>
        </p:spPr>
        <p:txBody>
          <a:bodyPr wrap="none" lIns="0" tIns="0" rIns="0" bIns="0" anchor="t">
            <a:spAutoFit/>
          </a:bodyPr>
          <a:lstStyle/>
          <a:p>
            <a:pPr algn="l"/>
            <a:r>
              <a:rPr sz="1200" b="0" i="0">
                <a:solidFill>
                  <a:srgbClr val="000000"/>
                </a:solidFill>
                <a:latin typeface="Times New Roman"/>
              </a:rPr>
              <a:t>as a foundation for future reports and analytics.</a:t>
            </a:r>
          </a:p>
        </p:txBody>
      </p:sp>
      <p:sp>
        <p:nvSpPr>
          <p:cNvPr id="42" name="TextBox 41"/>
          <p:cNvSpPr txBox="1"/>
          <p:nvPr/>
        </p:nvSpPr>
        <p:spPr>
          <a:xfrm>
            <a:off x="944880" y="82763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system is designed as a backend service, so the actual user interface may be provided by an</a:t>
            </a:r>
          </a:p>
        </p:txBody>
      </p:sp>
      <p:sp>
        <p:nvSpPr>
          <p:cNvPr id="43" name="TextBox 42"/>
          <p:cNvSpPr txBox="1"/>
          <p:nvPr/>
        </p:nvSpPr>
        <p:spPr>
          <a:xfrm>
            <a:off x="716280" y="84541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administrative client or another application that communicates with the RESTful APIs. The backend</a:t>
            </a:r>
          </a:p>
        </p:txBody>
      </p:sp>
      <p:sp>
        <p:nvSpPr>
          <p:cNvPr id="44" name="TextBox 43"/>
          <p:cNvSpPr txBox="1"/>
          <p:nvPr/>
        </p:nvSpPr>
        <p:spPr>
          <a:xfrm>
            <a:off x="716280" y="8631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remains responsible for processing requests, validating data, storing records, and returning</a:t>
            </a:r>
          </a:p>
        </p:txBody>
      </p:sp>
      <p:sp>
        <p:nvSpPr>
          <p:cNvPr id="45" name="TextBox 44"/>
          <p:cNvSpPr txBox="1"/>
          <p:nvPr/>
        </p:nvSpPr>
        <p:spPr>
          <a:xfrm>
            <a:off x="716280" y="8809786"/>
            <a:ext cx="1278178" cy="203301"/>
          </a:xfrm>
          <a:prstGeom prst="rect">
            <a:avLst/>
          </a:prstGeom>
          <a:noFill/>
        </p:spPr>
        <p:txBody>
          <a:bodyPr wrap="none" lIns="0" tIns="0" rIns="0" bIns="0" anchor="t">
            <a:spAutoFit/>
          </a:bodyPr>
          <a:lstStyle/>
          <a:p>
            <a:pPr algn="l"/>
            <a:r>
              <a:rPr sz="1200" b="0" i="0">
                <a:solidFill>
                  <a:srgbClr val="000000"/>
                </a:solidFill>
                <a:latin typeface="Times New Roman"/>
              </a:rPr>
              <a:t>structured responses.</a:t>
            </a:r>
          </a:p>
        </p:txBody>
      </p:sp>
      <p:sp>
        <p:nvSpPr>
          <p:cNvPr id="46" name="TextBox 45"/>
          <p:cNvSpPr txBox="1"/>
          <p:nvPr/>
        </p:nvSpPr>
        <p:spPr>
          <a:xfrm>
            <a:off x="716280" y="9038386"/>
            <a:ext cx="1450390" cy="203301"/>
          </a:xfrm>
          <a:prstGeom prst="rect">
            <a:avLst/>
          </a:prstGeom>
          <a:noFill/>
        </p:spPr>
        <p:txBody>
          <a:bodyPr wrap="none" lIns="0" tIns="0" rIns="0" bIns="0" anchor="t">
            <a:spAutoFit/>
          </a:bodyPr>
          <a:lstStyle/>
          <a:p>
            <a:pPr algn="l"/>
            <a:r>
              <a:rPr sz="1200" b="0" i="0">
                <a:solidFill>
                  <a:srgbClr val="000000"/>
                </a:solidFill>
                <a:latin typeface="Times New Roman"/>
              </a:rPr>
              <a:t>• System administrators</a:t>
            </a:r>
          </a:p>
        </p:txBody>
      </p:sp>
      <p:sp>
        <p:nvSpPr>
          <p:cNvPr id="47" name="TextBox 46"/>
          <p:cNvSpPr txBox="1"/>
          <p:nvPr/>
        </p:nvSpPr>
        <p:spPr>
          <a:xfrm>
            <a:off x="716280" y="9266987"/>
            <a:ext cx="1708251" cy="203301"/>
          </a:xfrm>
          <a:prstGeom prst="rect">
            <a:avLst/>
          </a:prstGeom>
          <a:noFill/>
        </p:spPr>
        <p:txBody>
          <a:bodyPr wrap="none" lIns="0" tIns="0" rIns="0" bIns="0" anchor="t">
            <a:spAutoFit/>
          </a:bodyPr>
          <a:lstStyle/>
          <a:p>
            <a:pPr algn="l"/>
            <a:r>
              <a:rPr sz="1200" b="0" i="0">
                <a:solidFill>
                  <a:srgbClr val="000000"/>
                </a:solidFill>
                <a:latin typeface="Times New Roman"/>
              </a:rPr>
              <a:t>• Authorized inventory staff</a:t>
            </a:r>
          </a:p>
        </p:txBody>
      </p:sp>
      <p:sp>
        <p:nvSpPr>
          <p:cNvPr id="48" name="TextBox 47"/>
          <p:cNvSpPr txBox="1"/>
          <p:nvPr/>
        </p:nvSpPr>
        <p:spPr>
          <a:xfrm>
            <a:off x="716280" y="9495587"/>
            <a:ext cx="2144115" cy="203301"/>
          </a:xfrm>
          <a:prstGeom prst="rect">
            <a:avLst/>
          </a:prstGeom>
          <a:noFill/>
        </p:spPr>
        <p:txBody>
          <a:bodyPr wrap="none" lIns="0" tIns="0" rIns="0" bIns="0" anchor="t">
            <a:spAutoFit/>
          </a:bodyPr>
          <a:lstStyle/>
          <a:p>
            <a:pPr algn="l"/>
            <a:r>
              <a:rPr sz="1200" b="0" i="0">
                <a:solidFill>
                  <a:srgbClr val="000000"/>
                </a:solidFill>
                <a:latin typeface="Times New Roman"/>
              </a:rPr>
              <a:t>• Procurement and purchasing staff</a:t>
            </a:r>
          </a:p>
        </p:txBody>
      </p:sp>
      <p:sp>
        <p:nvSpPr>
          <p:cNvPr id="49" name="TextBox 48"/>
          <p:cNvSpPr txBox="1"/>
          <p:nvPr/>
        </p:nvSpPr>
        <p:spPr>
          <a:xfrm>
            <a:off x="716280" y="9724187"/>
            <a:ext cx="1906981" cy="203301"/>
          </a:xfrm>
          <a:prstGeom prst="rect">
            <a:avLst/>
          </a:prstGeom>
          <a:noFill/>
        </p:spPr>
        <p:txBody>
          <a:bodyPr wrap="none" lIns="0" tIns="0" rIns="0" bIns="0" anchor="t">
            <a:spAutoFit/>
          </a:bodyPr>
          <a:lstStyle/>
          <a:p>
            <a:pPr algn="l"/>
            <a:r>
              <a:rPr sz="1200" b="0" i="0">
                <a:solidFill>
                  <a:srgbClr val="000000"/>
                </a:solidFill>
                <a:latin typeface="Times New Roman"/>
              </a:rPr>
              <a:t>• Warehouse or store personnel</a:t>
            </a:r>
          </a:p>
        </p:txBody>
      </p:sp>
      <p:sp>
        <p:nvSpPr>
          <p:cNvPr id="50" name="TextBox 49"/>
          <p:cNvSpPr txBox="1"/>
          <p:nvPr/>
        </p:nvSpPr>
        <p:spPr>
          <a:xfrm>
            <a:off x="716280" y="9952787"/>
            <a:ext cx="2542032" cy="203301"/>
          </a:xfrm>
          <a:prstGeom prst="rect">
            <a:avLst/>
          </a:prstGeom>
          <a:noFill/>
        </p:spPr>
        <p:txBody>
          <a:bodyPr wrap="none" lIns="0" tIns="0" rIns="0" bIns="0" anchor="t">
            <a:spAutoFit/>
          </a:bodyPr>
          <a:lstStyle/>
          <a:p>
            <a:pPr algn="l"/>
            <a:r>
              <a:rPr sz="1200" b="0" i="0">
                <a:solidFill>
                  <a:srgbClr val="000000"/>
                </a:solidFill>
                <a:latin typeface="Times New Roman"/>
              </a:rPr>
              <a:t>• Management and reporting stakeholders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10</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843808" y="579322"/>
            <a:ext cx="3872382" cy="281432"/>
          </a:xfrm>
          <a:prstGeom prst="rect">
            <a:avLst/>
          </a:prstGeom>
          <a:noFill/>
        </p:spPr>
        <p:txBody>
          <a:bodyPr wrap="none" lIns="0" tIns="0" rIns="0" bIns="0" anchor="t">
            <a:spAutoFit/>
          </a:bodyPr>
          <a:lstStyle/>
          <a:p>
            <a:pPr algn="ctr"/>
            <a:r>
              <a:rPr sz="1600" b="1" i="0">
                <a:solidFill>
                  <a:srgbClr val="000000"/>
                </a:solidFill>
                <a:latin typeface="Times New Roman"/>
              </a:rPr>
              <a:t>CHAPTER - 2 SYSTEM REQUIREMENTS</a:t>
            </a:r>
          </a:p>
        </p:txBody>
      </p:sp>
      <p:sp>
        <p:nvSpPr>
          <p:cNvPr id="5" name="TextBox 4"/>
          <p:cNvSpPr txBox="1"/>
          <p:nvPr/>
        </p:nvSpPr>
        <p:spPr>
          <a:xfrm>
            <a:off x="716280" y="948740"/>
            <a:ext cx="2157959" cy="246252"/>
          </a:xfrm>
          <a:prstGeom prst="rect">
            <a:avLst/>
          </a:prstGeom>
          <a:noFill/>
        </p:spPr>
        <p:txBody>
          <a:bodyPr wrap="none" lIns="0" tIns="0" rIns="0" bIns="0" anchor="t">
            <a:spAutoFit/>
          </a:bodyPr>
          <a:lstStyle/>
          <a:p>
            <a:pPr algn="l"/>
            <a:r>
              <a:rPr sz="1400" b="1" i="0">
                <a:solidFill>
                  <a:srgbClr val="000000"/>
                </a:solidFill>
                <a:latin typeface="Times New Roman"/>
              </a:rPr>
              <a:t>2.1 Hardware Requirements</a:t>
            </a:r>
          </a:p>
        </p:txBody>
      </p:sp>
      <p:sp>
        <p:nvSpPr>
          <p:cNvPr id="6" name="TextBox 5"/>
          <p:cNvSpPr txBox="1"/>
          <p:nvPr/>
        </p:nvSpPr>
        <p:spPr>
          <a:xfrm>
            <a:off x="944880" y="12278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Development hardware should support simultaneous execution of the Node.js server, database</a:t>
            </a:r>
          </a:p>
        </p:txBody>
      </p:sp>
      <p:sp>
        <p:nvSpPr>
          <p:cNvPr id="7" name="TextBox 6"/>
          <p:cNvSpPr txBox="1"/>
          <p:nvPr/>
        </p:nvSpPr>
        <p:spPr>
          <a:xfrm>
            <a:off x="716280" y="14056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tools, code editor, browser, and API testing software. An SSD is useful because dependency</a:t>
            </a:r>
          </a:p>
        </p:txBody>
      </p:sp>
      <p:sp>
        <p:nvSpPr>
          <p:cNvPr id="8" name="TextBox 7"/>
          <p:cNvSpPr txBox="1"/>
          <p:nvPr/>
        </p:nvSpPr>
        <p:spPr>
          <a:xfrm>
            <a:off x="716280" y="1583486"/>
            <a:ext cx="5612435" cy="203301"/>
          </a:xfrm>
          <a:prstGeom prst="rect">
            <a:avLst/>
          </a:prstGeom>
          <a:noFill/>
        </p:spPr>
        <p:txBody>
          <a:bodyPr wrap="none" lIns="0" tIns="0" rIns="0" bIns="0" anchor="t">
            <a:spAutoFit/>
          </a:bodyPr>
          <a:lstStyle/>
          <a:p>
            <a:pPr algn="ctr"/>
            <a:r>
              <a:rPr sz="1200" b="0" i="0">
                <a:solidFill>
                  <a:srgbClr val="000000"/>
                </a:solidFill>
                <a:latin typeface="Times New Roman"/>
              </a:rPr>
              <a:t>installation, project builds, and database operations involve repeated read and write activity.</a:t>
            </a:r>
          </a:p>
        </p:txBody>
      </p:sp>
      <p:sp>
        <p:nvSpPr>
          <p:cNvPr id="9" name="TextBox 8"/>
          <p:cNvSpPr txBox="1"/>
          <p:nvPr/>
        </p:nvSpPr>
        <p:spPr>
          <a:xfrm>
            <a:off x="944880" y="18120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For deployment, server capacity should be selected according to expected request volume,</a:t>
            </a:r>
          </a:p>
        </p:txBody>
      </p:sp>
      <p:sp>
        <p:nvSpPr>
          <p:cNvPr id="10" name="TextBox 9"/>
          <p:cNvSpPr txBox="1"/>
          <p:nvPr/>
        </p:nvSpPr>
        <p:spPr>
          <a:xfrm>
            <a:off x="716280" y="19898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database size, and number of concurrent users. The development configuration should not</a:t>
            </a:r>
          </a:p>
        </p:txBody>
      </p:sp>
      <p:sp>
        <p:nvSpPr>
          <p:cNvPr id="11" name="TextBox 10"/>
          <p:cNvSpPr txBox="1"/>
          <p:nvPr/>
        </p:nvSpPr>
        <p:spPr>
          <a:xfrm>
            <a:off x="716280" y="2167686"/>
            <a:ext cx="3449574" cy="203301"/>
          </a:xfrm>
          <a:prstGeom prst="rect">
            <a:avLst/>
          </a:prstGeom>
          <a:noFill/>
        </p:spPr>
        <p:txBody>
          <a:bodyPr wrap="none" lIns="0" tIns="0" rIns="0" bIns="0" anchor="t">
            <a:spAutoFit/>
          </a:bodyPr>
          <a:lstStyle/>
          <a:p>
            <a:pPr algn="l"/>
            <a:r>
              <a:rPr sz="1200" b="0" i="0">
                <a:solidFill>
                  <a:srgbClr val="000000"/>
                </a:solidFill>
                <a:latin typeface="Times New Roman"/>
              </a:rPr>
              <a:t>automatically be treated as the production configuration.</a:t>
            </a:r>
          </a:p>
        </p:txBody>
      </p:sp>
      <p:sp>
        <p:nvSpPr>
          <p:cNvPr id="12" name="TextBox 11"/>
          <p:cNvSpPr txBox="1"/>
          <p:nvPr/>
        </p:nvSpPr>
        <p:spPr>
          <a:xfrm>
            <a:off x="944880" y="2396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hardware requirements for the project are moderate because the system is a backend</a:t>
            </a:r>
          </a:p>
        </p:txBody>
      </p:sp>
      <p:sp>
        <p:nvSpPr>
          <p:cNvPr id="13" name="TextBox 12"/>
          <p:cNvSpPr txBox="1"/>
          <p:nvPr/>
        </p:nvSpPr>
        <p:spPr>
          <a:xfrm>
            <a:off x="716280" y="2574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application that primarily performs database operations, API request processing, and inventory</a:t>
            </a:r>
          </a:p>
        </p:txBody>
      </p:sp>
      <p:sp>
        <p:nvSpPr>
          <p:cNvPr id="14" name="TextBox 13"/>
          <p:cNvSpPr txBox="1"/>
          <p:nvPr/>
        </p:nvSpPr>
        <p:spPr>
          <a:xfrm>
            <a:off x="716280" y="27518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calculations. During development, the machine should be capable of running the code editor,</a:t>
            </a:r>
          </a:p>
        </p:txBody>
      </p:sp>
      <p:sp>
        <p:nvSpPr>
          <p:cNvPr id="15" name="TextBox 14"/>
          <p:cNvSpPr txBox="1"/>
          <p:nvPr/>
        </p:nvSpPr>
        <p:spPr>
          <a:xfrm>
            <a:off x="716280" y="2929686"/>
            <a:ext cx="4939893" cy="203301"/>
          </a:xfrm>
          <a:prstGeom prst="rect">
            <a:avLst/>
          </a:prstGeom>
          <a:noFill/>
        </p:spPr>
        <p:txBody>
          <a:bodyPr wrap="none" lIns="0" tIns="0" rIns="0" bIns="0" anchor="t">
            <a:spAutoFit/>
          </a:bodyPr>
          <a:lstStyle/>
          <a:p>
            <a:pPr algn="l"/>
            <a:r>
              <a:rPr sz="1200" b="0" i="0">
                <a:solidFill>
                  <a:srgbClr val="000000"/>
                </a:solidFill>
                <a:latin typeface="Times New Roman"/>
              </a:rPr>
              <a:t>Node.js runtime, MongoDB tools, a web browser, and Postman at the same time.</a:t>
            </a:r>
          </a:p>
        </p:txBody>
      </p:sp>
      <p:sp>
        <p:nvSpPr>
          <p:cNvPr id="16" name="TextBox 15"/>
          <p:cNvSpPr txBox="1"/>
          <p:nvPr/>
        </p:nvSpPr>
        <p:spPr>
          <a:xfrm>
            <a:off x="944880" y="3158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 modern multi-core processor is suitable for development and testing. A minimum of 8 GB</a:t>
            </a:r>
          </a:p>
        </p:txBody>
      </p:sp>
      <p:sp>
        <p:nvSpPr>
          <p:cNvPr id="17" name="TextBox 16"/>
          <p:cNvSpPr txBox="1"/>
          <p:nvPr/>
        </p:nvSpPr>
        <p:spPr>
          <a:xfrm>
            <a:off x="716280" y="33360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RAM is recommended so that the development environment, database utilities, and testing tools can</a:t>
            </a:r>
          </a:p>
        </p:txBody>
      </p:sp>
      <p:sp>
        <p:nvSpPr>
          <p:cNvPr id="18" name="TextBox 17"/>
          <p:cNvSpPr txBox="1"/>
          <p:nvPr/>
        </p:nvSpPr>
        <p:spPr>
          <a:xfrm>
            <a:off x="716280" y="35138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run without excessive resource pressure. Solid-state storage is preferred because dependency</a:t>
            </a:r>
          </a:p>
        </p:txBody>
      </p:sp>
      <p:sp>
        <p:nvSpPr>
          <p:cNvPr id="19" name="TextBox 18"/>
          <p:cNvSpPr txBox="1"/>
          <p:nvPr/>
        </p:nvSpPr>
        <p:spPr>
          <a:xfrm>
            <a:off x="716280" y="3691686"/>
            <a:ext cx="3927653" cy="203301"/>
          </a:xfrm>
          <a:prstGeom prst="rect">
            <a:avLst/>
          </a:prstGeom>
          <a:noFill/>
        </p:spPr>
        <p:txBody>
          <a:bodyPr wrap="none" lIns="0" tIns="0" rIns="0" bIns="0" anchor="t">
            <a:spAutoFit/>
          </a:bodyPr>
          <a:lstStyle/>
          <a:p>
            <a:pPr algn="l"/>
            <a:r>
              <a:rPr sz="1200" b="0" i="0">
                <a:solidFill>
                  <a:srgbClr val="000000"/>
                </a:solidFill>
                <a:latin typeface="Times New Roman"/>
              </a:rPr>
              <a:t>installation and database operations involve repeated file access.</a:t>
            </a:r>
          </a:p>
        </p:txBody>
      </p:sp>
      <p:sp>
        <p:nvSpPr>
          <p:cNvPr id="20" name="TextBox 19"/>
          <p:cNvSpPr txBox="1"/>
          <p:nvPr/>
        </p:nvSpPr>
        <p:spPr>
          <a:xfrm>
            <a:off x="944880" y="3920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 stable internet connection is useful when installing npm packages, accessing documentation,</a:t>
            </a:r>
          </a:p>
        </p:txBody>
      </p:sp>
      <p:sp>
        <p:nvSpPr>
          <p:cNvPr id="21" name="TextBox 20"/>
          <p:cNvSpPr txBox="1"/>
          <p:nvPr/>
        </p:nvSpPr>
        <p:spPr>
          <a:xfrm>
            <a:off x="716280" y="4098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synchronizing source code, and using external services. The final server requirements depend on the</a:t>
            </a:r>
          </a:p>
        </p:txBody>
      </p:sp>
      <p:sp>
        <p:nvSpPr>
          <p:cNvPr id="22" name="TextBox 21"/>
          <p:cNvSpPr txBox="1"/>
          <p:nvPr/>
        </p:nvSpPr>
        <p:spPr>
          <a:xfrm>
            <a:off x="716280" y="4275886"/>
            <a:ext cx="4405884" cy="203301"/>
          </a:xfrm>
          <a:prstGeom prst="rect">
            <a:avLst/>
          </a:prstGeom>
          <a:noFill/>
        </p:spPr>
        <p:txBody>
          <a:bodyPr wrap="none" lIns="0" tIns="0" rIns="0" bIns="0" anchor="t">
            <a:spAutoFit/>
          </a:bodyPr>
          <a:lstStyle/>
          <a:p>
            <a:pPr algn="l"/>
            <a:r>
              <a:rPr sz="1200" b="0" i="0">
                <a:solidFill>
                  <a:srgbClr val="000000"/>
                </a:solidFill>
                <a:latin typeface="Times New Roman"/>
              </a:rPr>
              <a:t>number of concurrent users and the amount of inventory data processed.</a:t>
            </a:r>
          </a:p>
        </p:txBody>
      </p:sp>
      <p:sp>
        <p:nvSpPr>
          <p:cNvPr id="23" name="TextBox 22"/>
          <p:cNvSpPr txBox="1"/>
          <p:nvPr/>
        </p:nvSpPr>
        <p:spPr>
          <a:xfrm>
            <a:off x="1903575" y="4567656"/>
            <a:ext cx="666750" cy="184689"/>
          </a:xfrm>
          <a:prstGeom prst="rect">
            <a:avLst/>
          </a:prstGeom>
          <a:noFill/>
        </p:spPr>
        <p:txBody>
          <a:bodyPr wrap="none" lIns="0" tIns="0" rIns="0" bIns="0" anchor="t">
            <a:spAutoFit/>
          </a:bodyPr>
          <a:lstStyle/>
          <a:p>
            <a:pPr algn="l"/>
            <a:r>
              <a:rPr sz="1050" b="1" i="0">
                <a:solidFill>
                  <a:srgbClr val="000000"/>
                </a:solidFill>
                <a:latin typeface="Times New Roman"/>
              </a:rPr>
              <a:t>Component</a:t>
            </a:r>
          </a:p>
        </p:txBody>
      </p:sp>
      <p:sp>
        <p:nvSpPr>
          <p:cNvPr id="24" name="TextBox 23"/>
          <p:cNvSpPr txBox="1"/>
          <p:nvPr/>
        </p:nvSpPr>
        <p:spPr>
          <a:xfrm>
            <a:off x="4510148" y="4567656"/>
            <a:ext cx="1625803" cy="184689"/>
          </a:xfrm>
          <a:prstGeom prst="rect">
            <a:avLst/>
          </a:prstGeom>
          <a:noFill/>
        </p:spPr>
        <p:txBody>
          <a:bodyPr wrap="none" lIns="0" tIns="0" rIns="0" bIns="0" anchor="t">
            <a:spAutoFit/>
          </a:bodyPr>
          <a:lstStyle/>
          <a:p>
            <a:pPr algn="l"/>
            <a:r>
              <a:rPr sz="1050" b="1" i="0">
                <a:solidFill>
                  <a:srgbClr val="000000"/>
                </a:solidFill>
                <a:latin typeface="Times New Roman"/>
              </a:rPr>
              <a:t>Recommended Requirement</a:t>
            </a:r>
          </a:p>
        </p:txBody>
      </p:sp>
      <p:sp>
        <p:nvSpPr>
          <p:cNvPr id="25" name="TextBox 24"/>
          <p:cNvSpPr txBox="1"/>
          <p:nvPr/>
        </p:nvSpPr>
        <p:spPr>
          <a:xfrm>
            <a:off x="744700" y="4795056"/>
            <a:ext cx="518464" cy="177888"/>
          </a:xfrm>
          <a:prstGeom prst="rect">
            <a:avLst/>
          </a:prstGeom>
          <a:noFill/>
        </p:spPr>
        <p:txBody>
          <a:bodyPr wrap="none" lIns="0" tIns="0" rIns="0" bIns="0" anchor="t">
            <a:spAutoFit/>
          </a:bodyPr>
          <a:lstStyle/>
          <a:p>
            <a:pPr algn="l"/>
            <a:r>
              <a:rPr sz="1050" b="0" i="0">
                <a:solidFill>
                  <a:srgbClr val="000000"/>
                </a:solidFill>
                <a:latin typeface="Times New Roman"/>
              </a:rPr>
              <a:t>Processor</a:t>
            </a:r>
          </a:p>
        </p:txBody>
      </p:sp>
      <p:sp>
        <p:nvSpPr>
          <p:cNvPr id="26" name="TextBox 25"/>
          <p:cNvSpPr txBox="1"/>
          <p:nvPr/>
        </p:nvSpPr>
        <p:spPr>
          <a:xfrm>
            <a:off x="3830799" y="4795056"/>
            <a:ext cx="2296287" cy="177888"/>
          </a:xfrm>
          <a:prstGeom prst="rect">
            <a:avLst/>
          </a:prstGeom>
          <a:noFill/>
        </p:spPr>
        <p:txBody>
          <a:bodyPr wrap="none" lIns="0" tIns="0" rIns="0" bIns="0" anchor="t">
            <a:spAutoFit/>
          </a:bodyPr>
          <a:lstStyle/>
          <a:p>
            <a:pPr algn="l"/>
            <a:r>
              <a:rPr sz="1050" b="0" i="0">
                <a:solidFill>
                  <a:srgbClr val="000000"/>
                </a:solidFill>
                <a:latin typeface="Times New Roman"/>
              </a:rPr>
              <a:t>Intel Core i5 / AMD Ryzen 5 or equivalent</a:t>
            </a:r>
          </a:p>
        </p:txBody>
      </p:sp>
      <p:sp>
        <p:nvSpPr>
          <p:cNvPr id="27" name="TextBox 26"/>
          <p:cNvSpPr txBox="1"/>
          <p:nvPr/>
        </p:nvSpPr>
        <p:spPr>
          <a:xfrm>
            <a:off x="744700" y="5023656"/>
            <a:ext cx="303771" cy="177888"/>
          </a:xfrm>
          <a:prstGeom prst="rect">
            <a:avLst/>
          </a:prstGeom>
          <a:noFill/>
        </p:spPr>
        <p:txBody>
          <a:bodyPr wrap="none" lIns="0" tIns="0" rIns="0" bIns="0" anchor="t">
            <a:spAutoFit/>
          </a:bodyPr>
          <a:lstStyle/>
          <a:p>
            <a:pPr algn="l"/>
            <a:r>
              <a:rPr sz="1050" b="0" i="0">
                <a:solidFill>
                  <a:srgbClr val="000000"/>
                </a:solidFill>
                <a:latin typeface="Times New Roman"/>
              </a:rPr>
              <a:t>RAM</a:t>
            </a:r>
          </a:p>
        </p:txBody>
      </p:sp>
      <p:sp>
        <p:nvSpPr>
          <p:cNvPr id="28" name="TextBox 27"/>
          <p:cNvSpPr txBox="1"/>
          <p:nvPr/>
        </p:nvSpPr>
        <p:spPr>
          <a:xfrm>
            <a:off x="3830799" y="5023656"/>
            <a:ext cx="1781555" cy="177888"/>
          </a:xfrm>
          <a:prstGeom prst="rect">
            <a:avLst/>
          </a:prstGeom>
          <a:noFill/>
        </p:spPr>
        <p:txBody>
          <a:bodyPr wrap="none" lIns="0" tIns="0" rIns="0" bIns="0" anchor="t">
            <a:spAutoFit/>
          </a:bodyPr>
          <a:lstStyle/>
          <a:p>
            <a:pPr algn="l"/>
            <a:r>
              <a:rPr sz="1050" b="0" i="0">
                <a:solidFill>
                  <a:srgbClr val="000000"/>
                </a:solidFill>
                <a:latin typeface="Times New Roman"/>
              </a:rPr>
              <a:t>8 GB minimum; 16 GB preferred</a:t>
            </a:r>
          </a:p>
        </p:txBody>
      </p:sp>
      <p:sp>
        <p:nvSpPr>
          <p:cNvPr id="29" name="TextBox 28"/>
          <p:cNvSpPr txBox="1"/>
          <p:nvPr/>
        </p:nvSpPr>
        <p:spPr>
          <a:xfrm>
            <a:off x="744700" y="5252256"/>
            <a:ext cx="407384" cy="177888"/>
          </a:xfrm>
          <a:prstGeom prst="rect">
            <a:avLst/>
          </a:prstGeom>
          <a:noFill/>
        </p:spPr>
        <p:txBody>
          <a:bodyPr wrap="none" lIns="0" tIns="0" rIns="0" bIns="0" anchor="t">
            <a:spAutoFit/>
          </a:bodyPr>
          <a:lstStyle/>
          <a:p>
            <a:pPr algn="l"/>
            <a:r>
              <a:rPr sz="1050" b="0" i="0">
                <a:solidFill>
                  <a:srgbClr val="000000"/>
                </a:solidFill>
                <a:latin typeface="Times New Roman"/>
              </a:rPr>
              <a:t>Storage</a:t>
            </a:r>
          </a:p>
        </p:txBody>
      </p:sp>
      <p:sp>
        <p:nvSpPr>
          <p:cNvPr id="30" name="TextBox 29"/>
          <p:cNvSpPr txBox="1"/>
          <p:nvPr/>
        </p:nvSpPr>
        <p:spPr>
          <a:xfrm>
            <a:off x="3830799" y="5252256"/>
            <a:ext cx="1140942" cy="177888"/>
          </a:xfrm>
          <a:prstGeom prst="rect">
            <a:avLst/>
          </a:prstGeom>
          <a:noFill/>
        </p:spPr>
        <p:txBody>
          <a:bodyPr wrap="none" lIns="0" tIns="0" rIns="0" bIns="0" anchor="t">
            <a:spAutoFit/>
          </a:bodyPr>
          <a:lstStyle/>
          <a:p>
            <a:pPr algn="l"/>
            <a:r>
              <a:rPr sz="1050" b="0" i="0">
                <a:solidFill>
                  <a:srgbClr val="000000"/>
                </a:solidFill>
                <a:latin typeface="Times New Roman"/>
              </a:rPr>
              <a:t>At least 250 GB SSD</a:t>
            </a:r>
          </a:p>
        </p:txBody>
      </p:sp>
      <p:sp>
        <p:nvSpPr>
          <p:cNvPr id="31" name="TextBox 30"/>
          <p:cNvSpPr txBox="1"/>
          <p:nvPr/>
        </p:nvSpPr>
        <p:spPr>
          <a:xfrm>
            <a:off x="744700" y="5480856"/>
            <a:ext cx="959319" cy="177888"/>
          </a:xfrm>
          <a:prstGeom prst="rect">
            <a:avLst/>
          </a:prstGeom>
          <a:noFill/>
        </p:spPr>
        <p:txBody>
          <a:bodyPr wrap="none" lIns="0" tIns="0" rIns="0" bIns="0" anchor="t">
            <a:spAutoFit/>
          </a:bodyPr>
          <a:lstStyle/>
          <a:p>
            <a:pPr algn="l"/>
            <a:r>
              <a:rPr sz="1050" b="0" i="0">
                <a:solidFill>
                  <a:srgbClr val="000000"/>
                </a:solidFill>
                <a:latin typeface="Times New Roman"/>
              </a:rPr>
              <a:t>Operating System</a:t>
            </a:r>
          </a:p>
        </p:txBody>
      </p:sp>
      <p:sp>
        <p:nvSpPr>
          <p:cNvPr id="32" name="TextBox 31"/>
          <p:cNvSpPr txBox="1"/>
          <p:nvPr/>
        </p:nvSpPr>
        <p:spPr>
          <a:xfrm>
            <a:off x="3830799" y="5480856"/>
            <a:ext cx="1500054" cy="177888"/>
          </a:xfrm>
          <a:prstGeom prst="rect">
            <a:avLst/>
          </a:prstGeom>
          <a:noFill/>
        </p:spPr>
        <p:txBody>
          <a:bodyPr wrap="none" lIns="0" tIns="0" rIns="0" bIns="0" anchor="t">
            <a:spAutoFit/>
          </a:bodyPr>
          <a:lstStyle/>
          <a:p>
            <a:pPr algn="l"/>
            <a:r>
              <a:rPr sz="1050" b="0" i="0">
                <a:solidFill>
                  <a:srgbClr val="000000"/>
                </a:solidFill>
                <a:latin typeface="Times New Roman"/>
              </a:rPr>
              <a:t>Windows, macOS, or Linux</a:t>
            </a:r>
          </a:p>
        </p:txBody>
      </p:sp>
      <p:sp>
        <p:nvSpPr>
          <p:cNvPr id="33" name="TextBox 32"/>
          <p:cNvSpPr txBox="1"/>
          <p:nvPr/>
        </p:nvSpPr>
        <p:spPr>
          <a:xfrm>
            <a:off x="744700" y="5709456"/>
            <a:ext cx="466591" cy="177888"/>
          </a:xfrm>
          <a:prstGeom prst="rect">
            <a:avLst/>
          </a:prstGeom>
          <a:noFill/>
        </p:spPr>
        <p:txBody>
          <a:bodyPr wrap="none" lIns="0" tIns="0" rIns="0" bIns="0" anchor="t">
            <a:spAutoFit/>
          </a:bodyPr>
          <a:lstStyle/>
          <a:p>
            <a:pPr algn="l"/>
            <a:r>
              <a:rPr sz="1050" b="0" i="0">
                <a:solidFill>
                  <a:srgbClr val="000000"/>
                </a:solidFill>
                <a:latin typeface="Times New Roman"/>
              </a:rPr>
              <a:t>Network</a:t>
            </a:r>
          </a:p>
        </p:txBody>
      </p:sp>
      <p:sp>
        <p:nvSpPr>
          <p:cNvPr id="34" name="TextBox 33"/>
          <p:cNvSpPr txBox="1"/>
          <p:nvPr/>
        </p:nvSpPr>
        <p:spPr>
          <a:xfrm>
            <a:off x="3830799" y="5709456"/>
            <a:ext cx="1548060" cy="177888"/>
          </a:xfrm>
          <a:prstGeom prst="rect">
            <a:avLst/>
          </a:prstGeom>
          <a:noFill/>
        </p:spPr>
        <p:txBody>
          <a:bodyPr wrap="none" lIns="0" tIns="0" rIns="0" bIns="0" anchor="t">
            <a:spAutoFit/>
          </a:bodyPr>
          <a:lstStyle/>
          <a:p>
            <a:pPr algn="l"/>
            <a:r>
              <a:rPr sz="1050" b="0" i="0">
                <a:solidFill>
                  <a:srgbClr val="000000"/>
                </a:solidFill>
                <a:latin typeface="Times New Roman"/>
              </a:rPr>
              <a:t>Stable broadband connection</a:t>
            </a:r>
          </a:p>
        </p:txBody>
      </p:sp>
      <p:sp>
        <p:nvSpPr>
          <p:cNvPr id="35" name="TextBox 34"/>
          <p:cNvSpPr txBox="1"/>
          <p:nvPr/>
        </p:nvSpPr>
        <p:spPr>
          <a:xfrm>
            <a:off x="744700" y="5938056"/>
            <a:ext cx="451789" cy="177888"/>
          </a:xfrm>
          <a:prstGeom prst="rect">
            <a:avLst/>
          </a:prstGeom>
          <a:noFill/>
        </p:spPr>
        <p:txBody>
          <a:bodyPr wrap="none" lIns="0" tIns="0" rIns="0" bIns="0" anchor="t">
            <a:spAutoFit/>
          </a:bodyPr>
          <a:lstStyle/>
          <a:p>
            <a:pPr algn="l"/>
            <a:r>
              <a:rPr sz="1050" b="0" i="0">
                <a:solidFill>
                  <a:srgbClr val="000000"/>
                </a:solidFill>
                <a:latin typeface="Times New Roman"/>
              </a:rPr>
              <a:t>Browser</a:t>
            </a:r>
          </a:p>
        </p:txBody>
      </p:sp>
      <p:sp>
        <p:nvSpPr>
          <p:cNvPr id="36" name="TextBox 35"/>
          <p:cNvSpPr txBox="1"/>
          <p:nvPr/>
        </p:nvSpPr>
        <p:spPr>
          <a:xfrm>
            <a:off x="3830799" y="5938056"/>
            <a:ext cx="2436971" cy="177888"/>
          </a:xfrm>
          <a:prstGeom prst="rect">
            <a:avLst/>
          </a:prstGeom>
          <a:noFill/>
        </p:spPr>
        <p:txBody>
          <a:bodyPr wrap="none" lIns="0" tIns="0" rIns="0" bIns="0" anchor="t">
            <a:spAutoFit/>
          </a:bodyPr>
          <a:lstStyle/>
          <a:p>
            <a:pPr algn="l"/>
            <a:r>
              <a:rPr sz="1050" b="0" i="0">
                <a:solidFill>
                  <a:srgbClr val="000000"/>
                </a:solidFill>
                <a:latin typeface="Times New Roman"/>
              </a:rPr>
              <a:t>Current Chrome, Edge, Firefox, or equivalent</a:t>
            </a:r>
          </a:p>
        </p:txBody>
      </p:sp>
      <p:sp>
        <p:nvSpPr>
          <p:cNvPr id="37" name="TextBox 36"/>
          <p:cNvSpPr txBox="1"/>
          <p:nvPr/>
        </p:nvSpPr>
        <p:spPr>
          <a:xfrm>
            <a:off x="716280" y="6248704"/>
            <a:ext cx="2059101" cy="246252"/>
          </a:xfrm>
          <a:prstGeom prst="rect">
            <a:avLst/>
          </a:prstGeom>
          <a:noFill/>
        </p:spPr>
        <p:txBody>
          <a:bodyPr wrap="none" lIns="0" tIns="0" rIns="0" bIns="0" anchor="t">
            <a:spAutoFit/>
          </a:bodyPr>
          <a:lstStyle/>
          <a:p>
            <a:pPr algn="l"/>
            <a:r>
              <a:rPr sz="1400" b="1" i="0">
                <a:solidFill>
                  <a:srgbClr val="000000"/>
                </a:solidFill>
                <a:latin typeface="Times New Roman"/>
              </a:rPr>
              <a:t>2.2 Software Requirements</a:t>
            </a:r>
          </a:p>
        </p:txBody>
      </p:sp>
      <p:sp>
        <p:nvSpPr>
          <p:cNvPr id="38" name="TextBox 37"/>
          <p:cNvSpPr txBox="1"/>
          <p:nvPr/>
        </p:nvSpPr>
        <p:spPr>
          <a:xfrm>
            <a:off x="944880" y="6527851"/>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software environment should remain consistent across team members so that API behavior</a:t>
            </a:r>
          </a:p>
        </p:txBody>
      </p:sp>
      <p:sp>
        <p:nvSpPr>
          <p:cNvPr id="39" name="TextBox 38"/>
          <p:cNvSpPr txBox="1"/>
          <p:nvPr/>
        </p:nvSpPr>
        <p:spPr>
          <a:xfrm>
            <a:off x="716280" y="6705651"/>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and database operations can be reproduced. Node.js version compatibility, npm dependencies, and</a:t>
            </a:r>
          </a:p>
        </p:txBody>
      </p:sp>
      <p:sp>
        <p:nvSpPr>
          <p:cNvPr id="40" name="TextBox 39"/>
          <p:cNvSpPr txBox="1"/>
          <p:nvPr/>
        </p:nvSpPr>
        <p:spPr>
          <a:xfrm>
            <a:off x="716280" y="6883451"/>
            <a:ext cx="5552846" cy="203301"/>
          </a:xfrm>
          <a:prstGeom prst="rect">
            <a:avLst/>
          </a:prstGeom>
          <a:noFill/>
        </p:spPr>
        <p:txBody>
          <a:bodyPr wrap="none" lIns="0" tIns="0" rIns="0" bIns="0" anchor="t">
            <a:spAutoFit/>
          </a:bodyPr>
          <a:lstStyle/>
          <a:p>
            <a:pPr algn="ctr"/>
            <a:r>
              <a:rPr sz="1200" b="0" i="0">
                <a:solidFill>
                  <a:srgbClr val="000000"/>
                </a:solidFill>
                <a:latin typeface="Times New Roman"/>
              </a:rPr>
              <a:t>database connection configuration should therefore be documented as part of project setup.</a:t>
            </a:r>
          </a:p>
        </p:txBody>
      </p:sp>
      <p:sp>
        <p:nvSpPr>
          <p:cNvPr id="41" name="TextBox 40"/>
          <p:cNvSpPr txBox="1"/>
          <p:nvPr/>
        </p:nvSpPr>
        <p:spPr>
          <a:xfrm>
            <a:off x="944880" y="711205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Development and testing tools serve different purposes. Visual Studio Code is used to create and</a:t>
            </a:r>
          </a:p>
        </p:txBody>
      </p:sp>
      <p:sp>
        <p:nvSpPr>
          <p:cNvPr id="42" name="TextBox 41"/>
          <p:cNvSpPr txBox="1"/>
          <p:nvPr/>
        </p:nvSpPr>
        <p:spPr>
          <a:xfrm>
            <a:off x="716280" y="7289850"/>
            <a:ext cx="6127442" cy="203301"/>
          </a:xfrm>
          <a:prstGeom prst="rect">
            <a:avLst/>
          </a:prstGeom>
          <a:noFill/>
        </p:spPr>
        <p:txBody>
          <a:bodyPr wrap="none" lIns="0" tIns="0" rIns="0" bIns="0" anchor="t">
            <a:spAutoFit/>
          </a:bodyPr>
          <a:lstStyle/>
          <a:p>
            <a:pPr algn="ctr"/>
            <a:r>
              <a:rPr sz="1200" b="0" i="0">
                <a:solidFill>
                  <a:srgbClr val="000000"/>
                </a:solidFill>
                <a:latin typeface="Times New Roman"/>
              </a:rPr>
              <a:t>debug the source code, Postman exercises the APIs from a client perspective, and MongoDB</a:t>
            </a:r>
          </a:p>
        </p:txBody>
      </p:sp>
      <p:sp>
        <p:nvSpPr>
          <p:cNvPr id="43" name="TextBox 42"/>
          <p:cNvSpPr txBox="1"/>
          <p:nvPr/>
        </p:nvSpPr>
        <p:spPr>
          <a:xfrm>
            <a:off x="716280" y="7467650"/>
            <a:ext cx="3428542" cy="203301"/>
          </a:xfrm>
          <a:prstGeom prst="rect">
            <a:avLst/>
          </a:prstGeom>
          <a:noFill/>
        </p:spPr>
        <p:txBody>
          <a:bodyPr wrap="none" lIns="0" tIns="0" rIns="0" bIns="0" anchor="t">
            <a:spAutoFit/>
          </a:bodyPr>
          <a:lstStyle/>
          <a:p>
            <a:pPr algn="l"/>
            <a:r>
              <a:rPr sz="1200" b="0" i="0">
                <a:solidFill>
                  <a:srgbClr val="000000"/>
                </a:solidFill>
                <a:latin typeface="Times New Roman"/>
              </a:rPr>
              <a:t>Compass provides a direct view of persisted documents.</a:t>
            </a:r>
          </a:p>
        </p:txBody>
      </p:sp>
      <p:sp>
        <p:nvSpPr>
          <p:cNvPr id="44" name="TextBox 43"/>
          <p:cNvSpPr txBox="1"/>
          <p:nvPr/>
        </p:nvSpPr>
        <p:spPr>
          <a:xfrm>
            <a:off x="944880" y="769625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software environment consists of the runtime, backend framework, database, development</a:t>
            </a:r>
          </a:p>
        </p:txBody>
      </p:sp>
      <p:sp>
        <p:nvSpPr>
          <p:cNvPr id="45" name="TextBox 44"/>
          <p:cNvSpPr txBox="1"/>
          <p:nvPr/>
        </p:nvSpPr>
        <p:spPr>
          <a:xfrm>
            <a:off x="716280" y="78740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tools, and testing utilities identified in the project abstract. Node.js provides the JavaScript runtime</a:t>
            </a:r>
          </a:p>
        </p:txBody>
      </p:sp>
      <p:sp>
        <p:nvSpPr>
          <p:cNvPr id="46" name="TextBox 45"/>
          <p:cNvSpPr txBox="1"/>
          <p:nvPr/>
        </p:nvSpPr>
        <p:spPr>
          <a:xfrm>
            <a:off x="716280" y="805185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used to execute the backend. Express.js provides routing and middleware support for RESTful API</a:t>
            </a:r>
          </a:p>
        </p:txBody>
      </p:sp>
      <p:sp>
        <p:nvSpPr>
          <p:cNvPr id="47" name="TextBox 46"/>
          <p:cNvSpPr txBox="1"/>
          <p:nvPr/>
        </p:nvSpPr>
        <p:spPr>
          <a:xfrm>
            <a:off x="716280" y="8229650"/>
            <a:ext cx="825398" cy="203301"/>
          </a:xfrm>
          <a:prstGeom prst="rect">
            <a:avLst/>
          </a:prstGeom>
          <a:noFill/>
        </p:spPr>
        <p:txBody>
          <a:bodyPr wrap="none" lIns="0" tIns="0" rIns="0" bIns="0" anchor="t">
            <a:spAutoFit/>
          </a:bodyPr>
          <a:lstStyle/>
          <a:p>
            <a:pPr algn="l"/>
            <a:r>
              <a:rPr sz="1200" b="0" i="0">
                <a:solidFill>
                  <a:srgbClr val="000000"/>
                </a:solidFill>
                <a:latin typeface="Times New Roman"/>
              </a:rPr>
              <a:t>development.</a:t>
            </a:r>
          </a:p>
        </p:txBody>
      </p:sp>
      <p:sp>
        <p:nvSpPr>
          <p:cNvPr id="48" name="TextBox 47"/>
          <p:cNvSpPr txBox="1"/>
          <p:nvPr/>
        </p:nvSpPr>
        <p:spPr>
          <a:xfrm>
            <a:off x="944880" y="845825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MongoDB is used as the database for pharmaceutical and inventory information. MongoDB</a:t>
            </a:r>
          </a:p>
        </p:txBody>
      </p:sp>
      <p:sp>
        <p:nvSpPr>
          <p:cNvPr id="49" name="TextBox 48"/>
          <p:cNvSpPr txBox="1"/>
          <p:nvPr/>
        </p:nvSpPr>
        <p:spPr>
          <a:xfrm>
            <a:off x="716280" y="863605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Compass provides a graphical interface for viewing and managing database collections. Visual</a:t>
            </a:r>
          </a:p>
        </p:txBody>
      </p:sp>
      <p:sp>
        <p:nvSpPr>
          <p:cNvPr id="50" name="TextBox 49"/>
          <p:cNvSpPr txBox="1"/>
          <p:nvPr/>
        </p:nvSpPr>
        <p:spPr>
          <a:xfrm>
            <a:off x="716280" y="88138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Studio Code is used as the development environment, while npm is used to manage project</a:t>
            </a:r>
          </a:p>
        </p:txBody>
      </p:sp>
      <p:sp>
        <p:nvSpPr>
          <p:cNvPr id="51" name="TextBox 50"/>
          <p:cNvSpPr txBox="1"/>
          <p:nvPr/>
        </p:nvSpPr>
        <p:spPr>
          <a:xfrm>
            <a:off x="716280" y="8991650"/>
            <a:ext cx="4033875" cy="203301"/>
          </a:xfrm>
          <a:prstGeom prst="rect">
            <a:avLst/>
          </a:prstGeom>
          <a:noFill/>
        </p:spPr>
        <p:txBody>
          <a:bodyPr wrap="none" lIns="0" tIns="0" rIns="0" bIns="0" anchor="t">
            <a:spAutoFit/>
          </a:bodyPr>
          <a:lstStyle/>
          <a:p>
            <a:pPr algn="l"/>
            <a:r>
              <a:rPr sz="1200" b="0" i="0">
                <a:solidFill>
                  <a:srgbClr val="000000"/>
                </a:solidFill>
                <a:latin typeface="Times New Roman"/>
              </a:rPr>
              <a:t>dependencies. Postman is used to test API requests and responses.</a:t>
            </a:r>
          </a:p>
        </p:txBody>
      </p:sp>
      <p:sp>
        <p:nvSpPr>
          <p:cNvPr id="52" name="TextBox 51"/>
          <p:cNvSpPr txBox="1"/>
          <p:nvPr/>
        </p:nvSpPr>
        <p:spPr>
          <a:xfrm>
            <a:off x="944880" y="9220251"/>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can be developed on Windows, macOS, or Linux. A modern browser is useful for</a:t>
            </a:r>
          </a:p>
        </p:txBody>
      </p:sp>
      <p:sp>
        <p:nvSpPr>
          <p:cNvPr id="53" name="TextBox 52"/>
          <p:cNvSpPr txBox="1"/>
          <p:nvPr/>
        </p:nvSpPr>
        <p:spPr>
          <a:xfrm>
            <a:off x="716280" y="9398051"/>
            <a:ext cx="5497982" cy="203301"/>
          </a:xfrm>
          <a:prstGeom prst="rect">
            <a:avLst/>
          </a:prstGeom>
          <a:noFill/>
        </p:spPr>
        <p:txBody>
          <a:bodyPr wrap="none" lIns="0" tIns="0" rIns="0" bIns="0" anchor="t">
            <a:spAutoFit/>
          </a:bodyPr>
          <a:lstStyle/>
          <a:p>
            <a:pPr algn="ctr"/>
            <a:r>
              <a:rPr sz="1200" b="0" i="0">
                <a:solidFill>
                  <a:srgbClr val="000000"/>
                </a:solidFill>
                <a:latin typeface="Times New Roman"/>
              </a:rPr>
              <a:t>accessing local API documentation or a frontend client if one is connected to the backend.</a:t>
            </a:r>
          </a:p>
        </p:txBody>
      </p:sp>
      <p:sp>
        <p:nvSpPr>
          <p:cNvPr id="54" name="TextBox 53"/>
          <p:cNvSpPr txBox="1"/>
          <p:nvPr/>
        </p:nvSpPr>
        <p:spPr>
          <a:xfrm>
            <a:off x="1799895" y="9689820"/>
            <a:ext cx="874109" cy="184689"/>
          </a:xfrm>
          <a:prstGeom prst="rect">
            <a:avLst/>
          </a:prstGeom>
          <a:noFill/>
        </p:spPr>
        <p:txBody>
          <a:bodyPr wrap="none" lIns="0" tIns="0" rIns="0" bIns="0" anchor="t">
            <a:spAutoFit/>
          </a:bodyPr>
          <a:lstStyle/>
          <a:p>
            <a:pPr algn="l"/>
            <a:r>
              <a:rPr sz="1050" b="1" i="0">
                <a:solidFill>
                  <a:srgbClr val="000000"/>
                </a:solidFill>
                <a:latin typeface="Times New Roman"/>
              </a:rPr>
              <a:t>Software / Tool</a:t>
            </a:r>
          </a:p>
        </p:txBody>
      </p:sp>
      <p:sp>
        <p:nvSpPr>
          <p:cNvPr id="55" name="TextBox 54"/>
          <p:cNvSpPr txBox="1"/>
          <p:nvPr/>
        </p:nvSpPr>
        <p:spPr>
          <a:xfrm>
            <a:off x="5089687" y="9689820"/>
            <a:ext cx="466724" cy="184689"/>
          </a:xfrm>
          <a:prstGeom prst="rect">
            <a:avLst/>
          </a:prstGeom>
          <a:noFill/>
        </p:spPr>
        <p:txBody>
          <a:bodyPr wrap="none" lIns="0" tIns="0" rIns="0" bIns="0" anchor="t">
            <a:spAutoFit/>
          </a:bodyPr>
          <a:lstStyle/>
          <a:p>
            <a:pPr algn="l"/>
            <a:r>
              <a:rPr sz="1050" b="1" i="0">
                <a:solidFill>
                  <a:srgbClr val="000000"/>
                </a:solidFill>
                <a:latin typeface="Times New Roman"/>
              </a:rPr>
              <a:t>Purpose</a:t>
            </a:r>
          </a:p>
        </p:txBody>
      </p:sp>
      <p:sp>
        <p:nvSpPr>
          <p:cNvPr id="56" name="TextBox 55"/>
          <p:cNvSpPr txBox="1"/>
          <p:nvPr/>
        </p:nvSpPr>
        <p:spPr>
          <a:xfrm>
            <a:off x="744700" y="9917220"/>
            <a:ext cx="411118" cy="177889"/>
          </a:xfrm>
          <a:prstGeom prst="rect">
            <a:avLst/>
          </a:prstGeom>
          <a:noFill/>
        </p:spPr>
        <p:txBody>
          <a:bodyPr wrap="none" lIns="0" tIns="0" rIns="0" bIns="0" anchor="t">
            <a:spAutoFit/>
          </a:bodyPr>
          <a:lstStyle/>
          <a:p>
            <a:pPr algn="l"/>
            <a:r>
              <a:rPr sz="1050" b="0" i="0">
                <a:solidFill>
                  <a:srgbClr val="000000"/>
                </a:solidFill>
                <a:latin typeface="Times New Roman"/>
              </a:rPr>
              <a:t>Node.js</a:t>
            </a:r>
          </a:p>
        </p:txBody>
      </p:sp>
      <p:sp>
        <p:nvSpPr>
          <p:cNvPr id="57" name="TextBox 56"/>
          <p:cNvSpPr txBox="1"/>
          <p:nvPr/>
        </p:nvSpPr>
        <p:spPr>
          <a:xfrm>
            <a:off x="3830799" y="9917220"/>
            <a:ext cx="2222011" cy="177889"/>
          </a:xfrm>
          <a:prstGeom prst="rect">
            <a:avLst/>
          </a:prstGeom>
          <a:noFill/>
        </p:spPr>
        <p:txBody>
          <a:bodyPr wrap="none" lIns="0" tIns="0" rIns="0" bIns="0" anchor="t">
            <a:spAutoFit/>
          </a:bodyPr>
          <a:lstStyle/>
          <a:p>
            <a:pPr algn="l"/>
            <a:r>
              <a:rPr sz="1050" b="0" i="0">
                <a:solidFill>
                  <a:srgbClr val="000000"/>
                </a:solidFill>
                <a:latin typeface="Times New Roman"/>
              </a:rPr>
              <a:t>JavaScript runtime for backend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11</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799895" y="620495"/>
            <a:ext cx="874109" cy="184689"/>
          </a:xfrm>
          <a:prstGeom prst="rect">
            <a:avLst/>
          </a:prstGeom>
          <a:noFill/>
        </p:spPr>
        <p:txBody>
          <a:bodyPr wrap="none" lIns="0" tIns="0" rIns="0" bIns="0" anchor="t">
            <a:spAutoFit/>
          </a:bodyPr>
          <a:lstStyle/>
          <a:p>
            <a:pPr algn="l"/>
            <a:r>
              <a:rPr sz="1050" b="1" i="0">
                <a:solidFill>
                  <a:srgbClr val="000000"/>
                </a:solidFill>
                <a:latin typeface="Times New Roman"/>
              </a:rPr>
              <a:t>Software / Tool</a:t>
            </a:r>
          </a:p>
        </p:txBody>
      </p:sp>
      <p:sp>
        <p:nvSpPr>
          <p:cNvPr id="5" name="TextBox 4"/>
          <p:cNvSpPr txBox="1"/>
          <p:nvPr/>
        </p:nvSpPr>
        <p:spPr>
          <a:xfrm>
            <a:off x="5089687" y="620495"/>
            <a:ext cx="466724" cy="184689"/>
          </a:xfrm>
          <a:prstGeom prst="rect">
            <a:avLst/>
          </a:prstGeom>
          <a:noFill/>
        </p:spPr>
        <p:txBody>
          <a:bodyPr wrap="none" lIns="0" tIns="0" rIns="0" bIns="0" anchor="t">
            <a:spAutoFit/>
          </a:bodyPr>
          <a:lstStyle/>
          <a:p>
            <a:pPr algn="l"/>
            <a:r>
              <a:rPr sz="1050" b="1" i="0">
                <a:solidFill>
                  <a:srgbClr val="000000"/>
                </a:solidFill>
                <a:latin typeface="Times New Roman"/>
              </a:rPr>
              <a:t>Purpose</a:t>
            </a:r>
          </a:p>
        </p:txBody>
      </p:sp>
      <p:sp>
        <p:nvSpPr>
          <p:cNvPr id="6" name="TextBox 5"/>
          <p:cNvSpPr txBox="1"/>
          <p:nvPr/>
        </p:nvSpPr>
        <p:spPr>
          <a:xfrm>
            <a:off x="744700" y="847895"/>
            <a:ext cx="544468" cy="177888"/>
          </a:xfrm>
          <a:prstGeom prst="rect">
            <a:avLst/>
          </a:prstGeom>
          <a:noFill/>
        </p:spPr>
        <p:txBody>
          <a:bodyPr wrap="none" lIns="0" tIns="0" rIns="0" bIns="0" anchor="t">
            <a:spAutoFit/>
          </a:bodyPr>
          <a:lstStyle/>
          <a:p>
            <a:pPr algn="l"/>
            <a:r>
              <a:rPr sz="1050" b="0" i="0">
                <a:solidFill>
                  <a:srgbClr val="000000"/>
                </a:solidFill>
                <a:latin typeface="Times New Roman"/>
              </a:rPr>
              <a:t>Express.js</a:t>
            </a:r>
          </a:p>
        </p:txBody>
      </p:sp>
      <p:sp>
        <p:nvSpPr>
          <p:cNvPr id="7" name="TextBox 6"/>
          <p:cNvSpPr txBox="1"/>
          <p:nvPr/>
        </p:nvSpPr>
        <p:spPr>
          <a:xfrm>
            <a:off x="3830799" y="847895"/>
            <a:ext cx="2081326" cy="177888"/>
          </a:xfrm>
          <a:prstGeom prst="rect">
            <a:avLst/>
          </a:prstGeom>
          <a:noFill/>
        </p:spPr>
        <p:txBody>
          <a:bodyPr wrap="none" lIns="0" tIns="0" rIns="0" bIns="0" anchor="t">
            <a:spAutoFit/>
          </a:bodyPr>
          <a:lstStyle/>
          <a:p>
            <a:pPr algn="l"/>
            <a:r>
              <a:rPr sz="1050" b="0" i="0">
                <a:solidFill>
                  <a:srgbClr val="000000"/>
                </a:solidFill>
                <a:latin typeface="Times New Roman"/>
              </a:rPr>
              <a:t>REST API framework and middleware</a:t>
            </a:r>
          </a:p>
        </p:txBody>
      </p:sp>
      <p:sp>
        <p:nvSpPr>
          <p:cNvPr id="8" name="TextBox 7"/>
          <p:cNvSpPr txBox="1"/>
          <p:nvPr/>
        </p:nvSpPr>
        <p:spPr>
          <a:xfrm>
            <a:off x="744700" y="1076495"/>
            <a:ext cx="555536" cy="177888"/>
          </a:xfrm>
          <a:prstGeom prst="rect">
            <a:avLst/>
          </a:prstGeom>
          <a:noFill/>
        </p:spPr>
        <p:txBody>
          <a:bodyPr wrap="none" lIns="0" tIns="0" rIns="0" bIns="0" anchor="t">
            <a:spAutoFit/>
          </a:bodyPr>
          <a:lstStyle/>
          <a:p>
            <a:pPr algn="l"/>
            <a:r>
              <a:rPr sz="1050" b="0" i="0">
                <a:solidFill>
                  <a:srgbClr val="000000"/>
                </a:solidFill>
                <a:latin typeface="Times New Roman"/>
              </a:rPr>
              <a:t>JavaScript</a:t>
            </a:r>
          </a:p>
        </p:txBody>
      </p:sp>
      <p:sp>
        <p:nvSpPr>
          <p:cNvPr id="9" name="TextBox 8"/>
          <p:cNvSpPr txBox="1"/>
          <p:nvPr/>
        </p:nvSpPr>
        <p:spPr>
          <a:xfrm>
            <a:off x="3830799" y="1076495"/>
            <a:ext cx="1740617" cy="177888"/>
          </a:xfrm>
          <a:prstGeom prst="rect">
            <a:avLst/>
          </a:prstGeom>
          <a:noFill/>
        </p:spPr>
        <p:txBody>
          <a:bodyPr wrap="none" lIns="0" tIns="0" rIns="0" bIns="0" anchor="t">
            <a:spAutoFit/>
          </a:bodyPr>
          <a:lstStyle/>
          <a:p>
            <a:pPr algn="l"/>
            <a:r>
              <a:rPr sz="1050" b="0" i="0">
                <a:solidFill>
                  <a:srgbClr val="000000"/>
                </a:solidFill>
                <a:latin typeface="Times New Roman"/>
              </a:rPr>
              <a:t>Backend programming language</a:t>
            </a:r>
          </a:p>
        </p:txBody>
      </p:sp>
      <p:sp>
        <p:nvSpPr>
          <p:cNvPr id="10" name="TextBox 9"/>
          <p:cNvSpPr txBox="1"/>
          <p:nvPr/>
        </p:nvSpPr>
        <p:spPr>
          <a:xfrm>
            <a:off x="744700" y="1305095"/>
            <a:ext cx="570471" cy="177888"/>
          </a:xfrm>
          <a:prstGeom prst="rect">
            <a:avLst/>
          </a:prstGeom>
          <a:noFill/>
        </p:spPr>
        <p:txBody>
          <a:bodyPr wrap="none" lIns="0" tIns="0" rIns="0" bIns="0" anchor="t">
            <a:spAutoFit/>
          </a:bodyPr>
          <a:lstStyle/>
          <a:p>
            <a:pPr algn="l"/>
            <a:r>
              <a:rPr sz="1050" b="0" i="0">
                <a:solidFill>
                  <a:srgbClr val="000000"/>
                </a:solidFill>
                <a:latin typeface="Times New Roman"/>
              </a:rPr>
              <a:t>MongoDB</a:t>
            </a:r>
          </a:p>
        </p:txBody>
      </p:sp>
      <p:sp>
        <p:nvSpPr>
          <p:cNvPr id="11" name="TextBox 10"/>
          <p:cNvSpPr txBox="1"/>
          <p:nvPr/>
        </p:nvSpPr>
        <p:spPr>
          <a:xfrm>
            <a:off x="3830799" y="1305095"/>
            <a:ext cx="1477517" cy="177888"/>
          </a:xfrm>
          <a:prstGeom prst="rect">
            <a:avLst/>
          </a:prstGeom>
          <a:noFill/>
        </p:spPr>
        <p:txBody>
          <a:bodyPr wrap="none" lIns="0" tIns="0" rIns="0" bIns="0" anchor="t">
            <a:spAutoFit/>
          </a:bodyPr>
          <a:lstStyle/>
          <a:p>
            <a:pPr algn="l"/>
            <a:r>
              <a:rPr sz="1050" b="0" i="0">
                <a:solidFill>
                  <a:srgbClr val="000000"/>
                </a:solidFill>
                <a:latin typeface="Times New Roman"/>
              </a:rPr>
              <a:t>Database for inventory data</a:t>
            </a:r>
          </a:p>
        </p:txBody>
      </p:sp>
      <p:sp>
        <p:nvSpPr>
          <p:cNvPr id="12" name="TextBox 11"/>
          <p:cNvSpPr txBox="1"/>
          <p:nvPr/>
        </p:nvSpPr>
        <p:spPr>
          <a:xfrm>
            <a:off x="744700" y="1533695"/>
            <a:ext cx="1092803" cy="177888"/>
          </a:xfrm>
          <a:prstGeom prst="rect">
            <a:avLst/>
          </a:prstGeom>
          <a:noFill/>
        </p:spPr>
        <p:txBody>
          <a:bodyPr wrap="none" lIns="0" tIns="0" rIns="0" bIns="0" anchor="t">
            <a:spAutoFit/>
          </a:bodyPr>
          <a:lstStyle/>
          <a:p>
            <a:pPr algn="l"/>
            <a:r>
              <a:rPr sz="1050" b="0" i="0">
                <a:solidFill>
                  <a:srgbClr val="000000"/>
                </a:solidFill>
                <a:latin typeface="Times New Roman"/>
              </a:rPr>
              <a:t>MongoDB Compass</a:t>
            </a:r>
          </a:p>
        </p:txBody>
      </p:sp>
      <p:sp>
        <p:nvSpPr>
          <p:cNvPr id="13" name="TextBox 12"/>
          <p:cNvSpPr txBox="1"/>
          <p:nvPr/>
        </p:nvSpPr>
        <p:spPr>
          <a:xfrm>
            <a:off x="3830799" y="1533695"/>
            <a:ext cx="2010918" cy="177888"/>
          </a:xfrm>
          <a:prstGeom prst="rect">
            <a:avLst/>
          </a:prstGeom>
          <a:noFill/>
        </p:spPr>
        <p:txBody>
          <a:bodyPr wrap="none" lIns="0" tIns="0" rIns="0" bIns="0" anchor="t">
            <a:spAutoFit/>
          </a:bodyPr>
          <a:lstStyle/>
          <a:p>
            <a:pPr algn="l"/>
            <a:r>
              <a:rPr sz="1050" b="0" i="0">
                <a:solidFill>
                  <a:srgbClr val="000000"/>
                </a:solidFill>
                <a:latin typeface="Times New Roman"/>
              </a:rPr>
              <a:t>Database management and inspection</a:t>
            </a:r>
          </a:p>
        </p:txBody>
      </p:sp>
      <p:sp>
        <p:nvSpPr>
          <p:cNvPr id="14" name="TextBox 13"/>
          <p:cNvSpPr txBox="1"/>
          <p:nvPr/>
        </p:nvSpPr>
        <p:spPr>
          <a:xfrm>
            <a:off x="744700" y="1762295"/>
            <a:ext cx="459390" cy="177888"/>
          </a:xfrm>
          <a:prstGeom prst="rect">
            <a:avLst/>
          </a:prstGeom>
          <a:noFill/>
        </p:spPr>
        <p:txBody>
          <a:bodyPr wrap="none" lIns="0" tIns="0" rIns="0" bIns="0" anchor="t">
            <a:spAutoFit/>
          </a:bodyPr>
          <a:lstStyle/>
          <a:p>
            <a:pPr algn="l"/>
            <a:r>
              <a:rPr sz="1050" b="0" i="0">
                <a:solidFill>
                  <a:srgbClr val="000000"/>
                </a:solidFill>
                <a:latin typeface="Times New Roman"/>
              </a:rPr>
              <a:t>Postman</a:t>
            </a:r>
          </a:p>
        </p:txBody>
      </p:sp>
      <p:sp>
        <p:nvSpPr>
          <p:cNvPr id="15" name="TextBox 14"/>
          <p:cNvSpPr txBox="1"/>
          <p:nvPr/>
        </p:nvSpPr>
        <p:spPr>
          <a:xfrm>
            <a:off x="3830799" y="1762295"/>
            <a:ext cx="603808" cy="177888"/>
          </a:xfrm>
          <a:prstGeom prst="rect">
            <a:avLst/>
          </a:prstGeom>
          <a:noFill/>
        </p:spPr>
        <p:txBody>
          <a:bodyPr wrap="none" lIns="0" tIns="0" rIns="0" bIns="0" anchor="t">
            <a:spAutoFit/>
          </a:bodyPr>
          <a:lstStyle/>
          <a:p>
            <a:pPr algn="ctr"/>
            <a:r>
              <a:rPr sz="1050" b="0" i="0">
                <a:solidFill>
                  <a:srgbClr val="000000"/>
                </a:solidFill>
                <a:latin typeface="Times New Roman"/>
              </a:rPr>
              <a:t>API testing</a:t>
            </a:r>
          </a:p>
        </p:txBody>
      </p:sp>
      <p:sp>
        <p:nvSpPr>
          <p:cNvPr id="16" name="TextBox 15"/>
          <p:cNvSpPr txBox="1"/>
          <p:nvPr/>
        </p:nvSpPr>
        <p:spPr>
          <a:xfrm>
            <a:off x="744700" y="1990895"/>
            <a:ext cx="1044663" cy="177888"/>
          </a:xfrm>
          <a:prstGeom prst="rect">
            <a:avLst/>
          </a:prstGeom>
          <a:noFill/>
        </p:spPr>
        <p:txBody>
          <a:bodyPr wrap="none" lIns="0" tIns="0" rIns="0" bIns="0" anchor="t">
            <a:spAutoFit/>
          </a:bodyPr>
          <a:lstStyle/>
          <a:p>
            <a:pPr algn="l"/>
            <a:r>
              <a:rPr sz="1050" b="0" i="0">
                <a:solidFill>
                  <a:srgbClr val="000000"/>
                </a:solidFill>
                <a:latin typeface="Times New Roman"/>
              </a:rPr>
              <a:t>Visual Studio Code</a:t>
            </a:r>
          </a:p>
        </p:txBody>
      </p:sp>
      <p:sp>
        <p:nvSpPr>
          <p:cNvPr id="17" name="TextBox 16"/>
          <p:cNvSpPr txBox="1"/>
          <p:nvPr/>
        </p:nvSpPr>
        <p:spPr>
          <a:xfrm>
            <a:off x="3830799" y="1990895"/>
            <a:ext cx="1425911" cy="177888"/>
          </a:xfrm>
          <a:prstGeom prst="rect">
            <a:avLst/>
          </a:prstGeom>
          <a:noFill/>
        </p:spPr>
        <p:txBody>
          <a:bodyPr wrap="none" lIns="0" tIns="0" rIns="0" bIns="0" anchor="t">
            <a:spAutoFit/>
          </a:bodyPr>
          <a:lstStyle/>
          <a:p>
            <a:pPr algn="l"/>
            <a:r>
              <a:rPr sz="1050" b="0" i="0">
                <a:solidFill>
                  <a:srgbClr val="000000"/>
                </a:solidFill>
                <a:latin typeface="Times New Roman"/>
              </a:rPr>
              <a:t>Development environment</a:t>
            </a:r>
          </a:p>
        </p:txBody>
      </p:sp>
      <p:sp>
        <p:nvSpPr>
          <p:cNvPr id="18" name="TextBox 17"/>
          <p:cNvSpPr txBox="1"/>
          <p:nvPr/>
        </p:nvSpPr>
        <p:spPr>
          <a:xfrm>
            <a:off x="744700" y="2219495"/>
            <a:ext cx="237096" cy="177888"/>
          </a:xfrm>
          <a:prstGeom prst="rect">
            <a:avLst/>
          </a:prstGeom>
          <a:noFill/>
        </p:spPr>
        <p:txBody>
          <a:bodyPr wrap="none" lIns="0" tIns="0" rIns="0" bIns="0" anchor="t">
            <a:spAutoFit/>
          </a:bodyPr>
          <a:lstStyle/>
          <a:p>
            <a:pPr algn="l"/>
            <a:r>
              <a:rPr sz="1050" b="0" i="0">
                <a:solidFill>
                  <a:srgbClr val="000000"/>
                </a:solidFill>
                <a:latin typeface="Times New Roman"/>
              </a:rPr>
              <a:t>npm</a:t>
            </a:r>
          </a:p>
        </p:txBody>
      </p:sp>
      <p:sp>
        <p:nvSpPr>
          <p:cNvPr id="19" name="TextBox 18"/>
          <p:cNvSpPr txBox="1"/>
          <p:nvPr/>
        </p:nvSpPr>
        <p:spPr>
          <a:xfrm>
            <a:off x="3830799" y="2219495"/>
            <a:ext cx="1159078" cy="177888"/>
          </a:xfrm>
          <a:prstGeom prst="rect">
            <a:avLst/>
          </a:prstGeom>
          <a:noFill/>
        </p:spPr>
        <p:txBody>
          <a:bodyPr wrap="none" lIns="0" tIns="0" rIns="0" bIns="0" anchor="t">
            <a:spAutoFit/>
          </a:bodyPr>
          <a:lstStyle/>
          <a:p>
            <a:pPr algn="l"/>
            <a:r>
              <a:rPr sz="1050" b="0" i="0">
                <a:solidFill>
                  <a:srgbClr val="000000"/>
                </a:solidFill>
                <a:latin typeface="Times New Roman"/>
              </a:rPr>
              <a:t>Package management</a:t>
            </a:r>
          </a:p>
        </p:txBody>
      </p:sp>
      <p:sp>
        <p:nvSpPr>
          <p:cNvPr id="20" name="TextBox 19"/>
          <p:cNvSpPr txBox="1"/>
          <p:nvPr/>
        </p:nvSpPr>
        <p:spPr>
          <a:xfrm>
            <a:off x="744700" y="2448095"/>
            <a:ext cx="722357" cy="177888"/>
          </a:xfrm>
          <a:prstGeom prst="rect">
            <a:avLst/>
          </a:prstGeom>
          <a:noFill/>
        </p:spPr>
        <p:txBody>
          <a:bodyPr wrap="none" lIns="0" tIns="0" rIns="0" bIns="0" anchor="t">
            <a:spAutoFit/>
          </a:bodyPr>
          <a:lstStyle/>
          <a:p>
            <a:pPr algn="l"/>
            <a:r>
              <a:rPr sz="1050" b="0" i="0">
                <a:solidFill>
                  <a:srgbClr val="000000"/>
                </a:solidFill>
                <a:latin typeface="Times New Roman"/>
              </a:rPr>
              <a:t>RESTful API</a:t>
            </a:r>
          </a:p>
        </p:txBody>
      </p:sp>
      <p:sp>
        <p:nvSpPr>
          <p:cNvPr id="21" name="TextBox 20"/>
          <p:cNvSpPr txBox="1"/>
          <p:nvPr/>
        </p:nvSpPr>
        <p:spPr>
          <a:xfrm>
            <a:off x="3830799" y="2448095"/>
            <a:ext cx="1522190" cy="177888"/>
          </a:xfrm>
          <a:prstGeom prst="rect">
            <a:avLst/>
          </a:prstGeom>
          <a:noFill/>
        </p:spPr>
        <p:txBody>
          <a:bodyPr wrap="none" lIns="0" tIns="0" rIns="0" bIns="0" anchor="t">
            <a:spAutoFit/>
          </a:bodyPr>
          <a:lstStyle/>
          <a:p>
            <a:pPr algn="l"/>
            <a:r>
              <a:rPr sz="1050" b="0" i="0">
                <a:solidFill>
                  <a:srgbClr val="000000"/>
                </a:solidFill>
                <a:latin typeface="Times New Roman"/>
              </a:rPr>
              <a:t>Communication architecture</a:t>
            </a:r>
          </a:p>
        </p:txBody>
      </p:sp>
      <p:sp>
        <p:nvSpPr>
          <p:cNvPr id="22" name="TextBox 21"/>
          <p:cNvSpPr txBox="1"/>
          <p:nvPr/>
        </p:nvSpPr>
        <p:spPr>
          <a:xfrm>
            <a:off x="716280" y="2758744"/>
            <a:ext cx="3066872" cy="246252"/>
          </a:xfrm>
          <a:prstGeom prst="rect">
            <a:avLst/>
          </a:prstGeom>
          <a:noFill/>
        </p:spPr>
        <p:txBody>
          <a:bodyPr wrap="none" lIns="0" tIns="0" rIns="0" bIns="0" anchor="t">
            <a:spAutoFit/>
          </a:bodyPr>
          <a:lstStyle/>
          <a:p>
            <a:pPr algn="l"/>
            <a:r>
              <a:rPr sz="1400" b="1" i="0">
                <a:solidFill>
                  <a:srgbClr val="000000"/>
                </a:solidFill>
                <a:latin typeface="Times New Roman"/>
              </a:rPr>
              <a:t>2.3 Development Tools and Frameworks</a:t>
            </a:r>
          </a:p>
        </p:txBody>
      </p:sp>
      <p:sp>
        <p:nvSpPr>
          <p:cNvPr id="23" name="TextBox 22"/>
          <p:cNvSpPr txBox="1"/>
          <p:nvPr/>
        </p:nvSpPr>
        <p:spPr>
          <a:xfrm>
            <a:off x="944880" y="303789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Using a small, clearly defined set of tools reduces unnecessary complexity. Node.js and</a:t>
            </a:r>
          </a:p>
        </p:txBody>
      </p:sp>
      <p:sp>
        <p:nvSpPr>
          <p:cNvPr id="24" name="TextBox 23"/>
          <p:cNvSpPr txBox="1"/>
          <p:nvPr/>
        </p:nvSpPr>
        <p:spPr>
          <a:xfrm>
            <a:off x="716280" y="32156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Express.js provide the execution and API layers, MongoDB provides persistence, and Postman and</a:t>
            </a:r>
          </a:p>
        </p:txBody>
      </p:sp>
      <p:sp>
        <p:nvSpPr>
          <p:cNvPr id="25" name="TextBox 24"/>
          <p:cNvSpPr txBox="1"/>
          <p:nvPr/>
        </p:nvSpPr>
        <p:spPr>
          <a:xfrm>
            <a:off x="716280" y="3393490"/>
            <a:ext cx="4952542" cy="203301"/>
          </a:xfrm>
          <a:prstGeom prst="rect">
            <a:avLst/>
          </a:prstGeom>
          <a:noFill/>
        </p:spPr>
        <p:txBody>
          <a:bodyPr wrap="none" lIns="0" tIns="0" rIns="0" bIns="0" anchor="t">
            <a:spAutoFit/>
          </a:bodyPr>
          <a:lstStyle/>
          <a:p>
            <a:pPr algn="l"/>
            <a:r>
              <a:rPr sz="1200" b="0" i="0">
                <a:solidFill>
                  <a:srgbClr val="000000"/>
                </a:solidFill>
                <a:latin typeface="Times New Roman"/>
              </a:rPr>
              <a:t>MongoDB Compass provide complementary testing and verification capabilities.</a:t>
            </a:r>
          </a:p>
        </p:txBody>
      </p:sp>
      <p:sp>
        <p:nvSpPr>
          <p:cNvPr id="26" name="TextBox 25"/>
          <p:cNvSpPr txBox="1"/>
          <p:nvPr/>
        </p:nvSpPr>
        <p:spPr>
          <a:xfrm>
            <a:off x="944880" y="362209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use of npm also makes the project reproducible because dependencies can be installed from</a:t>
            </a:r>
          </a:p>
        </p:txBody>
      </p:sp>
      <p:sp>
        <p:nvSpPr>
          <p:cNvPr id="27" name="TextBox 26"/>
          <p:cNvSpPr txBox="1"/>
          <p:nvPr/>
        </p:nvSpPr>
        <p:spPr>
          <a:xfrm>
            <a:off x="716280" y="3799890"/>
            <a:ext cx="4765852" cy="203301"/>
          </a:xfrm>
          <a:prstGeom prst="rect">
            <a:avLst/>
          </a:prstGeom>
          <a:noFill/>
        </p:spPr>
        <p:txBody>
          <a:bodyPr wrap="none" lIns="0" tIns="0" rIns="0" bIns="0" anchor="t">
            <a:spAutoFit/>
          </a:bodyPr>
          <a:lstStyle/>
          <a:p>
            <a:pPr algn="l"/>
            <a:r>
              <a:rPr sz="1200" b="0" i="0">
                <a:solidFill>
                  <a:srgbClr val="000000"/>
                </a:solidFill>
                <a:latin typeface="Times New Roman"/>
              </a:rPr>
              <a:t>the project configuration instead of being copied manually between machines.</a:t>
            </a:r>
          </a:p>
        </p:txBody>
      </p:sp>
      <p:sp>
        <p:nvSpPr>
          <p:cNvPr id="28" name="TextBox 27"/>
          <p:cNvSpPr txBox="1"/>
          <p:nvPr/>
        </p:nvSpPr>
        <p:spPr>
          <a:xfrm>
            <a:off x="944880" y="402849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Express.js is the principal backend framework. It provides routing, middleware handling, request</a:t>
            </a:r>
          </a:p>
        </p:txBody>
      </p:sp>
      <p:sp>
        <p:nvSpPr>
          <p:cNvPr id="29" name="TextBox 28"/>
          <p:cNvSpPr txBox="1"/>
          <p:nvPr/>
        </p:nvSpPr>
        <p:spPr>
          <a:xfrm>
            <a:off x="716280" y="420629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processing, and response generation. Its lightweight structure makes it suitable for building modular</a:t>
            </a:r>
          </a:p>
        </p:txBody>
      </p:sp>
      <p:sp>
        <p:nvSpPr>
          <p:cNvPr id="30" name="TextBox 29"/>
          <p:cNvSpPr txBox="1"/>
          <p:nvPr/>
        </p:nvSpPr>
        <p:spPr>
          <a:xfrm>
            <a:off x="716280" y="4384090"/>
            <a:ext cx="1109014" cy="203301"/>
          </a:xfrm>
          <a:prstGeom prst="rect">
            <a:avLst/>
          </a:prstGeom>
          <a:noFill/>
        </p:spPr>
        <p:txBody>
          <a:bodyPr wrap="none" lIns="0" tIns="0" rIns="0" bIns="0" anchor="t">
            <a:spAutoFit/>
          </a:bodyPr>
          <a:lstStyle/>
          <a:p>
            <a:pPr algn="l"/>
            <a:r>
              <a:rPr sz="1200" b="0" i="0">
                <a:solidFill>
                  <a:srgbClr val="000000"/>
                </a:solidFill>
                <a:latin typeface="Times New Roman"/>
              </a:rPr>
              <a:t>RESTful services.</a:t>
            </a:r>
          </a:p>
        </p:txBody>
      </p:sp>
      <p:sp>
        <p:nvSpPr>
          <p:cNvPr id="31" name="TextBox 30"/>
          <p:cNvSpPr txBox="1"/>
          <p:nvPr/>
        </p:nvSpPr>
        <p:spPr>
          <a:xfrm>
            <a:off x="944880" y="461269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Node.js forms the runtime layer. Its event-driven approach is suitable for applications that</a:t>
            </a:r>
          </a:p>
        </p:txBody>
      </p:sp>
      <p:sp>
        <p:nvSpPr>
          <p:cNvPr id="32" name="TextBox 31"/>
          <p:cNvSpPr txBox="1"/>
          <p:nvPr/>
        </p:nvSpPr>
        <p:spPr>
          <a:xfrm>
            <a:off x="716280" y="479049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perform frequent I/O operations such as database access and API requests. JavaScript is used</a:t>
            </a:r>
          </a:p>
        </p:txBody>
      </p:sp>
      <p:sp>
        <p:nvSpPr>
          <p:cNvPr id="33" name="TextBox 32"/>
          <p:cNvSpPr txBox="1"/>
          <p:nvPr/>
        </p:nvSpPr>
        <p:spPr>
          <a:xfrm>
            <a:off x="716280" y="49682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throughout the backend logic, allowing the team to implement validation, business rules, and data</a:t>
            </a:r>
          </a:p>
        </p:txBody>
      </p:sp>
      <p:sp>
        <p:nvSpPr>
          <p:cNvPr id="34" name="TextBox 33"/>
          <p:cNvSpPr txBox="1"/>
          <p:nvPr/>
        </p:nvSpPr>
        <p:spPr>
          <a:xfrm>
            <a:off x="716280" y="5146090"/>
            <a:ext cx="2560777" cy="203301"/>
          </a:xfrm>
          <a:prstGeom prst="rect">
            <a:avLst/>
          </a:prstGeom>
          <a:noFill/>
        </p:spPr>
        <p:txBody>
          <a:bodyPr wrap="none" lIns="0" tIns="0" rIns="0" bIns="0" anchor="t">
            <a:spAutoFit/>
          </a:bodyPr>
          <a:lstStyle/>
          <a:p>
            <a:pPr algn="l"/>
            <a:r>
              <a:rPr sz="1200" b="0" i="0">
                <a:solidFill>
                  <a:srgbClr val="000000"/>
                </a:solidFill>
                <a:latin typeface="Times New Roman"/>
              </a:rPr>
              <a:t>processing in one programming language.</a:t>
            </a:r>
          </a:p>
        </p:txBody>
      </p:sp>
      <p:sp>
        <p:nvSpPr>
          <p:cNvPr id="35" name="TextBox 34"/>
          <p:cNvSpPr txBox="1"/>
          <p:nvPr/>
        </p:nvSpPr>
        <p:spPr>
          <a:xfrm>
            <a:off x="944880" y="537469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MongoDB and MongoDB Compass support data storage and inspection. Postman supports</a:t>
            </a:r>
          </a:p>
        </p:txBody>
      </p:sp>
      <p:sp>
        <p:nvSpPr>
          <p:cNvPr id="36" name="TextBox 35"/>
          <p:cNvSpPr txBox="1"/>
          <p:nvPr/>
        </p:nvSpPr>
        <p:spPr>
          <a:xfrm>
            <a:off x="716280" y="55524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manual API testing by allowing different HTTP methods and request payloads to be sent to the</a:t>
            </a:r>
          </a:p>
        </p:txBody>
      </p:sp>
      <p:sp>
        <p:nvSpPr>
          <p:cNvPr id="37" name="TextBox 36"/>
          <p:cNvSpPr txBox="1"/>
          <p:nvPr/>
        </p:nvSpPr>
        <p:spPr>
          <a:xfrm>
            <a:off x="716280" y="573029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backend. Visual Studio Code provides the workspace for writing, debugging, and maintaining the</a:t>
            </a:r>
          </a:p>
        </p:txBody>
      </p:sp>
      <p:sp>
        <p:nvSpPr>
          <p:cNvPr id="38" name="TextBox 37"/>
          <p:cNvSpPr txBox="1"/>
          <p:nvPr/>
        </p:nvSpPr>
        <p:spPr>
          <a:xfrm>
            <a:off x="716280" y="5908090"/>
            <a:ext cx="1223010" cy="203301"/>
          </a:xfrm>
          <a:prstGeom prst="rect">
            <a:avLst/>
          </a:prstGeom>
          <a:noFill/>
        </p:spPr>
        <p:txBody>
          <a:bodyPr wrap="none" lIns="0" tIns="0" rIns="0" bIns="0" anchor="t">
            <a:spAutoFit/>
          </a:bodyPr>
          <a:lstStyle/>
          <a:p>
            <a:pPr algn="l"/>
            <a:r>
              <a:rPr sz="1200" b="0" i="0">
                <a:solidFill>
                  <a:srgbClr val="000000"/>
                </a:solidFill>
                <a:latin typeface="Times New Roman"/>
              </a:rPr>
              <a:t>project source code.</a:t>
            </a:r>
          </a:p>
        </p:txBody>
      </p:sp>
      <p:sp>
        <p:nvSpPr>
          <p:cNvPr id="39" name="TextBox 38"/>
          <p:cNvSpPr txBox="1"/>
          <p:nvPr/>
        </p:nvSpPr>
        <p:spPr>
          <a:xfrm>
            <a:off x="944880" y="613669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npm is used to install and manage dependencies. A package-based development workflow</a:t>
            </a:r>
          </a:p>
        </p:txBody>
      </p:sp>
      <p:sp>
        <p:nvSpPr>
          <p:cNvPr id="40" name="TextBox 39"/>
          <p:cNvSpPr txBox="1"/>
          <p:nvPr/>
        </p:nvSpPr>
        <p:spPr>
          <a:xfrm>
            <a:off x="716280" y="631449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makes the application easier to reproduce on another machine when the package configuration and</a:t>
            </a:r>
          </a:p>
        </p:txBody>
      </p:sp>
      <p:sp>
        <p:nvSpPr>
          <p:cNvPr id="41" name="TextBox 40"/>
          <p:cNvSpPr txBox="1"/>
          <p:nvPr/>
        </p:nvSpPr>
        <p:spPr>
          <a:xfrm>
            <a:off x="716280" y="6492290"/>
            <a:ext cx="2831592" cy="203301"/>
          </a:xfrm>
          <a:prstGeom prst="rect">
            <a:avLst/>
          </a:prstGeom>
          <a:noFill/>
        </p:spPr>
        <p:txBody>
          <a:bodyPr wrap="none" lIns="0" tIns="0" rIns="0" bIns="0" anchor="t">
            <a:spAutoFit/>
          </a:bodyPr>
          <a:lstStyle/>
          <a:p>
            <a:pPr algn="l"/>
            <a:r>
              <a:rPr sz="1200" b="0" i="0">
                <a:solidFill>
                  <a:srgbClr val="000000"/>
                </a:solidFill>
                <a:latin typeface="Times New Roman"/>
              </a:rPr>
              <a:t>environment settings are correctly maintained.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12</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007486" y="579322"/>
            <a:ext cx="3545027" cy="281432"/>
          </a:xfrm>
          <a:prstGeom prst="rect">
            <a:avLst/>
          </a:prstGeom>
          <a:noFill/>
        </p:spPr>
        <p:txBody>
          <a:bodyPr wrap="none" lIns="0" tIns="0" rIns="0" bIns="0" anchor="t">
            <a:spAutoFit/>
          </a:bodyPr>
          <a:lstStyle/>
          <a:p>
            <a:pPr algn="ctr"/>
            <a:r>
              <a:rPr sz="1600" b="1" i="0">
                <a:solidFill>
                  <a:srgbClr val="000000"/>
                </a:solidFill>
                <a:latin typeface="Times New Roman"/>
              </a:rPr>
              <a:t>CHAPTER - 3 TECHNOLOGY STACK</a:t>
            </a:r>
          </a:p>
        </p:txBody>
      </p:sp>
      <p:sp>
        <p:nvSpPr>
          <p:cNvPr id="5" name="TextBox 4"/>
          <p:cNvSpPr txBox="1"/>
          <p:nvPr/>
        </p:nvSpPr>
        <p:spPr>
          <a:xfrm>
            <a:off x="716280" y="948740"/>
            <a:ext cx="1486763" cy="246252"/>
          </a:xfrm>
          <a:prstGeom prst="rect">
            <a:avLst/>
          </a:prstGeom>
          <a:noFill/>
        </p:spPr>
        <p:txBody>
          <a:bodyPr wrap="none" lIns="0" tIns="0" rIns="0" bIns="0" anchor="t">
            <a:spAutoFit/>
          </a:bodyPr>
          <a:lstStyle/>
          <a:p>
            <a:pPr algn="l"/>
            <a:r>
              <a:rPr sz="1400" b="1" i="0">
                <a:solidFill>
                  <a:srgbClr val="000000"/>
                </a:solidFill>
                <a:latin typeface="Times New Roman"/>
              </a:rPr>
              <a:t>3.1 Backend Design</a:t>
            </a:r>
          </a:p>
        </p:txBody>
      </p:sp>
      <p:sp>
        <p:nvSpPr>
          <p:cNvPr id="6" name="TextBox 5"/>
          <p:cNvSpPr txBox="1"/>
          <p:nvPr/>
        </p:nvSpPr>
        <p:spPr>
          <a:xfrm>
            <a:off x="944880" y="12278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backend design follows separation of concerns. Routes define the API entry points,</a:t>
            </a:r>
          </a:p>
        </p:txBody>
      </p:sp>
      <p:sp>
        <p:nvSpPr>
          <p:cNvPr id="7" name="TextBox 6"/>
          <p:cNvSpPr txBox="1"/>
          <p:nvPr/>
        </p:nvSpPr>
        <p:spPr>
          <a:xfrm>
            <a:off x="716280" y="14056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validation checks request data, business logic performs inventory operations, and the database layer</a:t>
            </a:r>
          </a:p>
        </p:txBody>
      </p:sp>
      <p:sp>
        <p:nvSpPr>
          <p:cNvPr id="8" name="TextBox 7"/>
          <p:cNvSpPr txBox="1"/>
          <p:nvPr/>
        </p:nvSpPr>
        <p:spPr>
          <a:xfrm>
            <a:off x="716280" y="1583486"/>
            <a:ext cx="5752642" cy="203301"/>
          </a:xfrm>
          <a:prstGeom prst="rect">
            <a:avLst/>
          </a:prstGeom>
          <a:noFill/>
        </p:spPr>
        <p:txBody>
          <a:bodyPr wrap="none" lIns="0" tIns="0" rIns="0" bIns="0" anchor="t">
            <a:spAutoFit/>
          </a:bodyPr>
          <a:lstStyle/>
          <a:p>
            <a:pPr algn="ctr"/>
            <a:r>
              <a:rPr sz="1200" b="0" i="0">
                <a:solidFill>
                  <a:srgbClr val="000000"/>
                </a:solidFill>
                <a:latin typeface="Times New Roman"/>
              </a:rPr>
              <a:t>persists information. This separation makes individual components easier to test and maintain.</a:t>
            </a:r>
          </a:p>
        </p:txBody>
      </p:sp>
      <p:sp>
        <p:nvSpPr>
          <p:cNvPr id="9" name="TextBox 8"/>
          <p:cNvSpPr txBox="1"/>
          <p:nvPr/>
        </p:nvSpPr>
        <p:spPr>
          <a:xfrm>
            <a:off x="944880" y="18120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design also supports future module expansion. New services can be added around the</a:t>
            </a:r>
          </a:p>
        </p:txBody>
      </p:sp>
      <p:sp>
        <p:nvSpPr>
          <p:cNvPr id="10" name="TextBox 9"/>
          <p:cNvSpPr txBox="1"/>
          <p:nvPr/>
        </p:nvSpPr>
        <p:spPr>
          <a:xfrm>
            <a:off x="716280" y="19898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existing medicine, supplier, batch, purchase, sales, and stock concepts without changing the overall</a:t>
            </a:r>
          </a:p>
        </p:txBody>
      </p:sp>
      <p:sp>
        <p:nvSpPr>
          <p:cNvPr id="11" name="TextBox 10"/>
          <p:cNvSpPr txBox="1"/>
          <p:nvPr/>
        </p:nvSpPr>
        <p:spPr>
          <a:xfrm>
            <a:off x="716280" y="2167686"/>
            <a:ext cx="1816150" cy="203301"/>
          </a:xfrm>
          <a:prstGeom prst="rect">
            <a:avLst/>
          </a:prstGeom>
          <a:noFill/>
        </p:spPr>
        <p:txBody>
          <a:bodyPr wrap="none" lIns="0" tIns="0" rIns="0" bIns="0" anchor="t">
            <a:spAutoFit/>
          </a:bodyPr>
          <a:lstStyle/>
          <a:p>
            <a:pPr algn="l"/>
            <a:r>
              <a:rPr sz="1200" b="0" i="0">
                <a:solidFill>
                  <a:srgbClr val="000000"/>
                </a:solidFill>
                <a:latin typeface="Times New Roman"/>
              </a:rPr>
              <a:t>REST communication model.</a:t>
            </a:r>
          </a:p>
        </p:txBody>
      </p:sp>
      <p:sp>
        <p:nvSpPr>
          <p:cNvPr id="12" name="TextBox 11"/>
          <p:cNvSpPr txBox="1"/>
          <p:nvPr/>
        </p:nvSpPr>
        <p:spPr>
          <a:xfrm>
            <a:off x="944880" y="23962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backend is the central processing layer of the Enterprise Pharmaceutical Stock and</a:t>
            </a:r>
          </a:p>
        </p:txBody>
      </p:sp>
      <p:sp>
        <p:nvSpPr>
          <p:cNvPr id="13" name="TextBox 12"/>
          <p:cNvSpPr txBox="1"/>
          <p:nvPr/>
        </p:nvSpPr>
        <p:spPr>
          <a:xfrm>
            <a:off x="716280" y="2574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Inventory Management System. It receives client requests, validates input, applies business rules,</a:t>
            </a:r>
          </a:p>
        </p:txBody>
      </p:sp>
      <p:sp>
        <p:nvSpPr>
          <p:cNvPr id="14" name="TextBox 13"/>
          <p:cNvSpPr txBox="1"/>
          <p:nvPr/>
        </p:nvSpPr>
        <p:spPr>
          <a:xfrm>
            <a:off x="716280" y="27518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interacts with MongoDB, and returns structured responses. This separation allows the data</a:t>
            </a:r>
          </a:p>
        </p:txBody>
      </p:sp>
      <p:sp>
        <p:nvSpPr>
          <p:cNvPr id="15" name="TextBox 14"/>
          <p:cNvSpPr txBox="1"/>
          <p:nvPr/>
        </p:nvSpPr>
        <p:spPr>
          <a:xfrm>
            <a:off x="716280" y="2929686"/>
            <a:ext cx="5527700" cy="203301"/>
          </a:xfrm>
          <a:prstGeom prst="rect">
            <a:avLst/>
          </a:prstGeom>
          <a:noFill/>
        </p:spPr>
        <p:txBody>
          <a:bodyPr wrap="none" lIns="0" tIns="0" rIns="0" bIns="0" anchor="t">
            <a:spAutoFit/>
          </a:bodyPr>
          <a:lstStyle/>
          <a:p>
            <a:pPr algn="ctr"/>
            <a:r>
              <a:rPr sz="1200" b="0" i="0">
                <a:solidFill>
                  <a:srgbClr val="000000"/>
                </a:solidFill>
                <a:latin typeface="Times New Roman"/>
              </a:rPr>
              <a:t>management logic to remain independent of the user interface that may consume the APIs.</a:t>
            </a:r>
          </a:p>
        </p:txBody>
      </p:sp>
      <p:sp>
        <p:nvSpPr>
          <p:cNvPr id="16" name="TextBox 15"/>
          <p:cNvSpPr txBox="1"/>
          <p:nvPr/>
        </p:nvSpPr>
        <p:spPr>
          <a:xfrm>
            <a:off x="944880" y="31582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backend is organized around the inventory domain. Medicine and supplier operations</a:t>
            </a:r>
          </a:p>
        </p:txBody>
      </p:sp>
      <p:sp>
        <p:nvSpPr>
          <p:cNvPr id="17" name="TextBox 16"/>
          <p:cNvSpPr txBox="1"/>
          <p:nvPr/>
        </p:nvSpPr>
        <p:spPr>
          <a:xfrm>
            <a:off x="716280" y="33360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provide the core master-data functions, while batches, purchases, sales, and stock monitoring</a:t>
            </a:r>
          </a:p>
        </p:txBody>
      </p:sp>
      <p:sp>
        <p:nvSpPr>
          <p:cNvPr id="18" name="TextBox 17"/>
          <p:cNvSpPr txBox="1"/>
          <p:nvPr/>
        </p:nvSpPr>
        <p:spPr>
          <a:xfrm>
            <a:off x="716280" y="3513886"/>
            <a:ext cx="6039917" cy="203301"/>
          </a:xfrm>
          <a:prstGeom prst="rect">
            <a:avLst/>
          </a:prstGeom>
          <a:noFill/>
        </p:spPr>
        <p:txBody>
          <a:bodyPr wrap="none" lIns="0" tIns="0" rIns="0" bIns="0" anchor="t">
            <a:spAutoFit/>
          </a:bodyPr>
          <a:lstStyle/>
          <a:p>
            <a:pPr algn="ctr"/>
            <a:r>
              <a:rPr sz="1200" b="0" i="0">
                <a:solidFill>
                  <a:srgbClr val="000000"/>
                </a:solidFill>
                <a:latin typeface="Times New Roman"/>
              </a:rPr>
              <a:t>represent inventory operations. A modular organization makes the system easier to test and extend.</a:t>
            </a:r>
          </a:p>
        </p:txBody>
      </p:sp>
      <p:sp>
        <p:nvSpPr>
          <p:cNvPr id="19" name="TextBox 18"/>
          <p:cNvSpPr txBox="1"/>
          <p:nvPr/>
        </p:nvSpPr>
        <p:spPr>
          <a:xfrm>
            <a:off x="944880" y="3742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Express.js middleware can be used for request parsing, validation, authentication, authorization,</a:t>
            </a:r>
          </a:p>
        </p:txBody>
      </p:sp>
      <p:sp>
        <p:nvSpPr>
          <p:cNvPr id="20" name="TextBox 19"/>
          <p:cNvSpPr txBox="1"/>
          <p:nvPr/>
        </p:nvSpPr>
        <p:spPr>
          <a:xfrm>
            <a:off x="716280" y="39202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error handling, and logging. These concerns are kept separate from route handlers so that the</a:t>
            </a:r>
          </a:p>
        </p:txBody>
      </p:sp>
      <p:sp>
        <p:nvSpPr>
          <p:cNvPr id="21" name="TextBox 20"/>
          <p:cNvSpPr txBox="1"/>
          <p:nvPr/>
        </p:nvSpPr>
        <p:spPr>
          <a:xfrm>
            <a:off x="716280" y="4098086"/>
            <a:ext cx="1891893" cy="203301"/>
          </a:xfrm>
          <a:prstGeom prst="rect">
            <a:avLst/>
          </a:prstGeom>
          <a:noFill/>
        </p:spPr>
        <p:txBody>
          <a:bodyPr wrap="none" lIns="0" tIns="0" rIns="0" bIns="0" anchor="t">
            <a:spAutoFit/>
          </a:bodyPr>
          <a:lstStyle/>
          <a:p>
            <a:pPr algn="l"/>
            <a:r>
              <a:rPr sz="1200" b="0" i="0">
                <a:solidFill>
                  <a:srgbClr val="000000"/>
                </a:solidFill>
                <a:latin typeface="Times New Roman"/>
              </a:rPr>
              <a:t>backend remains maintainable.</a:t>
            </a:r>
          </a:p>
        </p:txBody>
      </p:sp>
      <p:sp>
        <p:nvSpPr>
          <p:cNvPr id="22" name="TextBox 21"/>
          <p:cNvSpPr txBox="1"/>
          <p:nvPr/>
        </p:nvSpPr>
        <p:spPr>
          <a:xfrm>
            <a:off x="716280" y="4365040"/>
            <a:ext cx="1985492" cy="246252"/>
          </a:xfrm>
          <a:prstGeom prst="rect">
            <a:avLst/>
          </a:prstGeom>
          <a:noFill/>
        </p:spPr>
        <p:txBody>
          <a:bodyPr wrap="none" lIns="0" tIns="0" rIns="0" bIns="0" anchor="t">
            <a:spAutoFit/>
          </a:bodyPr>
          <a:lstStyle/>
          <a:p>
            <a:pPr algn="l"/>
            <a:r>
              <a:rPr sz="1400" b="1" i="0">
                <a:solidFill>
                  <a:srgbClr val="000000"/>
                </a:solidFill>
                <a:latin typeface="Times New Roman"/>
              </a:rPr>
              <a:t>3.2 Node.js and Express.js</a:t>
            </a:r>
          </a:p>
        </p:txBody>
      </p:sp>
      <p:sp>
        <p:nvSpPr>
          <p:cNvPr id="23" name="TextBox 22"/>
          <p:cNvSpPr txBox="1"/>
          <p:nvPr/>
        </p:nvSpPr>
        <p:spPr>
          <a:xfrm>
            <a:off x="944880" y="46441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Express middleware provides a convenient place to implement common concerns such as</a:t>
            </a:r>
          </a:p>
        </p:txBody>
      </p:sp>
      <p:sp>
        <p:nvSpPr>
          <p:cNvPr id="24" name="TextBox 23"/>
          <p:cNvSpPr txBox="1"/>
          <p:nvPr/>
        </p:nvSpPr>
        <p:spPr>
          <a:xfrm>
            <a:off x="716280" y="48219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request parsing, authentication checks, validation, and error handling. This prevents the same logic</a:t>
            </a:r>
          </a:p>
        </p:txBody>
      </p:sp>
      <p:sp>
        <p:nvSpPr>
          <p:cNvPr id="25" name="TextBox 24"/>
          <p:cNvSpPr txBox="1"/>
          <p:nvPr/>
        </p:nvSpPr>
        <p:spPr>
          <a:xfrm>
            <a:off x="716280" y="4999786"/>
            <a:ext cx="2395423" cy="203301"/>
          </a:xfrm>
          <a:prstGeom prst="rect">
            <a:avLst/>
          </a:prstGeom>
          <a:noFill/>
        </p:spPr>
        <p:txBody>
          <a:bodyPr wrap="none" lIns="0" tIns="0" rIns="0" bIns="0" anchor="t">
            <a:spAutoFit/>
          </a:bodyPr>
          <a:lstStyle/>
          <a:p>
            <a:pPr algn="l"/>
            <a:r>
              <a:rPr sz="1200" b="0" i="0">
                <a:solidFill>
                  <a:srgbClr val="000000"/>
                </a:solidFill>
                <a:latin typeface="Times New Roman"/>
              </a:rPr>
              <a:t>from being repeated inside every route.</a:t>
            </a:r>
          </a:p>
        </p:txBody>
      </p:sp>
      <p:sp>
        <p:nvSpPr>
          <p:cNvPr id="26" name="TextBox 25"/>
          <p:cNvSpPr txBox="1"/>
          <p:nvPr/>
        </p:nvSpPr>
        <p:spPr>
          <a:xfrm>
            <a:off x="944880" y="52283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Node.js is suitable for this application because database operations and API requests involve I/O</a:t>
            </a:r>
          </a:p>
        </p:txBody>
      </p:sp>
      <p:sp>
        <p:nvSpPr>
          <p:cNvPr id="27" name="TextBox 26"/>
          <p:cNvSpPr txBox="1"/>
          <p:nvPr/>
        </p:nvSpPr>
        <p:spPr>
          <a:xfrm>
            <a:off x="716280" y="54061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activity. The asynchronous programming model allows the server to handle such operations without</a:t>
            </a:r>
          </a:p>
        </p:txBody>
      </p:sp>
      <p:sp>
        <p:nvSpPr>
          <p:cNvPr id="28" name="TextBox 27"/>
          <p:cNvSpPr txBox="1"/>
          <p:nvPr/>
        </p:nvSpPr>
        <p:spPr>
          <a:xfrm>
            <a:off x="716280" y="5583986"/>
            <a:ext cx="1896313" cy="203301"/>
          </a:xfrm>
          <a:prstGeom prst="rect">
            <a:avLst/>
          </a:prstGeom>
          <a:noFill/>
        </p:spPr>
        <p:txBody>
          <a:bodyPr wrap="none" lIns="0" tIns="0" rIns="0" bIns="0" anchor="t">
            <a:spAutoFit/>
          </a:bodyPr>
          <a:lstStyle/>
          <a:p>
            <a:pPr algn="l"/>
            <a:r>
              <a:rPr sz="1200" b="0" i="0">
                <a:solidFill>
                  <a:srgbClr val="000000"/>
                </a:solidFill>
                <a:latin typeface="Times New Roman"/>
              </a:rPr>
              <a:t>blocking the entire application.</a:t>
            </a:r>
          </a:p>
        </p:txBody>
      </p:sp>
      <p:sp>
        <p:nvSpPr>
          <p:cNvPr id="29" name="TextBox 28"/>
          <p:cNvSpPr txBox="1"/>
          <p:nvPr/>
        </p:nvSpPr>
        <p:spPr>
          <a:xfrm>
            <a:off x="944880" y="58125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Node.js provides the execution environment for the JavaScript backend. It is designed around an</a:t>
            </a:r>
          </a:p>
        </p:txBody>
      </p:sp>
      <p:sp>
        <p:nvSpPr>
          <p:cNvPr id="30" name="TextBox 29"/>
          <p:cNvSpPr txBox="1"/>
          <p:nvPr/>
        </p:nvSpPr>
        <p:spPr>
          <a:xfrm>
            <a:off x="716280" y="59903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event-driven, non-blocking model, which is useful for web services that spend significant time</a:t>
            </a:r>
          </a:p>
        </p:txBody>
      </p:sp>
      <p:sp>
        <p:nvSpPr>
          <p:cNvPr id="31" name="TextBox 30"/>
          <p:cNvSpPr txBox="1"/>
          <p:nvPr/>
        </p:nvSpPr>
        <p:spPr>
          <a:xfrm>
            <a:off x="716280" y="6168186"/>
            <a:ext cx="2649474" cy="203301"/>
          </a:xfrm>
          <a:prstGeom prst="rect">
            <a:avLst/>
          </a:prstGeom>
          <a:noFill/>
        </p:spPr>
        <p:txBody>
          <a:bodyPr wrap="none" lIns="0" tIns="0" rIns="0" bIns="0" anchor="t">
            <a:spAutoFit/>
          </a:bodyPr>
          <a:lstStyle/>
          <a:p>
            <a:pPr algn="l"/>
            <a:r>
              <a:rPr sz="1200" b="0" i="0">
                <a:solidFill>
                  <a:srgbClr val="000000"/>
                </a:solidFill>
                <a:latin typeface="Times New Roman"/>
              </a:rPr>
              <a:t>waiting for database or network operations.</a:t>
            </a:r>
          </a:p>
        </p:txBody>
      </p:sp>
      <p:sp>
        <p:nvSpPr>
          <p:cNvPr id="32" name="TextBox 31"/>
          <p:cNvSpPr txBox="1"/>
          <p:nvPr/>
        </p:nvSpPr>
        <p:spPr>
          <a:xfrm>
            <a:off x="944880" y="63967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Express.js is used on top of Node.js to simplify API development. Routes can be organized by</a:t>
            </a:r>
          </a:p>
        </p:txBody>
      </p:sp>
      <p:sp>
        <p:nvSpPr>
          <p:cNvPr id="33" name="TextBox 32"/>
          <p:cNvSpPr txBox="1"/>
          <p:nvPr/>
        </p:nvSpPr>
        <p:spPr>
          <a:xfrm>
            <a:off x="716280" y="6574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functional module and middleware can be inserted into the request pipeline. For example, a</a:t>
            </a:r>
          </a:p>
        </p:txBody>
      </p:sp>
      <p:sp>
        <p:nvSpPr>
          <p:cNvPr id="34" name="TextBox 33"/>
          <p:cNvSpPr txBox="1"/>
          <p:nvPr/>
        </p:nvSpPr>
        <p:spPr>
          <a:xfrm>
            <a:off x="716280" y="67523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medicine request can pass through validation and authorization before reaching the business logic</a:t>
            </a:r>
          </a:p>
        </p:txBody>
      </p:sp>
      <p:sp>
        <p:nvSpPr>
          <p:cNvPr id="35" name="TextBox 34"/>
          <p:cNvSpPr txBox="1"/>
          <p:nvPr/>
        </p:nvSpPr>
        <p:spPr>
          <a:xfrm>
            <a:off x="716280" y="6930186"/>
            <a:ext cx="2183892" cy="203301"/>
          </a:xfrm>
          <a:prstGeom prst="rect">
            <a:avLst/>
          </a:prstGeom>
          <a:noFill/>
        </p:spPr>
        <p:txBody>
          <a:bodyPr wrap="none" lIns="0" tIns="0" rIns="0" bIns="0" anchor="t">
            <a:spAutoFit/>
          </a:bodyPr>
          <a:lstStyle/>
          <a:p>
            <a:pPr algn="l"/>
            <a:r>
              <a:rPr sz="1200" b="0" i="0">
                <a:solidFill>
                  <a:srgbClr val="000000"/>
                </a:solidFill>
                <a:latin typeface="Times New Roman"/>
              </a:rPr>
              <a:t>responsible for database operations.</a:t>
            </a:r>
          </a:p>
        </p:txBody>
      </p:sp>
      <p:sp>
        <p:nvSpPr>
          <p:cNvPr id="36" name="TextBox 35"/>
          <p:cNvSpPr txBox="1"/>
          <p:nvPr/>
        </p:nvSpPr>
        <p:spPr>
          <a:xfrm>
            <a:off x="944880" y="71587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combination of Node.js and Express.js also supports a clear RESTful structure. HTTP</a:t>
            </a:r>
          </a:p>
        </p:txBody>
      </p:sp>
      <p:sp>
        <p:nvSpPr>
          <p:cNvPr id="37" name="TextBox 36"/>
          <p:cNvSpPr txBox="1"/>
          <p:nvPr/>
        </p:nvSpPr>
        <p:spPr>
          <a:xfrm>
            <a:off x="716280" y="73365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methods such as GET, POST, PUT/PATCH, and DELETE can represent retrieval, creation,</a:t>
            </a:r>
          </a:p>
        </p:txBody>
      </p:sp>
      <p:sp>
        <p:nvSpPr>
          <p:cNvPr id="38" name="TextBox 37"/>
          <p:cNvSpPr txBox="1"/>
          <p:nvPr/>
        </p:nvSpPr>
        <p:spPr>
          <a:xfrm>
            <a:off x="716280" y="75143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modification, and deletion operations. The exact endpoint naming can be maintained consistently</a:t>
            </a:r>
          </a:p>
        </p:txBody>
      </p:sp>
      <p:sp>
        <p:nvSpPr>
          <p:cNvPr id="39" name="TextBox 38"/>
          <p:cNvSpPr txBox="1"/>
          <p:nvPr/>
        </p:nvSpPr>
        <p:spPr>
          <a:xfrm>
            <a:off x="716280" y="7692186"/>
            <a:ext cx="1104595" cy="203301"/>
          </a:xfrm>
          <a:prstGeom prst="rect">
            <a:avLst/>
          </a:prstGeom>
          <a:noFill/>
        </p:spPr>
        <p:txBody>
          <a:bodyPr wrap="none" lIns="0" tIns="0" rIns="0" bIns="0" anchor="t">
            <a:spAutoFit/>
          </a:bodyPr>
          <a:lstStyle/>
          <a:p>
            <a:pPr algn="l"/>
            <a:r>
              <a:rPr sz="1200" b="0" i="0">
                <a:solidFill>
                  <a:srgbClr val="000000"/>
                </a:solidFill>
                <a:latin typeface="Times New Roman"/>
              </a:rPr>
              <a:t>across the project.</a:t>
            </a:r>
          </a:p>
        </p:txBody>
      </p:sp>
      <p:sp>
        <p:nvSpPr>
          <p:cNvPr id="40" name="TextBox 39"/>
          <p:cNvSpPr txBox="1"/>
          <p:nvPr/>
        </p:nvSpPr>
        <p:spPr>
          <a:xfrm>
            <a:off x="716280" y="7959139"/>
            <a:ext cx="1792757" cy="246253"/>
          </a:xfrm>
          <a:prstGeom prst="rect">
            <a:avLst/>
          </a:prstGeom>
          <a:noFill/>
        </p:spPr>
        <p:txBody>
          <a:bodyPr wrap="none" lIns="0" tIns="0" rIns="0" bIns="0" anchor="t">
            <a:spAutoFit/>
          </a:bodyPr>
          <a:lstStyle/>
          <a:p>
            <a:pPr algn="l"/>
            <a:r>
              <a:rPr sz="1400" b="1" i="0">
                <a:solidFill>
                  <a:srgbClr val="000000"/>
                </a:solidFill>
                <a:latin typeface="Times New Roman"/>
              </a:rPr>
              <a:t>3.3 MongoDB Database</a:t>
            </a:r>
          </a:p>
        </p:txBody>
      </p:sp>
      <p:sp>
        <p:nvSpPr>
          <p:cNvPr id="41" name="TextBox 40"/>
          <p:cNvSpPr txBox="1"/>
          <p:nvPr/>
        </p:nvSpPr>
        <p:spPr>
          <a:xfrm>
            <a:off x="944880" y="82382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database design should maintain identifiers that make relationships between documents</a:t>
            </a:r>
          </a:p>
        </p:txBody>
      </p:sp>
      <p:sp>
        <p:nvSpPr>
          <p:cNvPr id="42" name="TextBox 41"/>
          <p:cNvSpPr txBox="1"/>
          <p:nvPr/>
        </p:nvSpPr>
        <p:spPr>
          <a:xfrm>
            <a:off x="716280" y="8416086"/>
            <a:ext cx="6127442" cy="203301"/>
          </a:xfrm>
          <a:prstGeom prst="rect">
            <a:avLst/>
          </a:prstGeom>
          <a:noFill/>
        </p:spPr>
        <p:txBody>
          <a:bodyPr wrap="none" lIns="0" tIns="0" rIns="0" bIns="0" anchor="t">
            <a:spAutoFit/>
          </a:bodyPr>
          <a:lstStyle/>
          <a:p>
            <a:pPr algn="ctr"/>
            <a:r>
              <a:rPr sz="1200" b="0" i="0">
                <a:solidFill>
                  <a:srgbClr val="000000"/>
                </a:solidFill>
                <a:latin typeface="Times New Roman"/>
              </a:rPr>
              <a:t>understandable. For example, a batch record can reference its medicine, while a purchase can retain</a:t>
            </a:r>
          </a:p>
        </p:txBody>
      </p:sp>
      <p:sp>
        <p:nvSpPr>
          <p:cNvPr id="43" name="TextBox 42"/>
          <p:cNvSpPr txBox="1"/>
          <p:nvPr/>
        </p:nvSpPr>
        <p:spPr>
          <a:xfrm>
            <a:off x="716280" y="8593886"/>
            <a:ext cx="2251862" cy="203301"/>
          </a:xfrm>
          <a:prstGeom prst="rect">
            <a:avLst/>
          </a:prstGeom>
          <a:noFill/>
        </p:spPr>
        <p:txBody>
          <a:bodyPr wrap="none" lIns="0" tIns="0" rIns="0" bIns="0" anchor="t">
            <a:spAutoFit/>
          </a:bodyPr>
          <a:lstStyle/>
          <a:p>
            <a:pPr algn="l"/>
            <a:r>
              <a:rPr sz="1200" b="0" i="0">
                <a:solidFill>
                  <a:srgbClr val="000000"/>
                </a:solidFill>
                <a:latin typeface="Times New Roman"/>
              </a:rPr>
              <a:t>supplier and transaction information.</a:t>
            </a:r>
          </a:p>
        </p:txBody>
      </p:sp>
      <p:sp>
        <p:nvSpPr>
          <p:cNvPr id="44" name="TextBox 43"/>
          <p:cNvSpPr txBox="1"/>
          <p:nvPr/>
        </p:nvSpPr>
        <p:spPr>
          <a:xfrm>
            <a:off x="944880" y="8822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MongoDB's document structure allows related information to be represented without requiring</a:t>
            </a:r>
          </a:p>
        </p:txBody>
      </p:sp>
      <p:sp>
        <p:nvSpPr>
          <p:cNvPr id="45" name="TextBox 44"/>
          <p:cNvSpPr txBox="1"/>
          <p:nvPr/>
        </p:nvSpPr>
        <p:spPr>
          <a:xfrm>
            <a:off x="716280" y="90002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every entity to have the same fixed set of fields. Indexes can be added later when query volume</a:t>
            </a:r>
          </a:p>
        </p:txBody>
      </p:sp>
      <p:sp>
        <p:nvSpPr>
          <p:cNvPr id="46" name="TextBox 45"/>
          <p:cNvSpPr txBox="1"/>
          <p:nvPr/>
        </p:nvSpPr>
        <p:spPr>
          <a:xfrm>
            <a:off x="716280" y="9178086"/>
            <a:ext cx="596646" cy="203301"/>
          </a:xfrm>
          <a:prstGeom prst="rect">
            <a:avLst/>
          </a:prstGeom>
          <a:noFill/>
        </p:spPr>
        <p:txBody>
          <a:bodyPr wrap="none" lIns="0" tIns="0" rIns="0" bIns="0" anchor="t">
            <a:spAutoFit/>
          </a:bodyPr>
          <a:lstStyle/>
          <a:p>
            <a:pPr algn="l"/>
            <a:r>
              <a:rPr sz="1200" b="0" i="0">
                <a:solidFill>
                  <a:srgbClr val="000000"/>
                </a:solidFill>
                <a:latin typeface="Times New Roman"/>
              </a:rPr>
              <a:t>increases.</a:t>
            </a:r>
          </a:p>
        </p:txBody>
      </p:sp>
      <p:sp>
        <p:nvSpPr>
          <p:cNvPr id="47" name="TextBox 46"/>
          <p:cNvSpPr txBox="1"/>
          <p:nvPr/>
        </p:nvSpPr>
        <p:spPr>
          <a:xfrm>
            <a:off x="944880" y="9406687"/>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MongoDB is the database identified in the project abstract. It is a document-oriented database</a:t>
            </a:r>
          </a:p>
        </p:txBody>
      </p:sp>
      <p:sp>
        <p:nvSpPr>
          <p:cNvPr id="48" name="TextBox 47"/>
          <p:cNvSpPr txBox="1"/>
          <p:nvPr/>
        </p:nvSpPr>
        <p:spPr>
          <a:xfrm>
            <a:off x="716280" y="9584487"/>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that stores records in collections. Its flexible document structure is suitable for inventory</a:t>
            </a:r>
          </a:p>
        </p:txBody>
      </p:sp>
      <p:sp>
        <p:nvSpPr>
          <p:cNvPr id="49" name="TextBox 48"/>
          <p:cNvSpPr txBox="1"/>
          <p:nvPr/>
        </p:nvSpPr>
        <p:spPr>
          <a:xfrm>
            <a:off x="716280" y="9762287"/>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applications in which medicine, supplier, batch, and transaction information may contain different</a:t>
            </a:r>
          </a:p>
        </p:txBody>
      </p:sp>
      <p:sp>
        <p:nvSpPr>
          <p:cNvPr id="50" name="TextBox 49"/>
          <p:cNvSpPr txBox="1"/>
          <p:nvPr/>
        </p:nvSpPr>
        <p:spPr>
          <a:xfrm>
            <a:off x="716280" y="9940087"/>
            <a:ext cx="376732" cy="203301"/>
          </a:xfrm>
          <a:prstGeom prst="rect">
            <a:avLst/>
          </a:prstGeom>
          <a:noFill/>
        </p:spPr>
        <p:txBody>
          <a:bodyPr wrap="none" lIns="0" tIns="0" rIns="0" bIns="0" anchor="t">
            <a:spAutoFit/>
          </a:bodyPr>
          <a:lstStyle/>
          <a:p>
            <a:pPr algn="l"/>
            <a:r>
              <a:rPr sz="1200" b="0" i="0">
                <a:solidFill>
                  <a:srgbClr val="000000"/>
                </a:solidFill>
                <a:latin typeface="Times New Roman"/>
              </a:rPr>
              <a:t>fields.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13</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944880" y="5801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database can organize the project around collections representing medicines, suppliers,</a:t>
            </a:r>
          </a:p>
        </p:txBody>
      </p:sp>
      <p:sp>
        <p:nvSpPr>
          <p:cNvPr id="5" name="TextBox 4"/>
          <p:cNvSpPr txBox="1"/>
          <p:nvPr/>
        </p:nvSpPr>
        <p:spPr>
          <a:xfrm>
            <a:off x="716280" y="757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batches, purchases, sales, and users or authorized staff. References or identifiers can be used to</a:t>
            </a:r>
          </a:p>
        </p:txBody>
      </p:sp>
      <p:sp>
        <p:nvSpPr>
          <p:cNvPr id="6" name="TextBox 5"/>
          <p:cNvSpPr txBox="1"/>
          <p:nvPr/>
        </p:nvSpPr>
        <p:spPr>
          <a:xfrm>
            <a:off x="716280" y="935786"/>
            <a:ext cx="4731868" cy="203301"/>
          </a:xfrm>
          <a:prstGeom prst="rect">
            <a:avLst/>
          </a:prstGeom>
          <a:noFill/>
        </p:spPr>
        <p:txBody>
          <a:bodyPr wrap="none" lIns="0" tIns="0" rIns="0" bIns="0" anchor="t">
            <a:spAutoFit/>
          </a:bodyPr>
          <a:lstStyle/>
          <a:p>
            <a:pPr algn="l"/>
            <a:r>
              <a:rPr sz="1200" b="0" i="0">
                <a:solidFill>
                  <a:srgbClr val="000000"/>
                </a:solidFill>
                <a:latin typeface="Times New Roman"/>
              </a:rPr>
              <a:t>associate transactions with the relevant medicine, supplier, and batch records.</a:t>
            </a:r>
          </a:p>
        </p:txBody>
      </p:sp>
      <p:sp>
        <p:nvSpPr>
          <p:cNvPr id="7" name="TextBox 6"/>
          <p:cNvSpPr txBox="1"/>
          <p:nvPr/>
        </p:nvSpPr>
        <p:spPr>
          <a:xfrm>
            <a:off x="944880" y="11643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MongoDB Compass provides a visual interface for inspecting collections, documents, indexes,</a:t>
            </a:r>
          </a:p>
        </p:txBody>
      </p:sp>
      <p:sp>
        <p:nvSpPr>
          <p:cNvPr id="8" name="TextBox 7"/>
          <p:cNvSpPr txBox="1"/>
          <p:nvPr/>
        </p:nvSpPr>
        <p:spPr>
          <a:xfrm>
            <a:off x="716280" y="1342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and query results. It is useful during development because the team can verify whether API requests</a:t>
            </a:r>
          </a:p>
        </p:txBody>
      </p:sp>
      <p:sp>
        <p:nvSpPr>
          <p:cNvPr id="9" name="TextBox 8"/>
          <p:cNvSpPr txBox="1"/>
          <p:nvPr/>
        </p:nvSpPr>
        <p:spPr>
          <a:xfrm>
            <a:off x="716280" y="1519986"/>
            <a:ext cx="2873502" cy="203301"/>
          </a:xfrm>
          <a:prstGeom prst="rect">
            <a:avLst/>
          </a:prstGeom>
          <a:noFill/>
        </p:spPr>
        <p:txBody>
          <a:bodyPr wrap="none" lIns="0" tIns="0" rIns="0" bIns="0" anchor="t">
            <a:spAutoFit/>
          </a:bodyPr>
          <a:lstStyle/>
          <a:p>
            <a:pPr algn="l"/>
            <a:r>
              <a:rPr sz="1200" b="0" i="0">
                <a:solidFill>
                  <a:srgbClr val="000000"/>
                </a:solidFill>
                <a:latin typeface="Times New Roman"/>
              </a:rPr>
              <a:t>are creating and updating the expected records.</a:t>
            </a:r>
          </a:p>
        </p:txBody>
      </p:sp>
      <p:sp>
        <p:nvSpPr>
          <p:cNvPr id="10" name="TextBox 9"/>
          <p:cNvSpPr txBox="1"/>
          <p:nvPr/>
        </p:nvSpPr>
        <p:spPr>
          <a:xfrm>
            <a:off x="716280" y="1786940"/>
            <a:ext cx="2301265" cy="246252"/>
          </a:xfrm>
          <a:prstGeom prst="rect">
            <a:avLst/>
          </a:prstGeom>
          <a:noFill/>
        </p:spPr>
        <p:txBody>
          <a:bodyPr wrap="none" lIns="0" tIns="0" rIns="0" bIns="0" anchor="t">
            <a:spAutoFit/>
          </a:bodyPr>
          <a:lstStyle/>
          <a:p>
            <a:pPr algn="l"/>
            <a:r>
              <a:rPr sz="1400" b="1" i="0">
                <a:solidFill>
                  <a:srgbClr val="000000"/>
                </a:solidFill>
                <a:latin typeface="Times New Roman"/>
              </a:rPr>
              <a:t>3.4 RESTful API Architecture</a:t>
            </a:r>
          </a:p>
        </p:txBody>
      </p:sp>
      <p:sp>
        <p:nvSpPr>
          <p:cNvPr id="11" name="TextBox 10"/>
          <p:cNvSpPr txBox="1"/>
          <p:nvPr/>
        </p:nvSpPr>
        <p:spPr>
          <a:xfrm>
            <a:off x="944880" y="20660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A consistent API contract improves integration. Clients should know which HTTP method,</a:t>
            </a:r>
          </a:p>
        </p:txBody>
      </p:sp>
      <p:sp>
        <p:nvSpPr>
          <p:cNvPr id="12" name="TextBox 11"/>
          <p:cNvSpPr txBox="1"/>
          <p:nvPr/>
        </p:nvSpPr>
        <p:spPr>
          <a:xfrm>
            <a:off x="716280" y="22438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endpoint, request body, and response format are expected for each operation. This consistency also</a:t>
            </a:r>
          </a:p>
        </p:txBody>
      </p:sp>
      <p:sp>
        <p:nvSpPr>
          <p:cNvPr id="13" name="TextBox 12"/>
          <p:cNvSpPr txBox="1"/>
          <p:nvPr/>
        </p:nvSpPr>
        <p:spPr>
          <a:xfrm>
            <a:off x="716280" y="2421686"/>
            <a:ext cx="2802026" cy="203301"/>
          </a:xfrm>
          <a:prstGeom prst="rect">
            <a:avLst/>
          </a:prstGeom>
          <a:noFill/>
        </p:spPr>
        <p:txBody>
          <a:bodyPr wrap="none" lIns="0" tIns="0" rIns="0" bIns="0" anchor="t">
            <a:spAutoFit/>
          </a:bodyPr>
          <a:lstStyle/>
          <a:p>
            <a:pPr algn="l"/>
            <a:r>
              <a:rPr sz="1200" b="0" i="0">
                <a:solidFill>
                  <a:srgbClr val="000000"/>
                </a:solidFill>
                <a:latin typeface="Times New Roman"/>
              </a:rPr>
              <a:t>makes Postman collections easier to organize.</a:t>
            </a:r>
          </a:p>
        </p:txBody>
      </p:sp>
      <p:sp>
        <p:nvSpPr>
          <p:cNvPr id="14" name="TextBox 13"/>
          <p:cNvSpPr txBox="1"/>
          <p:nvPr/>
        </p:nvSpPr>
        <p:spPr>
          <a:xfrm>
            <a:off x="944880" y="2650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Status codes provide a second level of communication. Successful requests, invalid input,</a:t>
            </a:r>
          </a:p>
        </p:txBody>
      </p:sp>
      <p:sp>
        <p:nvSpPr>
          <p:cNvPr id="15" name="TextBox 14"/>
          <p:cNvSpPr txBox="1"/>
          <p:nvPr/>
        </p:nvSpPr>
        <p:spPr>
          <a:xfrm>
            <a:off x="716280" y="28280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unauthorized operations, missing resources, and server errors should be distinguishable in the API</a:t>
            </a:r>
          </a:p>
        </p:txBody>
      </p:sp>
      <p:sp>
        <p:nvSpPr>
          <p:cNvPr id="16" name="TextBox 15"/>
          <p:cNvSpPr txBox="1"/>
          <p:nvPr/>
        </p:nvSpPr>
        <p:spPr>
          <a:xfrm>
            <a:off x="716280" y="3005886"/>
            <a:ext cx="571347" cy="203301"/>
          </a:xfrm>
          <a:prstGeom prst="rect">
            <a:avLst/>
          </a:prstGeom>
          <a:noFill/>
        </p:spPr>
        <p:txBody>
          <a:bodyPr wrap="none" lIns="0" tIns="0" rIns="0" bIns="0" anchor="t">
            <a:spAutoFit/>
          </a:bodyPr>
          <a:lstStyle/>
          <a:p>
            <a:pPr algn="l"/>
            <a:r>
              <a:rPr sz="1200" b="0" i="0">
                <a:solidFill>
                  <a:srgbClr val="000000"/>
                </a:solidFill>
                <a:latin typeface="Times New Roman"/>
              </a:rPr>
              <a:t>response.</a:t>
            </a:r>
          </a:p>
        </p:txBody>
      </p:sp>
      <p:sp>
        <p:nvSpPr>
          <p:cNvPr id="17" name="TextBox 16"/>
          <p:cNvSpPr txBox="1"/>
          <p:nvPr/>
        </p:nvSpPr>
        <p:spPr>
          <a:xfrm>
            <a:off x="944880" y="32344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RESTful API architecture provides the communication contract between the backend and its</a:t>
            </a:r>
          </a:p>
        </p:txBody>
      </p:sp>
      <p:sp>
        <p:nvSpPr>
          <p:cNvPr id="18" name="TextBox 17"/>
          <p:cNvSpPr txBox="1"/>
          <p:nvPr/>
        </p:nvSpPr>
        <p:spPr>
          <a:xfrm>
            <a:off x="716280" y="34122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clients. Resources such as medicines, suppliers, batches, purchases, and sales can be represented as</a:t>
            </a:r>
          </a:p>
        </p:txBody>
      </p:sp>
      <p:sp>
        <p:nvSpPr>
          <p:cNvPr id="19" name="TextBox 18"/>
          <p:cNvSpPr txBox="1"/>
          <p:nvPr/>
        </p:nvSpPr>
        <p:spPr>
          <a:xfrm>
            <a:off x="716280" y="35900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API resources. Clients send HTTP requests and the server responds with structured data, commonly</a:t>
            </a:r>
          </a:p>
        </p:txBody>
      </p:sp>
      <p:sp>
        <p:nvSpPr>
          <p:cNvPr id="20" name="TextBox 19"/>
          <p:cNvSpPr txBox="1"/>
          <p:nvPr/>
        </p:nvSpPr>
        <p:spPr>
          <a:xfrm>
            <a:off x="716280" y="3767886"/>
            <a:ext cx="770534" cy="203301"/>
          </a:xfrm>
          <a:prstGeom prst="rect">
            <a:avLst/>
          </a:prstGeom>
          <a:noFill/>
        </p:spPr>
        <p:txBody>
          <a:bodyPr wrap="none" lIns="0" tIns="0" rIns="0" bIns="0" anchor="t">
            <a:spAutoFit/>
          </a:bodyPr>
          <a:lstStyle/>
          <a:p>
            <a:pPr algn="l"/>
            <a:r>
              <a:rPr sz="1200" b="0" i="0">
                <a:solidFill>
                  <a:srgbClr val="000000"/>
                </a:solidFill>
                <a:latin typeface="Times New Roman"/>
              </a:rPr>
              <a:t>using JSON.</a:t>
            </a:r>
          </a:p>
        </p:txBody>
      </p:sp>
      <p:sp>
        <p:nvSpPr>
          <p:cNvPr id="21" name="TextBox 20"/>
          <p:cNvSpPr txBox="1"/>
          <p:nvPr/>
        </p:nvSpPr>
        <p:spPr>
          <a:xfrm>
            <a:off x="944880" y="3996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 consistent REST design improves maintainability. GET requests can retrieve resources, POST</a:t>
            </a:r>
          </a:p>
        </p:txBody>
      </p:sp>
      <p:sp>
        <p:nvSpPr>
          <p:cNvPr id="22" name="TextBox 21"/>
          <p:cNvSpPr txBox="1"/>
          <p:nvPr/>
        </p:nvSpPr>
        <p:spPr>
          <a:xfrm>
            <a:off x="716280" y="4174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requests can create new resources, PUT or PATCH requests can modify existing information, and</a:t>
            </a:r>
          </a:p>
        </p:txBody>
      </p:sp>
      <p:sp>
        <p:nvSpPr>
          <p:cNvPr id="23" name="TextBox 22"/>
          <p:cNvSpPr txBox="1"/>
          <p:nvPr/>
        </p:nvSpPr>
        <p:spPr>
          <a:xfrm>
            <a:off x="716280" y="4352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DELETE requests can remove records when permitted. Validation and authorization should be</a:t>
            </a:r>
          </a:p>
        </p:txBody>
      </p:sp>
      <p:sp>
        <p:nvSpPr>
          <p:cNvPr id="24" name="TextBox 23"/>
          <p:cNvSpPr txBox="1"/>
          <p:nvPr/>
        </p:nvSpPr>
        <p:spPr>
          <a:xfrm>
            <a:off x="716280" y="4529886"/>
            <a:ext cx="3055772" cy="203301"/>
          </a:xfrm>
          <a:prstGeom prst="rect">
            <a:avLst/>
          </a:prstGeom>
          <a:noFill/>
        </p:spPr>
        <p:txBody>
          <a:bodyPr wrap="none" lIns="0" tIns="0" rIns="0" bIns="0" anchor="t">
            <a:spAutoFit/>
          </a:bodyPr>
          <a:lstStyle/>
          <a:p>
            <a:pPr algn="l"/>
            <a:r>
              <a:rPr sz="1200" b="0" i="0">
                <a:solidFill>
                  <a:srgbClr val="000000"/>
                </a:solidFill>
                <a:latin typeface="Times New Roman"/>
              </a:rPr>
              <a:t>applied before sensitive operations are completed.</a:t>
            </a:r>
          </a:p>
        </p:txBody>
      </p:sp>
      <p:sp>
        <p:nvSpPr>
          <p:cNvPr id="25" name="TextBox 24"/>
          <p:cNvSpPr txBox="1"/>
          <p:nvPr/>
        </p:nvSpPr>
        <p:spPr>
          <a:xfrm>
            <a:off x="944880" y="47584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API responses should provide meaningful status codes and messages. Successful requests,</a:t>
            </a:r>
          </a:p>
        </p:txBody>
      </p:sp>
      <p:sp>
        <p:nvSpPr>
          <p:cNvPr id="26" name="TextBox 25"/>
          <p:cNvSpPr txBox="1"/>
          <p:nvPr/>
        </p:nvSpPr>
        <p:spPr>
          <a:xfrm>
            <a:off x="716280" y="4936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validation failures, unauthorized requests, missing records, and server errors should be</a:t>
            </a:r>
          </a:p>
        </p:txBody>
      </p:sp>
      <p:sp>
        <p:nvSpPr>
          <p:cNvPr id="27" name="TextBox 26"/>
          <p:cNvSpPr txBox="1"/>
          <p:nvPr/>
        </p:nvSpPr>
        <p:spPr>
          <a:xfrm>
            <a:off x="716280" y="5114086"/>
            <a:ext cx="3458260" cy="203301"/>
          </a:xfrm>
          <a:prstGeom prst="rect">
            <a:avLst/>
          </a:prstGeom>
          <a:noFill/>
        </p:spPr>
        <p:txBody>
          <a:bodyPr wrap="none" lIns="0" tIns="0" rIns="0" bIns="0" anchor="t">
            <a:spAutoFit/>
          </a:bodyPr>
          <a:lstStyle/>
          <a:p>
            <a:pPr algn="l"/>
            <a:r>
              <a:rPr sz="1200" b="0" i="0">
                <a:solidFill>
                  <a:srgbClr val="000000"/>
                </a:solidFill>
                <a:latin typeface="Times New Roman"/>
              </a:rPr>
              <a:t>distinguishable so that clients can respond appropriately.</a:t>
            </a:r>
          </a:p>
        </p:txBody>
      </p:sp>
      <p:sp>
        <p:nvSpPr>
          <p:cNvPr id="28" name="TextBox 27"/>
          <p:cNvSpPr txBox="1"/>
          <p:nvPr/>
        </p:nvSpPr>
        <p:spPr>
          <a:xfrm>
            <a:off x="716280" y="5381040"/>
            <a:ext cx="2662199" cy="246252"/>
          </a:xfrm>
          <a:prstGeom prst="rect">
            <a:avLst/>
          </a:prstGeom>
          <a:noFill/>
        </p:spPr>
        <p:txBody>
          <a:bodyPr wrap="none" lIns="0" tIns="0" rIns="0" bIns="0" anchor="t">
            <a:spAutoFit/>
          </a:bodyPr>
          <a:lstStyle/>
          <a:p>
            <a:pPr algn="l"/>
            <a:r>
              <a:rPr sz="1400" b="1" i="0">
                <a:solidFill>
                  <a:srgbClr val="000000"/>
                </a:solidFill>
                <a:latin typeface="Times New Roman"/>
              </a:rPr>
              <a:t>3.5 Development and Testing Tools</a:t>
            </a:r>
          </a:p>
        </p:txBody>
      </p:sp>
      <p:sp>
        <p:nvSpPr>
          <p:cNvPr id="29" name="TextBox 28"/>
          <p:cNvSpPr txBox="1"/>
          <p:nvPr/>
        </p:nvSpPr>
        <p:spPr>
          <a:xfrm>
            <a:off x="944880" y="56601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selected tools support the complete development cycle. Code is written and debugged in</a:t>
            </a:r>
          </a:p>
        </p:txBody>
      </p:sp>
      <p:sp>
        <p:nvSpPr>
          <p:cNvPr id="30" name="TextBox 29"/>
          <p:cNvSpPr txBox="1"/>
          <p:nvPr/>
        </p:nvSpPr>
        <p:spPr>
          <a:xfrm>
            <a:off x="716280" y="5837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Visual Studio Code, packages are maintained through npm, API behavior is tested in Postman, and</a:t>
            </a:r>
          </a:p>
        </p:txBody>
      </p:sp>
      <p:sp>
        <p:nvSpPr>
          <p:cNvPr id="31" name="TextBox 30"/>
          <p:cNvSpPr txBox="1"/>
          <p:nvPr/>
        </p:nvSpPr>
        <p:spPr>
          <a:xfrm>
            <a:off x="716280" y="6015786"/>
            <a:ext cx="3001060" cy="203301"/>
          </a:xfrm>
          <a:prstGeom prst="rect">
            <a:avLst/>
          </a:prstGeom>
          <a:noFill/>
        </p:spPr>
        <p:txBody>
          <a:bodyPr wrap="none" lIns="0" tIns="0" rIns="0" bIns="0" anchor="t">
            <a:spAutoFit/>
          </a:bodyPr>
          <a:lstStyle/>
          <a:p>
            <a:pPr algn="l"/>
            <a:r>
              <a:rPr sz="1200" b="0" i="0">
                <a:solidFill>
                  <a:srgbClr val="000000"/>
                </a:solidFill>
                <a:latin typeface="Times New Roman"/>
              </a:rPr>
              <a:t>database state is checked in MongoDB Compass.</a:t>
            </a:r>
          </a:p>
        </p:txBody>
      </p:sp>
      <p:sp>
        <p:nvSpPr>
          <p:cNvPr id="32" name="TextBox 31"/>
          <p:cNvSpPr txBox="1"/>
          <p:nvPr/>
        </p:nvSpPr>
        <p:spPr>
          <a:xfrm>
            <a:off x="944880" y="62443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This combination is especially useful for a backend project because it allows the API and</a:t>
            </a:r>
          </a:p>
        </p:txBody>
      </p:sp>
      <p:sp>
        <p:nvSpPr>
          <p:cNvPr id="33" name="TextBox 32"/>
          <p:cNvSpPr txBox="1"/>
          <p:nvPr/>
        </p:nvSpPr>
        <p:spPr>
          <a:xfrm>
            <a:off x="716280" y="6422186"/>
            <a:ext cx="3627120" cy="203301"/>
          </a:xfrm>
          <a:prstGeom prst="rect">
            <a:avLst/>
          </a:prstGeom>
          <a:noFill/>
        </p:spPr>
        <p:txBody>
          <a:bodyPr wrap="none" lIns="0" tIns="0" rIns="0" bIns="0" anchor="t">
            <a:spAutoFit/>
          </a:bodyPr>
          <a:lstStyle/>
          <a:p>
            <a:pPr algn="l"/>
            <a:r>
              <a:rPr sz="1200" b="0" i="0">
                <a:solidFill>
                  <a:srgbClr val="000000"/>
                </a:solidFill>
                <a:latin typeface="Times New Roman"/>
              </a:rPr>
              <a:t>database to be tested independently of a graphical frontend.</a:t>
            </a:r>
          </a:p>
        </p:txBody>
      </p:sp>
      <p:sp>
        <p:nvSpPr>
          <p:cNvPr id="34" name="TextBox 33"/>
          <p:cNvSpPr txBox="1"/>
          <p:nvPr/>
        </p:nvSpPr>
        <p:spPr>
          <a:xfrm>
            <a:off x="944880" y="66507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Visual Studio Code is used as the primary development environment. It supports JavaScript</a:t>
            </a:r>
          </a:p>
        </p:txBody>
      </p:sp>
      <p:sp>
        <p:nvSpPr>
          <p:cNvPr id="35" name="TextBox 34"/>
          <p:cNvSpPr txBox="1"/>
          <p:nvPr/>
        </p:nvSpPr>
        <p:spPr>
          <a:xfrm>
            <a:off x="716280" y="68285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editing, project navigation, terminal commands, debugging extensions, and source control</a:t>
            </a:r>
          </a:p>
        </p:txBody>
      </p:sp>
      <p:sp>
        <p:nvSpPr>
          <p:cNvPr id="36" name="TextBox 35"/>
          <p:cNvSpPr txBox="1"/>
          <p:nvPr/>
        </p:nvSpPr>
        <p:spPr>
          <a:xfrm>
            <a:off x="716280" y="7006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workflows. npm manages the project's JavaScript dependencies and provides scripts for common</a:t>
            </a:r>
          </a:p>
        </p:txBody>
      </p:sp>
      <p:sp>
        <p:nvSpPr>
          <p:cNvPr id="37" name="TextBox 36"/>
          <p:cNvSpPr txBox="1"/>
          <p:nvPr/>
        </p:nvSpPr>
        <p:spPr>
          <a:xfrm>
            <a:off x="716280" y="7184186"/>
            <a:ext cx="1523847" cy="203301"/>
          </a:xfrm>
          <a:prstGeom prst="rect">
            <a:avLst/>
          </a:prstGeom>
          <a:noFill/>
        </p:spPr>
        <p:txBody>
          <a:bodyPr wrap="none" lIns="0" tIns="0" rIns="0" bIns="0" anchor="t">
            <a:spAutoFit/>
          </a:bodyPr>
          <a:lstStyle/>
          <a:p>
            <a:pPr algn="l"/>
            <a:r>
              <a:rPr sz="1200" b="0" i="0">
                <a:solidFill>
                  <a:srgbClr val="000000"/>
                </a:solidFill>
                <a:latin typeface="Times New Roman"/>
              </a:rPr>
              <a:t>development commands.</a:t>
            </a:r>
          </a:p>
        </p:txBody>
      </p:sp>
      <p:sp>
        <p:nvSpPr>
          <p:cNvPr id="38" name="TextBox 37"/>
          <p:cNvSpPr txBox="1"/>
          <p:nvPr/>
        </p:nvSpPr>
        <p:spPr>
          <a:xfrm>
            <a:off x="944880" y="74127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Postman is used to test the REST APIs independently of a frontend. This is important for a</a:t>
            </a:r>
          </a:p>
        </p:txBody>
      </p:sp>
      <p:sp>
        <p:nvSpPr>
          <p:cNvPr id="39" name="TextBox 38"/>
          <p:cNvSpPr txBox="1"/>
          <p:nvPr/>
        </p:nvSpPr>
        <p:spPr>
          <a:xfrm>
            <a:off x="716280" y="75905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backend project because each API operation can be verified with controlled input and the returned</a:t>
            </a:r>
          </a:p>
        </p:txBody>
      </p:sp>
      <p:sp>
        <p:nvSpPr>
          <p:cNvPr id="40" name="TextBox 39"/>
          <p:cNvSpPr txBox="1"/>
          <p:nvPr/>
        </p:nvSpPr>
        <p:spPr>
          <a:xfrm>
            <a:off x="716280" y="7768386"/>
            <a:ext cx="2928823" cy="203301"/>
          </a:xfrm>
          <a:prstGeom prst="rect">
            <a:avLst/>
          </a:prstGeom>
          <a:noFill/>
        </p:spPr>
        <p:txBody>
          <a:bodyPr wrap="none" lIns="0" tIns="0" rIns="0" bIns="0" anchor="t">
            <a:spAutoFit/>
          </a:bodyPr>
          <a:lstStyle/>
          <a:p>
            <a:pPr algn="l"/>
            <a:r>
              <a:rPr sz="1200" b="0" i="0">
                <a:solidFill>
                  <a:srgbClr val="000000"/>
                </a:solidFill>
                <a:latin typeface="Times New Roman"/>
              </a:rPr>
              <a:t>status code and response body can be inspected.</a:t>
            </a:r>
          </a:p>
        </p:txBody>
      </p:sp>
      <p:sp>
        <p:nvSpPr>
          <p:cNvPr id="41" name="TextBox 40"/>
          <p:cNvSpPr txBox="1"/>
          <p:nvPr/>
        </p:nvSpPr>
        <p:spPr>
          <a:xfrm>
            <a:off x="944880" y="79969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MongoDB Compass is used to verify database state. Together, Postman and Compass provide</a:t>
            </a:r>
          </a:p>
        </p:txBody>
      </p:sp>
      <p:sp>
        <p:nvSpPr>
          <p:cNvPr id="42" name="TextBox 41"/>
          <p:cNvSpPr txBox="1"/>
          <p:nvPr/>
        </p:nvSpPr>
        <p:spPr>
          <a:xfrm>
            <a:off x="716280" y="81747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two complementary views of the system: Postman verifies the API behavior from the client</a:t>
            </a:r>
          </a:p>
        </p:txBody>
      </p:sp>
      <p:sp>
        <p:nvSpPr>
          <p:cNvPr id="43" name="TextBox 42"/>
          <p:cNvSpPr txBox="1"/>
          <p:nvPr/>
        </p:nvSpPr>
        <p:spPr>
          <a:xfrm>
            <a:off x="716280" y="8352586"/>
            <a:ext cx="4279087" cy="203301"/>
          </a:xfrm>
          <a:prstGeom prst="rect">
            <a:avLst/>
          </a:prstGeom>
          <a:noFill/>
        </p:spPr>
        <p:txBody>
          <a:bodyPr wrap="none" lIns="0" tIns="0" rIns="0" bIns="0" anchor="t">
            <a:spAutoFit/>
          </a:bodyPr>
          <a:lstStyle/>
          <a:p>
            <a:pPr algn="l"/>
            <a:r>
              <a:rPr sz="1200" b="0" i="0">
                <a:solidFill>
                  <a:srgbClr val="000000"/>
                </a:solidFill>
                <a:latin typeface="Times New Roman"/>
              </a:rPr>
              <a:t>perspective, while Compass verifies the data persisted in the database.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14</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849498" y="579322"/>
            <a:ext cx="3861003" cy="281432"/>
          </a:xfrm>
          <a:prstGeom prst="rect">
            <a:avLst/>
          </a:prstGeom>
          <a:noFill/>
        </p:spPr>
        <p:txBody>
          <a:bodyPr wrap="none" lIns="0" tIns="0" rIns="0" bIns="0" anchor="t">
            <a:spAutoFit/>
          </a:bodyPr>
          <a:lstStyle/>
          <a:p>
            <a:pPr algn="ctr"/>
            <a:r>
              <a:rPr sz="1600" b="1" i="0">
                <a:solidFill>
                  <a:srgbClr val="000000"/>
                </a:solidFill>
                <a:latin typeface="Times New Roman"/>
              </a:rPr>
              <a:t>CHAPTER - 4 SYSTEM ARCHITECTURE</a:t>
            </a:r>
          </a:p>
        </p:txBody>
      </p:sp>
      <p:sp>
        <p:nvSpPr>
          <p:cNvPr id="5" name="TextBox 4"/>
          <p:cNvSpPr txBox="1"/>
          <p:nvPr/>
        </p:nvSpPr>
        <p:spPr>
          <a:xfrm>
            <a:off x="716280" y="948740"/>
            <a:ext cx="2844266" cy="246252"/>
          </a:xfrm>
          <a:prstGeom prst="rect">
            <a:avLst/>
          </a:prstGeom>
          <a:noFill/>
        </p:spPr>
        <p:txBody>
          <a:bodyPr wrap="none" lIns="0" tIns="0" rIns="0" bIns="0" anchor="t">
            <a:spAutoFit/>
          </a:bodyPr>
          <a:lstStyle/>
          <a:p>
            <a:pPr algn="l"/>
            <a:r>
              <a:rPr sz="1400" b="1" i="0">
                <a:solidFill>
                  <a:srgbClr val="000000"/>
                </a:solidFill>
                <a:latin typeface="Times New Roman"/>
              </a:rPr>
              <a:t>4.1 High-Level Architecture Diagram</a:t>
            </a:r>
          </a:p>
        </p:txBody>
      </p:sp>
      <p:sp>
        <p:nvSpPr>
          <p:cNvPr id="6" name="TextBox 5"/>
          <p:cNvSpPr txBox="1"/>
          <p:nvPr/>
        </p:nvSpPr>
        <p:spPr>
          <a:xfrm>
            <a:off x="944880" y="1227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architecture follows a client–server pattern. The client does not directly manipulate</a:t>
            </a:r>
          </a:p>
        </p:txBody>
      </p:sp>
      <p:sp>
        <p:nvSpPr>
          <p:cNvPr id="7" name="TextBox 6"/>
          <p:cNvSpPr txBox="1"/>
          <p:nvPr/>
        </p:nvSpPr>
        <p:spPr>
          <a:xfrm>
            <a:off x="716280" y="14056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MongoDB; instead, it communicates with the Express.js API. This provides a controlled boundary</a:t>
            </a:r>
          </a:p>
        </p:txBody>
      </p:sp>
      <p:sp>
        <p:nvSpPr>
          <p:cNvPr id="8" name="TextBox 7"/>
          <p:cNvSpPr txBox="1"/>
          <p:nvPr/>
        </p:nvSpPr>
        <p:spPr>
          <a:xfrm>
            <a:off x="716280" y="1583486"/>
            <a:ext cx="6102858" cy="203301"/>
          </a:xfrm>
          <a:prstGeom prst="rect">
            <a:avLst/>
          </a:prstGeom>
          <a:noFill/>
        </p:spPr>
        <p:txBody>
          <a:bodyPr wrap="none" lIns="0" tIns="0" rIns="0" bIns="0" anchor="t">
            <a:spAutoFit/>
          </a:bodyPr>
          <a:lstStyle/>
          <a:p>
            <a:pPr algn="ctr"/>
            <a:r>
              <a:rPr sz="1200" b="0" i="0">
                <a:solidFill>
                  <a:srgbClr val="000000"/>
                </a:solidFill>
                <a:latin typeface="Times New Roman"/>
              </a:rPr>
              <a:t>where validation, authentication, and business rules can be applied before data reaches the database.</a:t>
            </a:r>
          </a:p>
        </p:txBody>
      </p:sp>
      <p:sp>
        <p:nvSpPr>
          <p:cNvPr id="9" name="TextBox 8"/>
          <p:cNvSpPr txBox="1"/>
          <p:nvPr/>
        </p:nvSpPr>
        <p:spPr>
          <a:xfrm>
            <a:off x="944880" y="18120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system follows a layered architecture in which the client communicates with the REST API,</a:t>
            </a:r>
          </a:p>
        </p:txBody>
      </p:sp>
      <p:sp>
        <p:nvSpPr>
          <p:cNvPr id="10" name="TextBox 9"/>
          <p:cNvSpPr txBox="1"/>
          <p:nvPr/>
        </p:nvSpPr>
        <p:spPr>
          <a:xfrm>
            <a:off x="716280" y="19898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the backend applies business logic, and MongoDB stores the inventory data. The following</a:t>
            </a:r>
          </a:p>
        </p:txBody>
      </p:sp>
      <p:sp>
        <p:nvSpPr>
          <p:cNvPr id="11" name="TextBox 10"/>
          <p:cNvSpPr txBox="1"/>
          <p:nvPr/>
        </p:nvSpPr>
        <p:spPr>
          <a:xfrm>
            <a:off x="716280" y="2167686"/>
            <a:ext cx="5688330" cy="203301"/>
          </a:xfrm>
          <a:prstGeom prst="rect">
            <a:avLst/>
          </a:prstGeom>
          <a:noFill/>
        </p:spPr>
        <p:txBody>
          <a:bodyPr wrap="none" lIns="0" tIns="0" rIns="0" bIns="0" anchor="t">
            <a:spAutoFit/>
          </a:bodyPr>
          <a:lstStyle/>
          <a:p>
            <a:pPr algn="ctr"/>
            <a:r>
              <a:rPr sz="1200" b="0" i="0">
                <a:solidFill>
                  <a:srgbClr val="000000"/>
                </a:solidFill>
                <a:latin typeface="Times New Roman"/>
              </a:rPr>
              <a:t>representation is a logical architecture based on the project modules described in the abstract.</a:t>
            </a:r>
          </a:p>
        </p:txBody>
      </p:sp>
      <p:sp>
        <p:nvSpPr>
          <p:cNvPr id="13" name="TextBox 12"/>
          <p:cNvSpPr txBox="1"/>
          <p:nvPr/>
        </p:nvSpPr>
        <p:spPr>
          <a:xfrm>
            <a:off x="944880" y="2679750"/>
            <a:ext cx="5658002" cy="205130"/>
          </a:xfrm>
          <a:prstGeom prst="rect">
            <a:avLst/>
          </a:prstGeom>
          <a:noFill/>
        </p:spPr>
        <p:txBody>
          <a:bodyPr wrap="none" lIns="0" tIns="0" rIns="0" bIns="0" anchor="t">
            <a:spAutoFit/>
          </a:bodyPr>
          <a:lstStyle/>
          <a:p>
            <a:pPr algn="ctr"/>
            <a:r>
              <a:rPr sz="1200" b="0" i="0">
                <a:solidFill>
                  <a:srgbClr val="000000"/>
                </a:solidFill>
                <a:latin typeface="Times New Roman"/>
              </a:rPr>
              <a:t>Figure 4.1: High-Level Architecture – Client → REST API → Business Logic → MongoDB</a:t>
            </a:r>
          </a:p>
        </p:txBody>
      </p:sp>
      <p:sp>
        <p:nvSpPr>
          <p:cNvPr id="14" name="TextBox 13"/>
          <p:cNvSpPr txBox="1"/>
          <p:nvPr/>
        </p:nvSpPr>
        <p:spPr>
          <a:xfrm>
            <a:off x="944880" y="290835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request flow begins when an authorized client sends an HTTP request. Express.js receives</a:t>
            </a:r>
          </a:p>
        </p:txBody>
      </p:sp>
      <p:sp>
        <p:nvSpPr>
          <p:cNvPr id="15" name="TextBox 14"/>
          <p:cNvSpPr txBox="1"/>
          <p:nvPr/>
        </p:nvSpPr>
        <p:spPr>
          <a:xfrm>
            <a:off x="716280" y="30861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the request, middleware performs common processing, and the appropriate module handles the</a:t>
            </a:r>
          </a:p>
        </p:txBody>
      </p:sp>
      <p:sp>
        <p:nvSpPr>
          <p:cNvPr id="16" name="TextBox 15"/>
          <p:cNvSpPr txBox="1"/>
          <p:nvPr/>
        </p:nvSpPr>
        <p:spPr>
          <a:xfrm>
            <a:off x="716280" y="326395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operation. The database layer then reads or writes the required document data before the backend</a:t>
            </a:r>
          </a:p>
        </p:txBody>
      </p:sp>
      <p:sp>
        <p:nvSpPr>
          <p:cNvPr id="17" name="TextBox 16"/>
          <p:cNvSpPr txBox="1"/>
          <p:nvPr/>
        </p:nvSpPr>
        <p:spPr>
          <a:xfrm>
            <a:off x="716280" y="3441750"/>
            <a:ext cx="1896160" cy="203301"/>
          </a:xfrm>
          <a:prstGeom prst="rect">
            <a:avLst/>
          </a:prstGeom>
          <a:noFill/>
        </p:spPr>
        <p:txBody>
          <a:bodyPr wrap="none" lIns="0" tIns="0" rIns="0" bIns="0" anchor="t">
            <a:spAutoFit/>
          </a:bodyPr>
          <a:lstStyle/>
          <a:p>
            <a:pPr algn="l"/>
            <a:r>
              <a:rPr sz="1200" b="0" i="0">
                <a:solidFill>
                  <a:srgbClr val="000000"/>
                </a:solidFill>
                <a:latin typeface="Times New Roman"/>
              </a:rPr>
              <a:t>returns a response to the client.</a:t>
            </a:r>
          </a:p>
        </p:txBody>
      </p:sp>
      <p:sp>
        <p:nvSpPr>
          <p:cNvPr id="18" name="TextBox 17"/>
          <p:cNvSpPr txBox="1"/>
          <p:nvPr/>
        </p:nvSpPr>
        <p:spPr>
          <a:xfrm>
            <a:off x="716280" y="3708704"/>
            <a:ext cx="4780686" cy="246252"/>
          </a:xfrm>
          <a:prstGeom prst="rect">
            <a:avLst/>
          </a:prstGeom>
          <a:noFill/>
        </p:spPr>
        <p:txBody>
          <a:bodyPr wrap="none" lIns="0" tIns="0" rIns="0" bIns="0" anchor="t">
            <a:spAutoFit/>
          </a:bodyPr>
          <a:lstStyle/>
          <a:p>
            <a:pPr algn="l"/>
            <a:r>
              <a:rPr sz="1400" b="1" i="0">
                <a:solidFill>
                  <a:srgbClr val="000000"/>
                </a:solidFill>
                <a:latin typeface="Times New Roman"/>
              </a:rPr>
              <a:t>4.2 Description of Each Layer (Frontend / Backend / Database)</a:t>
            </a:r>
          </a:p>
        </p:txBody>
      </p:sp>
      <p:sp>
        <p:nvSpPr>
          <p:cNvPr id="19" name="TextBox 18"/>
          <p:cNvSpPr txBox="1"/>
          <p:nvPr/>
        </p:nvSpPr>
        <p:spPr>
          <a:xfrm>
            <a:off x="944880" y="398785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separation of layers improves maintainability. A future frontend can be replaced or</a:t>
            </a:r>
          </a:p>
        </p:txBody>
      </p:sp>
      <p:sp>
        <p:nvSpPr>
          <p:cNvPr id="20" name="TextBox 19"/>
          <p:cNvSpPr txBox="1"/>
          <p:nvPr/>
        </p:nvSpPr>
        <p:spPr>
          <a:xfrm>
            <a:off x="716280" y="416565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redesigned while keeping the same backend API. Similarly, database implementation details remain</a:t>
            </a:r>
          </a:p>
        </p:txBody>
      </p:sp>
      <p:sp>
        <p:nvSpPr>
          <p:cNvPr id="21" name="TextBox 20"/>
          <p:cNvSpPr txBox="1"/>
          <p:nvPr/>
        </p:nvSpPr>
        <p:spPr>
          <a:xfrm>
            <a:off x="716280" y="4343450"/>
            <a:ext cx="3932072" cy="203301"/>
          </a:xfrm>
          <a:prstGeom prst="rect">
            <a:avLst/>
          </a:prstGeom>
          <a:noFill/>
        </p:spPr>
        <p:txBody>
          <a:bodyPr wrap="none" lIns="0" tIns="0" rIns="0" bIns="0" anchor="t">
            <a:spAutoFit/>
          </a:bodyPr>
          <a:lstStyle/>
          <a:p>
            <a:pPr algn="l"/>
            <a:r>
              <a:rPr sz="1200" b="0" i="0">
                <a:solidFill>
                  <a:srgbClr val="000000"/>
                </a:solidFill>
                <a:latin typeface="Times New Roman"/>
              </a:rPr>
              <a:t>hidden from the client because only the API contract is exposed.</a:t>
            </a:r>
          </a:p>
        </p:txBody>
      </p:sp>
      <p:sp>
        <p:nvSpPr>
          <p:cNvPr id="22" name="TextBox 21"/>
          <p:cNvSpPr txBox="1"/>
          <p:nvPr/>
        </p:nvSpPr>
        <p:spPr>
          <a:xfrm>
            <a:off x="944880" y="457205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client layer is the consumer of the RESTful services. It may be an administrative web</a:t>
            </a:r>
          </a:p>
        </p:txBody>
      </p:sp>
      <p:sp>
        <p:nvSpPr>
          <p:cNvPr id="23" name="TextBox 22"/>
          <p:cNvSpPr txBox="1"/>
          <p:nvPr/>
        </p:nvSpPr>
        <p:spPr>
          <a:xfrm>
            <a:off x="716280" y="474985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interface, API testing client, or another authorized application. The client is responsible for</a:t>
            </a:r>
          </a:p>
        </p:txBody>
      </p:sp>
      <p:sp>
        <p:nvSpPr>
          <p:cNvPr id="24" name="TextBox 23"/>
          <p:cNvSpPr txBox="1"/>
          <p:nvPr/>
        </p:nvSpPr>
        <p:spPr>
          <a:xfrm>
            <a:off x="716280" y="4927650"/>
            <a:ext cx="5925617" cy="203301"/>
          </a:xfrm>
          <a:prstGeom prst="rect">
            <a:avLst/>
          </a:prstGeom>
          <a:noFill/>
        </p:spPr>
        <p:txBody>
          <a:bodyPr wrap="none" lIns="0" tIns="0" rIns="0" bIns="0" anchor="t">
            <a:spAutoFit/>
          </a:bodyPr>
          <a:lstStyle/>
          <a:p>
            <a:pPr algn="ctr"/>
            <a:r>
              <a:rPr sz="1200" b="0" i="0">
                <a:solidFill>
                  <a:srgbClr val="000000"/>
                </a:solidFill>
                <a:latin typeface="Times New Roman"/>
              </a:rPr>
              <a:t>presenting forms and results, while the backend remains responsible for enforcing business rules.</a:t>
            </a:r>
          </a:p>
        </p:txBody>
      </p:sp>
      <p:sp>
        <p:nvSpPr>
          <p:cNvPr id="25" name="TextBox 24"/>
          <p:cNvSpPr txBox="1"/>
          <p:nvPr/>
        </p:nvSpPr>
        <p:spPr>
          <a:xfrm>
            <a:off x="944880" y="515625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backend layer contains Node.js and Express.js. It processes requests, validates input,</a:t>
            </a:r>
          </a:p>
        </p:txBody>
      </p:sp>
      <p:sp>
        <p:nvSpPr>
          <p:cNvPr id="26" name="TextBox 25"/>
          <p:cNvSpPr txBox="1"/>
          <p:nvPr/>
        </p:nvSpPr>
        <p:spPr>
          <a:xfrm>
            <a:off x="716280" y="53340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performs inventory calculations, applies access control, and communicates with MongoDB. This</a:t>
            </a:r>
          </a:p>
        </p:txBody>
      </p:sp>
      <p:sp>
        <p:nvSpPr>
          <p:cNvPr id="27" name="TextBox 26"/>
          <p:cNvSpPr txBox="1"/>
          <p:nvPr/>
        </p:nvSpPr>
        <p:spPr>
          <a:xfrm>
            <a:off x="716280" y="5511850"/>
            <a:ext cx="3263493" cy="203301"/>
          </a:xfrm>
          <a:prstGeom prst="rect">
            <a:avLst/>
          </a:prstGeom>
          <a:noFill/>
        </p:spPr>
        <p:txBody>
          <a:bodyPr wrap="none" lIns="0" tIns="0" rIns="0" bIns="0" anchor="t">
            <a:spAutoFit/>
          </a:bodyPr>
          <a:lstStyle/>
          <a:p>
            <a:pPr algn="l"/>
            <a:r>
              <a:rPr sz="1200" b="0" i="0">
                <a:solidFill>
                  <a:srgbClr val="000000"/>
                </a:solidFill>
                <a:latin typeface="Times New Roman"/>
              </a:rPr>
              <a:t>layer is the main implementation focus of the project.</a:t>
            </a:r>
          </a:p>
        </p:txBody>
      </p:sp>
      <p:sp>
        <p:nvSpPr>
          <p:cNvPr id="28" name="TextBox 27"/>
          <p:cNvSpPr txBox="1"/>
          <p:nvPr/>
        </p:nvSpPr>
        <p:spPr>
          <a:xfrm>
            <a:off x="944880" y="574045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database layer is MongoDB. It stores medicine, supplier, batch, purchase, sales, stock, and</a:t>
            </a:r>
          </a:p>
        </p:txBody>
      </p:sp>
      <p:sp>
        <p:nvSpPr>
          <p:cNvPr id="29" name="TextBox 28"/>
          <p:cNvSpPr txBox="1"/>
          <p:nvPr/>
        </p:nvSpPr>
        <p:spPr>
          <a:xfrm>
            <a:off x="716280" y="59182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access-related records. Database identifiers and references allow related records to be connected</a:t>
            </a:r>
          </a:p>
        </p:txBody>
      </p:sp>
      <p:sp>
        <p:nvSpPr>
          <p:cNvPr id="30" name="TextBox 29"/>
          <p:cNvSpPr txBox="1"/>
          <p:nvPr/>
        </p:nvSpPr>
        <p:spPr>
          <a:xfrm>
            <a:off x="716280" y="6096050"/>
            <a:ext cx="2878074" cy="203301"/>
          </a:xfrm>
          <a:prstGeom prst="rect">
            <a:avLst/>
          </a:prstGeom>
          <a:noFill/>
        </p:spPr>
        <p:txBody>
          <a:bodyPr wrap="none" lIns="0" tIns="0" rIns="0" bIns="0" anchor="t">
            <a:spAutoFit/>
          </a:bodyPr>
          <a:lstStyle/>
          <a:p>
            <a:pPr algn="l"/>
            <a:r>
              <a:rPr sz="1200" b="0" i="0">
                <a:solidFill>
                  <a:srgbClr val="000000"/>
                </a:solidFill>
                <a:latin typeface="Times New Roman"/>
              </a:rPr>
              <a:t>while preserving a flexible document structure.</a:t>
            </a:r>
          </a:p>
        </p:txBody>
      </p:sp>
      <p:sp>
        <p:nvSpPr>
          <p:cNvPr id="31" name="TextBox 30"/>
          <p:cNvSpPr txBox="1"/>
          <p:nvPr/>
        </p:nvSpPr>
        <p:spPr>
          <a:xfrm>
            <a:off x="716280" y="6363005"/>
            <a:ext cx="2197252" cy="246252"/>
          </a:xfrm>
          <a:prstGeom prst="rect">
            <a:avLst/>
          </a:prstGeom>
          <a:noFill/>
        </p:spPr>
        <p:txBody>
          <a:bodyPr wrap="none" lIns="0" tIns="0" rIns="0" bIns="0" anchor="t">
            <a:spAutoFit/>
          </a:bodyPr>
          <a:lstStyle/>
          <a:p>
            <a:pPr algn="l"/>
            <a:r>
              <a:rPr sz="1400" b="1" i="0">
                <a:solidFill>
                  <a:srgbClr val="000000"/>
                </a:solidFill>
                <a:latin typeface="Times New Roman"/>
              </a:rPr>
              <a:t>4.3 Deployment Architecture</a:t>
            </a:r>
          </a:p>
        </p:txBody>
      </p:sp>
      <p:sp>
        <p:nvSpPr>
          <p:cNvPr id="32" name="TextBox 31"/>
          <p:cNvSpPr txBox="1"/>
          <p:nvPr/>
        </p:nvSpPr>
        <p:spPr>
          <a:xfrm>
            <a:off x="944880" y="6642151"/>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A deployment should separate application configuration from source code. Environment</a:t>
            </a:r>
          </a:p>
        </p:txBody>
      </p:sp>
      <p:sp>
        <p:nvSpPr>
          <p:cNvPr id="33" name="TextBox 32"/>
          <p:cNvSpPr txBox="1"/>
          <p:nvPr/>
        </p:nvSpPr>
        <p:spPr>
          <a:xfrm>
            <a:off x="716280" y="6819951"/>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variables can provide the database connection and other secrets, allowing development and</a:t>
            </a:r>
          </a:p>
        </p:txBody>
      </p:sp>
      <p:sp>
        <p:nvSpPr>
          <p:cNvPr id="34" name="TextBox 33"/>
          <p:cNvSpPr txBox="1"/>
          <p:nvPr/>
        </p:nvSpPr>
        <p:spPr>
          <a:xfrm>
            <a:off x="716280" y="6997751"/>
            <a:ext cx="4601260" cy="203301"/>
          </a:xfrm>
          <a:prstGeom prst="rect">
            <a:avLst/>
          </a:prstGeom>
          <a:noFill/>
        </p:spPr>
        <p:txBody>
          <a:bodyPr wrap="none" lIns="0" tIns="0" rIns="0" bIns="0" anchor="t">
            <a:spAutoFit/>
          </a:bodyPr>
          <a:lstStyle/>
          <a:p>
            <a:pPr algn="l"/>
            <a:r>
              <a:rPr sz="1200" b="0" i="0">
                <a:solidFill>
                  <a:srgbClr val="000000"/>
                </a:solidFill>
                <a:latin typeface="Times New Roman"/>
              </a:rPr>
              <a:t>production to use different configurations without editing application logic.</a:t>
            </a:r>
          </a:p>
        </p:txBody>
      </p:sp>
      <p:sp>
        <p:nvSpPr>
          <p:cNvPr id="35" name="TextBox 34"/>
          <p:cNvSpPr txBox="1"/>
          <p:nvPr/>
        </p:nvSpPr>
        <p:spPr>
          <a:xfrm>
            <a:off x="944880" y="722635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Before deployment, the same critical API operations tested locally should be repeated in the</a:t>
            </a:r>
          </a:p>
        </p:txBody>
      </p:sp>
      <p:sp>
        <p:nvSpPr>
          <p:cNvPr id="36" name="TextBox 35"/>
          <p:cNvSpPr txBox="1"/>
          <p:nvPr/>
        </p:nvSpPr>
        <p:spPr>
          <a:xfrm>
            <a:off x="716280" y="74041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target environment. This verifies that network access, database connectivity, environment variables,</a:t>
            </a:r>
          </a:p>
        </p:txBody>
      </p:sp>
      <p:sp>
        <p:nvSpPr>
          <p:cNvPr id="37" name="TextBox 36"/>
          <p:cNvSpPr txBox="1"/>
          <p:nvPr/>
        </p:nvSpPr>
        <p:spPr>
          <a:xfrm>
            <a:off x="716280" y="7581950"/>
            <a:ext cx="3161690" cy="203301"/>
          </a:xfrm>
          <a:prstGeom prst="rect">
            <a:avLst/>
          </a:prstGeom>
          <a:noFill/>
        </p:spPr>
        <p:txBody>
          <a:bodyPr wrap="none" lIns="0" tIns="0" rIns="0" bIns="0" anchor="t">
            <a:spAutoFit/>
          </a:bodyPr>
          <a:lstStyle/>
          <a:p>
            <a:pPr algn="l"/>
            <a:r>
              <a:rPr sz="1200" b="0" i="0">
                <a:solidFill>
                  <a:srgbClr val="000000"/>
                </a:solidFill>
                <a:latin typeface="Times New Roman"/>
              </a:rPr>
              <a:t>and application startup are all functioning correctly.</a:t>
            </a:r>
          </a:p>
        </p:txBody>
      </p:sp>
      <p:sp>
        <p:nvSpPr>
          <p:cNvPr id="38" name="TextBox 37"/>
          <p:cNvSpPr txBox="1"/>
          <p:nvPr/>
        </p:nvSpPr>
        <p:spPr>
          <a:xfrm>
            <a:off x="944880" y="781055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During development, the Node.js application can run on a local machine and connect to a local</a:t>
            </a:r>
          </a:p>
        </p:txBody>
      </p:sp>
      <p:sp>
        <p:nvSpPr>
          <p:cNvPr id="39" name="TextBox 38"/>
          <p:cNvSpPr txBox="1"/>
          <p:nvPr/>
        </p:nvSpPr>
        <p:spPr>
          <a:xfrm>
            <a:off x="716280" y="798835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or configured MongoDB instance. Postman can communicate with the local server to verify the</a:t>
            </a:r>
          </a:p>
        </p:txBody>
      </p:sp>
      <p:sp>
        <p:nvSpPr>
          <p:cNvPr id="40" name="TextBox 39"/>
          <p:cNvSpPr txBox="1"/>
          <p:nvPr/>
        </p:nvSpPr>
        <p:spPr>
          <a:xfrm>
            <a:off x="716280" y="8166150"/>
            <a:ext cx="4347210" cy="203301"/>
          </a:xfrm>
          <a:prstGeom prst="rect">
            <a:avLst/>
          </a:prstGeom>
          <a:noFill/>
        </p:spPr>
        <p:txBody>
          <a:bodyPr wrap="none" lIns="0" tIns="0" rIns="0" bIns="0" anchor="t">
            <a:spAutoFit/>
          </a:bodyPr>
          <a:lstStyle/>
          <a:p>
            <a:pPr algn="l"/>
            <a:r>
              <a:rPr sz="1200" b="0" i="0">
                <a:solidFill>
                  <a:srgbClr val="000000"/>
                </a:solidFill>
                <a:latin typeface="Times New Roman"/>
              </a:rPr>
              <a:t>APIs, while MongoDB Compass can be used to inspect the stored data.</a:t>
            </a:r>
          </a:p>
        </p:txBody>
      </p:sp>
      <p:sp>
        <p:nvSpPr>
          <p:cNvPr id="41" name="TextBox 40"/>
          <p:cNvSpPr txBox="1"/>
          <p:nvPr/>
        </p:nvSpPr>
        <p:spPr>
          <a:xfrm>
            <a:off x="944880" y="839475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For deployment, the backend can be hosted on a suitable server or cloud platform that supports</a:t>
            </a:r>
          </a:p>
        </p:txBody>
      </p:sp>
      <p:sp>
        <p:nvSpPr>
          <p:cNvPr id="42" name="TextBox 41"/>
          <p:cNvSpPr txBox="1"/>
          <p:nvPr/>
        </p:nvSpPr>
        <p:spPr>
          <a:xfrm>
            <a:off x="716280" y="85725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Node.js. MongoDB can be deployed using a managed database service or an appropriately</a:t>
            </a:r>
          </a:p>
        </p:txBody>
      </p:sp>
      <p:sp>
        <p:nvSpPr>
          <p:cNvPr id="43" name="TextBox 42"/>
          <p:cNvSpPr txBox="1"/>
          <p:nvPr/>
        </p:nvSpPr>
        <p:spPr>
          <a:xfrm>
            <a:off x="716280" y="87503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configured server. Environment variables should be used for database connection information and</a:t>
            </a:r>
          </a:p>
        </p:txBody>
      </p:sp>
      <p:sp>
        <p:nvSpPr>
          <p:cNvPr id="44" name="TextBox 43"/>
          <p:cNvSpPr txBox="1"/>
          <p:nvPr/>
        </p:nvSpPr>
        <p:spPr>
          <a:xfrm>
            <a:off x="716280" y="8928150"/>
            <a:ext cx="2209495" cy="203301"/>
          </a:xfrm>
          <a:prstGeom prst="rect">
            <a:avLst/>
          </a:prstGeom>
          <a:noFill/>
        </p:spPr>
        <p:txBody>
          <a:bodyPr wrap="none" lIns="0" tIns="0" rIns="0" bIns="0" anchor="t">
            <a:spAutoFit/>
          </a:bodyPr>
          <a:lstStyle/>
          <a:p>
            <a:pPr algn="l"/>
            <a:r>
              <a:rPr sz="1200" b="0" i="0">
                <a:solidFill>
                  <a:srgbClr val="000000"/>
                </a:solidFill>
                <a:latin typeface="Times New Roman"/>
              </a:rPr>
              <a:t>other sensitive configuration values.</a:t>
            </a:r>
          </a:p>
        </p:txBody>
      </p:sp>
      <p:sp>
        <p:nvSpPr>
          <p:cNvPr id="45" name="TextBox 44"/>
          <p:cNvSpPr txBox="1"/>
          <p:nvPr/>
        </p:nvSpPr>
        <p:spPr>
          <a:xfrm>
            <a:off x="944880" y="9156751"/>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deployment architecture should separate application configuration from source code. This</a:t>
            </a:r>
          </a:p>
        </p:txBody>
      </p:sp>
      <p:sp>
        <p:nvSpPr>
          <p:cNvPr id="46" name="TextBox 45"/>
          <p:cNvSpPr txBox="1"/>
          <p:nvPr/>
        </p:nvSpPr>
        <p:spPr>
          <a:xfrm>
            <a:off x="716280" y="9334551"/>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allows development, testing, and production environments to use different database connections and</a:t>
            </a:r>
          </a:p>
        </p:txBody>
      </p:sp>
      <p:sp>
        <p:nvSpPr>
          <p:cNvPr id="47" name="TextBox 46"/>
          <p:cNvSpPr txBox="1"/>
          <p:nvPr/>
        </p:nvSpPr>
        <p:spPr>
          <a:xfrm>
            <a:off x="716280" y="9512351"/>
            <a:ext cx="3407663" cy="203301"/>
          </a:xfrm>
          <a:prstGeom prst="rect">
            <a:avLst/>
          </a:prstGeom>
          <a:noFill/>
        </p:spPr>
        <p:txBody>
          <a:bodyPr wrap="none" lIns="0" tIns="0" rIns="0" bIns="0" anchor="t">
            <a:spAutoFit/>
          </a:bodyPr>
          <a:lstStyle/>
          <a:p>
            <a:pPr algn="l"/>
            <a:r>
              <a:rPr sz="1200" b="0" i="0">
                <a:solidFill>
                  <a:srgbClr val="000000"/>
                </a:solidFill>
                <a:latin typeface="Times New Roman"/>
              </a:rPr>
              <a:t>security settings without changing the application logic.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15</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066596" y="620495"/>
            <a:ext cx="340709" cy="184689"/>
          </a:xfrm>
          <a:prstGeom prst="rect">
            <a:avLst/>
          </a:prstGeom>
          <a:noFill/>
        </p:spPr>
        <p:txBody>
          <a:bodyPr wrap="none" lIns="0" tIns="0" rIns="0" bIns="0" anchor="t">
            <a:spAutoFit/>
          </a:bodyPr>
          <a:lstStyle/>
          <a:p>
            <a:pPr algn="l"/>
            <a:r>
              <a:rPr sz="1050" b="1" i="0">
                <a:solidFill>
                  <a:srgbClr val="000000"/>
                </a:solidFill>
                <a:latin typeface="Times New Roman"/>
              </a:rPr>
              <a:t>Layer</a:t>
            </a:r>
          </a:p>
        </p:txBody>
      </p:sp>
      <p:sp>
        <p:nvSpPr>
          <p:cNvPr id="5" name="TextBox 4"/>
          <p:cNvSpPr txBox="1"/>
          <p:nvPr/>
        </p:nvSpPr>
        <p:spPr>
          <a:xfrm>
            <a:off x="4537618" y="620495"/>
            <a:ext cx="1570863" cy="184689"/>
          </a:xfrm>
          <a:prstGeom prst="rect">
            <a:avLst/>
          </a:prstGeom>
          <a:noFill/>
        </p:spPr>
        <p:txBody>
          <a:bodyPr wrap="none" lIns="0" tIns="0" rIns="0" bIns="0" anchor="t">
            <a:spAutoFit/>
          </a:bodyPr>
          <a:lstStyle/>
          <a:p>
            <a:pPr algn="l"/>
            <a:r>
              <a:rPr sz="1050" b="1" i="0">
                <a:solidFill>
                  <a:srgbClr val="000000"/>
                </a:solidFill>
                <a:latin typeface="Times New Roman"/>
              </a:rPr>
              <a:t>Technology / Responsibility</a:t>
            </a:r>
          </a:p>
        </p:txBody>
      </p:sp>
      <p:sp>
        <p:nvSpPr>
          <p:cNvPr id="6" name="TextBox 5"/>
          <p:cNvSpPr txBox="1"/>
          <p:nvPr/>
        </p:nvSpPr>
        <p:spPr>
          <a:xfrm>
            <a:off x="744700" y="847895"/>
            <a:ext cx="326040" cy="177888"/>
          </a:xfrm>
          <a:prstGeom prst="rect">
            <a:avLst/>
          </a:prstGeom>
          <a:noFill/>
        </p:spPr>
        <p:txBody>
          <a:bodyPr wrap="none" lIns="0" tIns="0" rIns="0" bIns="0" anchor="t">
            <a:spAutoFit/>
          </a:bodyPr>
          <a:lstStyle/>
          <a:p>
            <a:pPr algn="l"/>
            <a:r>
              <a:rPr sz="1050" b="0" i="0">
                <a:solidFill>
                  <a:srgbClr val="000000"/>
                </a:solidFill>
                <a:latin typeface="Times New Roman"/>
              </a:rPr>
              <a:t>Client</a:t>
            </a:r>
          </a:p>
        </p:txBody>
      </p:sp>
      <p:sp>
        <p:nvSpPr>
          <p:cNvPr id="7" name="TextBox 6"/>
          <p:cNvSpPr txBox="1"/>
          <p:nvPr/>
        </p:nvSpPr>
        <p:spPr>
          <a:xfrm>
            <a:off x="3830799" y="847895"/>
            <a:ext cx="1577663" cy="177888"/>
          </a:xfrm>
          <a:prstGeom prst="rect">
            <a:avLst/>
          </a:prstGeom>
          <a:noFill/>
        </p:spPr>
        <p:txBody>
          <a:bodyPr wrap="none" lIns="0" tIns="0" rIns="0" bIns="0" anchor="t">
            <a:spAutoFit/>
          </a:bodyPr>
          <a:lstStyle/>
          <a:p>
            <a:pPr algn="l"/>
            <a:r>
              <a:rPr sz="1050" b="0" i="0">
                <a:solidFill>
                  <a:srgbClr val="000000"/>
                </a:solidFill>
                <a:latin typeface="Times New Roman"/>
              </a:rPr>
              <a:t>Authorized web or API client</a:t>
            </a:r>
          </a:p>
        </p:txBody>
      </p:sp>
      <p:sp>
        <p:nvSpPr>
          <p:cNvPr id="8" name="TextBox 7"/>
          <p:cNvSpPr txBox="1"/>
          <p:nvPr/>
        </p:nvSpPr>
        <p:spPr>
          <a:xfrm>
            <a:off x="744700" y="1076495"/>
            <a:ext cx="559136" cy="177888"/>
          </a:xfrm>
          <a:prstGeom prst="rect">
            <a:avLst/>
          </a:prstGeom>
          <a:noFill/>
        </p:spPr>
        <p:txBody>
          <a:bodyPr wrap="none" lIns="0" tIns="0" rIns="0" bIns="0" anchor="t">
            <a:spAutoFit/>
          </a:bodyPr>
          <a:lstStyle/>
          <a:p>
            <a:pPr algn="l"/>
            <a:r>
              <a:rPr sz="1050" b="0" i="0">
                <a:solidFill>
                  <a:srgbClr val="000000"/>
                </a:solidFill>
                <a:latin typeface="Times New Roman"/>
              </a:rPr>
              <a:t>API Layer</a:t>
            </a:r>
          </a:p>
        </p:txBody>
      </p:sp>
      <p:sp>
        <p:nvSpPr>
          <p:cNvPr id="9" name="TextBox 8"/>
          <p:cNvSpPr txBox="1"/>
          <p:nvPr/>
        </p:nvSpPr>
        <p:spPr>
          <a:xfrm>
            <a:off x="3830799" y="1076495"/>
            <a:ext cx="1455782" cy="177888"/>
          </a:xfrm>
          <a:prstGeom prst="rect">
            <a:avLst/>
          </a:prstGeom>
          <a:noFill/>
        </p:spPr>
        <p:txBody>
          <a:bodyPr wrap="none" lIns="0" tIns="0" rIns="0" bIns="0" anchor="t">
            <a:spAutoFit/>
          </a:bodyPr>
          <a:lstStyle/>
          <a:p>
            <a:pPr algn="l"/>
            <a:r>
              <a:rPr sz="1050" b="0" i="0">
                <a:solidFill>
                  <a:srgbClr val="000000"/>
                </a:solidFill>
                <a:latin typeface="Times New Roman"/>
              </a:rPr>
              <a:t>Express.js REST endpoints</a:t>
            </a:r>
          </a:p>
        </p:txBody>
      </p:sp>
      <p:sp>
        <p:nvSpPr>
          <p:cNvPr id="10" name="TextBox 9"/>
          <p:cNvSpPr txBox="1"/>
          <p:nvPr/>
        </p:nvSpPr>
        <p:spPr>
          <a:xfrm>
            <a:off x="744700" y="1305095"/>
            <a:ext cx="459390" cy="177888"/>
          </a:xfrm>
          <a:prstGeom prst="rect">
            <a:avLst/>
          </a:prstGeom>
          <a:noFill/>
        </p:spPr>
        <p:txBody>
          <a:bodyPr wrap="none" lIns="0" tIns="0" rIns="0" bIns="0" anchor="t">
            <a:spAutoFit/>
          </a:bodyPr>
          <a:lstStyle/>
          <a:p>
            <a:pPr algn="l"/>
            <a:r>
              <a:rPr sz="1050" b="0" i="0">
                <a:solidFill>
                  <a:srgbClr val="000000"/>
                </a:solidFill>
                <a:latin typeface="Times New Roman"/>
              </a:rPr>
              <a:t>Runtime</a:t>
            </a:r>
          </a:p>
        </p:txBody>
      </p:sp>
      <p:sp>
        <p:nvSpPr>
          <p:cNvPr id="11" name="TextBox 10"/>
          <p:cNvSpPr txBox="1"/>
          <p:nvPr/>
        </p:nvSpPr>
        <p:spPr>
          <a:xfrm>
            <a:off x="3830799" y="1305095"/>
            <a:ext cx="411118" cy="177888"/>
          </a:xfrm>
          <a:prstGeom prst="rect">
            <a:avLst/>
          </a:prstGeom>
          <a:noFill/>
        </p:spPr>
        <p:txBody>
          <a:bodyPr wrap="none" lIns="0" tIns="0" rIns="0" bIns="0" anchor="t">
            <a:spAutoFit/>
          </a:bodyPr>
          <a:lstStyle/>
          <a:p>
            <a:pPr algn="ctr"/>
            <a:r>
              <a:rPr sz="1050" b="0" i="0">
                <a:solidFill>
                  <a:srgbClr val="000000"/>
                </a:solidFill>
                <a:latin typeface="Times New Roman"/>
              </a:rPr>
              <a:t>Node.js</a:t>
            </a:r>
          </a:p>
        </p:txBody>
      </p:sp>
      <p:sp>
        <p:nvSpPr>
          <p:cNvPr id="12" name="TextBox 11"/>
          <p:cNvSpPr txBox="1"/>
          <p:nvPr/>
        </p:nvSpPr>
        <p:spPr>
          <a:xfrm>
            <a:off x="744700" y="1533695"/>
            <a:ext cx="818635" cy="177888"/>
          </a:xfrm>
          <a:prstGeom prst="rect">
            <a:avLst/>
          </a:prstGeom>
          <a:noFill/>
        </p:spPr>
        <p:txBody>
          <a:bodyPr wrap="none" lIns="0" tIns="0" rIns="0" bIns="0" anchor="t">
            <a:spAutoFit/>
          </a:bodyPr>
          <a:lstStyle/>
          <a:p>
            <a:pPr algn="l"/>
            <a:r>
              <a:rPr sz="1050" b="0" i="0">
                <a:solidFill>
                  <a:srgbClr val="000000"/>
                </a:solidFill>
                <a:latin typeface="Times New Roman"/>
              </a:rPr>
              <a:t>Business Logic</a:t>
            </a:r>
          </a:p>
        </p:txBody>
      </p:sp>
      <p:sp>
        <p:nvSpPr>
          <p:cNvPr id="13" name="TextBox 12"/>
          <p:cNvSpPr txBox="1"/>
          <p:nvPr/>
        </p:nvSpPr>
        <p:spPr>
          <a:xfrm>
            <a:off x="3830799" y="1533695"/>
            <a:ext cx="2374030" cy="177888"/>
          </a:xfrm>
          <a:prstGeom prst="rect">
            <a:avLst/>
          </a:prstGeom>
          <a:noFill/>
        </p:spPr>
        <p:txBody>
          <a:bodyPr wrap="none" lIns="0" tIns="0" rIns="0" bIns="0" anchor="t">
            <a:spAutoFit/>
          </a:bodyPr>
          <a:lstStyle/>
          <a:p>
            <a:pPr algn="l"/>
            <a:r>
              <a:rPr sz="1050" b="0" i="0">
                <a:solidFill>
                  <a:srgbClr val="000000"/>
                </a:solidFill>
                <a:latin typeface="Times New Roman"/>
              </a:rPr>
              <a:t>Inventory, validation, transaction processing</a:t>
            </a:r>
          </a:p>
        </p:txBody>
      </p:sp>
      <p:sp>
        <p:nvSpPr>
          <p:cNvPr id="14" name="TextBox 13"/>
          <p:cNvSpPr txBox="1"/>
          <p:nvPr/>
        </p:nvSpPr>
        <p:spPr>
          <a:xfrm>
            <a:off x="744700" y="1762295"/>
            <a:ext cx="488727" cy="177888"/>
          </a:xfrm>
          <a:prstGeom prst="rect">
            <a:avLst/>
          </a:prstGeom>
          <a:noFill/>
        </p:spPr>
        <p:txBody>
          <a:bodyPr wrap="none" lIns="0" tIns="0" rIns="0" bIns="0" anchor="t">
            <a:spAutoFit/>
          </a:bodyPr>
          <a:lstStyle/>
          <a:p>
            <a:pPr algn="l"/>
            <a:r>
              <a:rPr sz="1050" b="0" i="0">
                <a:solidFill>
                  <a:srgbClr val="000000"/>
                </a:solidFill>
                <a:latin typeface="Times New Roman"/>
              </a:rPr>
              <a:t>Database</a:t>
            </a:r>
          </a:p>
        </p:txBody>
      </p:sp>
      <p:sp>
        <p:nvSpPr>
          <p:cNvPr id="15" name="TextBox 14"/>
          <p:cNvSpPr txBox="1"/>
          <p:nvPr/>
        </p:nvSpPr>
        <p:spPr>
          <a:xfrm>
            <a:off x="3830799" y="1762295"/>
            <a:ext cx="570471" cy="177888"/>
          </a:xfrm>
          <a:prstGeom prst="rect">
            <a:avLst/>
          </a:prstGeom>
          <a:noFill/>
        </p:spPr>
        <p:txBody>
          <a:bodyPr wrap="none" lIns="0" tIns="0" rIns="0" bIns="0" anchor="t">
            <a:spAutoFit/>
          </a:bodyPr>
          <a:lstStyle/>
          <a:p>
            <a:pPr algn="ctr"/>
            <a:r>
              <a:rPr sz="1050" b="0" i="0">
                <a:solidFill>
                  <a:srgbClr val="000000"/>
                </a:solidFill>
                <a:latin typeface="Times New Roman"/>
              </a:rPr>
              <a:t>MongoDB</a:t>
            </a:r>
          </a:p>
        </p:txBody>
      </p:sp>
      <p:sp>
        <p:nvSpPr>
          <p:cNvPr id="16" name="TextBox 15"/>
          <p:cNvSpPr txBox="1"/>
          <p:nvPr/>
        </p:nvSpPr>
        <p:spPr>
          <a:xfrm>
            <a:off x="744700" y="1990895"/>
            <a:ext cx="400050" cy="177888"/>
          </a:xfrm>
          <a:prstGeom prst="rect">
            <a:avLst/>
          </a:prstGeom>
          <a:noFill/>
        </p:spPr>
        <p:txBody>
          <a:bodyPr wrap="none" lIns="0" tIns="0" rIns="0" bIns="0" anchor="t">
            <a:spAutoFit/>
          </a:bodyPr>
          <a:lstStyle/>
          <a:p>
            <a:pPr algn="l"/>
            <a:r>
              <a:rPr sz="1050" b="0" i="0">
                <a:solidFill>
                  <a:srgbClr val="000000"/>
                </a:solidFill>
                <a:latin typeface="Times New Roman"/>
              </a:rPr>
              <a:t>Testing</a:t>
            </a:r>
          </a:p>
        </p:txBody>
      </p:sp>
      <p:sp>
        <p:nvSpPr>
          <p:cNvPr id="17" name="TextBox 16"/>
          <p:cNvSpPr txBox="1"/>
          <p:nvPr/>
        </p:nvSpPr>
        <p:spPr>
          <a:xfrm>
            <a:off x="3830799" y="1990895"/>
            <a:ext cx="1811426" cy="177888"/>
          </a:xfrm>
          <a:prstGeom prst="rect">
            <a:avLst/>
          </a:prstGeom>
          <a:noFill/>
        </p:spPr>
        <p:txBody>
          <a:bodyPr wrap="none" lIns="0" tIns="0" rIns="0" bIns="0" anchor="t">
            <a:spAutoFit/>
          </a:bodyPr>
          <a:lstStyle/>
          <a:p>
            <a:pPr algn="l"/>
            <a:r>
              <a:rPr sz="1050" b="0" i="0">
                <a:solidFill>
                  <a:srgbClr val="000000"/>
                </a:solidFill>
                <a:latin typeface="Times New Roman"/>
              </a:rPr>
              <a:t>Postman and MongoDB Compass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16</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732910" y="579322"/>
            <a:ext cx="2094179" cy="281432"/>
          </a:xfrm>
          <a:prstGeom prst="rect">
            <a:avLst/>
          </a:prstGeom>
          <a:noFill/>
        </p:spPr>
        <p:txBody>
          <a:bodyPr wrap="none" lIns="0" tIns="0" rIns="0" bIns="0" anchor="t">
            <a:spAutoFit/>
          </a:bodyPr>
          <a:lstStyle/>
          <a:p>
            <a:pPr algn="ctr"/>
            <a:r>
              <a:rPr sz="1600" b="1" i="0">
                <a:solidFill>
                  <a:srgbClr val="000000"/>
                </a:solidFill>
                <a:latin typeface="Times New Roman"/>
              </a:rPr>
              <a:t>CHAPTER - 5 DESIGN</a:t>
            </a:r>
          </a:p>
        </p:txBody>
      </p:sp>
      <p:sp>
        <p:nvSpPr>
          <p:cNvPr id="5" name="TextBox 4"/>
          <p:cNvSpPr txBox="1"/>
          <p:nvPr/>
        </p:nvSpPr>
        <p:spPr>
          <a:xfrm>
            <a:off x="716280" y="948740"/>
            <a:ext cx="2143201" cy="246252"/>
          </a:xfrm>
          <a:prstGeom prst="rect">
            <a:avLst/>
          </a:prstGeom>
          <a:noFill/>
        </p:spPr>
        <p:txBody>
          <a:bodyPr wrap="none" lIns="0" tIns="0" rIns="0" bIns="0" anchor="t">
            <a:spAutoFit/>
          </a:bodyPr>
          <a:lstStyle/>
          <a:p>
            <a:pPr algn="l"/>
            <a:r>
              <a:rPr sz="1400" b="1" i="0">
                <a:solidFill>
                  <a:srgbClr val="000000"/>
                </a:solidFill>
                <a:latin typeface="Times New Roman"/>
              </a:rPr>
              <a:t>5.1 System Design Overview</a:t>
            </a:r>
          </a:p>
        </p:txBody>
      </p:sp>
      <p:sp>
        <p:nvSpPr>
          <p:cNvPr id="6" name="TextBox 5"/>
          <p:cNvSpPr txBox="1"/>
          <p:nvPr/>
        </p:nvSpPr>
        <p:spPr>
          <a:xfrm>
            <a:off x="944880" y="12278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system design follows the movement of inventory through the organization. Medicines and</a:t>
            </a:r>
          </a:p>
        </p:txBody>
      </p:sp>
      <p:sp>
        <p:nvSpPr>
          <p:cNvPr id="7" name="TextBox 6"/>
          <p:cNvSpPr txBox="1"/>
          <p:nvPr/>
        </p:nvSpPr>
        <p:spPr>
          <a:xfrm>
            <a:off x="716280" y="1405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suppliers form master data, batches add traceability, purchases represent incoming stock, sales</a:t>
            </a:r>
          </a:p>
        </p:txBody>
      </p:sp>
      <p:sp>
        <p:nvSpPr>
          <p:cNvPr id="8" name="TextBox 7"/>
          <p:cNvSpPr txBox="1"/>
          <p:nvPr/>
        </p:nvSpPr>
        <p:spPr>
          <a:xfrm>
            <a:off x="716280" y="1583486"/>
            <a:ext cx="5037124" cy="203301"/>
          </a:xfrm>
          <a:prstGeom prst="rect">
            <a:avLst/>
          </a:prstGeom>
          <a:noFill/>
        </p:spPr>
        <p:txBody>
          <a:bodyPr wrap="none" lIns="0" tIns="0" rIns="0" bIns="0" anchor="t">
            <a:spAutoFit/>
          </a:bodyPr>
          <a:lstStyle/>
          <a:p>
            <a:pPr algn="l"/>
            <a:r>
              <a:rPr sz="1200" b="0" i="0">
                <a:solidFill>
                  <a:srgbClr val="000000"/>
                </a:solidFill>
                <a:latin typeface="Times New Roman"/>
              </a:rPr>
              <a:t>represent outgoing stock, and stock monitoring provides the current quantity view.</a:t>
            </a:r>
          </a:p>
        </p:txBody>
      </p:sp>
      <p:sp>
        <p:nvSpPr>
          <p:cNvPr id="9" name="TextBox 8"/>
          <p:cNvSpPr txBox="1"/>
          <p:nvPr/>
        </p:nvSpPr>
        <p:spPr>
          <a:xfrm>
            <a:off x="944880" y="18120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Business rules should ensure that the same transaction is not accidentally applied more than once</a:t>
            </a:r>
          </a:p>
        </p:txBody>
      </p:sp>
      <p:sp>
        <p:nvSpPr>
          <p:cNvPr id="10" name="TextBox 9"/>
          <p:cNvSpPr txBox="1"/>
          <p:nvPr/>
        </p:nvSpPr>
        <p:spPr>
          <a:xfrm>
            <a:off x="716280" y="19898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and that invalid quantity changes are rejected. These controls help preserve consistency between</a:t>
            </a:r>
          </a:p>
        </p:txBody>
      </p:sp>
      <p:sp>
        <p:nvSpPr>
          <p:cNvPr id="11" name="TextBox 10"/>
          <p:cNvSpPr txBox="1"/>
          <p:nvPr/>
        </p:nvSpPr>
        <p:spPr>
          <a:xfrm>
            <a:off x="716280" y="2167686"/>
            <a:ext cx="1811426" cy="203301"/>
          </a:xfrm>
          <a:prstGeom prst="rect">
            <a:avLst/>
          </a:prstGeom>
          <a:noFill/>
        </p:spPr>
        <p:txBody>
          <a:bodyPr wrap="none" lIns="0" tIns="0" rIns="0" bIns="0" anchor="t">
            <a:spAutoFit/>
          </a:bodyPr>
          <a:lstStyle/>
          <a:p>
            <a:pPr algn="l"/>
            <a:r>
              <a:rPr sz="1200" b="0" i="0">
                <a:solidFill>
                  <a:srgbClr val="000000"/>
                </a:solidFill>
                <a:latin typeface="Times New Roman"/>
              </a:rPr>
              <a:t>transaction records and stock.</a:t>
            </a:r>
          </a:p>
        </p:txBody>
      </p:sp>
      <p:sp>
        <p:nvSpPr>
          <p:cNvPr id="12" name="TextBox 11"/>
          <p:cNvSpPr txBox="1"/>
          <p:nvPr/>
        </p:nvSpPr>
        <p:spPr>
          <a:xfrm>
            <a:off x="944880" y="2396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design of the system is centered on the inventory lifecycle. Medicines are maintained as</a:t>
            </a:r>
          </a:p>
        </p:txBody>
      </p:sp>
      <p:sp>
        <p:nvSpPr>
          <p:cNvPr id="13" name="TextBox 12"/>
          <p:cNvSpPr txBox="1"/>
          <p:nvPr/>
        </p:nvSpPr>
        <p:spPr>
          <a:xfrm>
            <a:off x="716280" y="2574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master records, suppliers provide source information, batches provide traceability, purchases</a:t>
            </a:r>
          </a:p>
        </p:txBody>
      </p:sp>
      <p:sp>
        <p:nvSpPr>
          <p:cNvPr id="14" name="TextBox 13"/>
          <p:cNvSpPr txBox="1"/>
          <p:nvPr/>
        </p:nvSpPr>
        <p:spPr>
          <a:xfrm>
            <a:off x="716280" y="2751886"/>
            <a:ext cx="5785866" cy="203301"/>
          </a:xfrm>
          <a:prstGeom prst="rect">
            <a:avLst/>
          </a:prstGeom>
          <a:noFill/>
        </p:spPr>
        <p:txBody>
          <a:bodyPr wrap="none" lIns="0" tIns="0" rIns="0" bIns="0" anchor="t">
            <a:spAutoFit/>
          </a:bodyPr>
          <a:lstStyle/>
          <a:p>
            <a:pPr algn="ctr"/>
            <a:r>
              <a:rPr sz="1200" b="0" i="0">
                <a:solidFill>
                  <a:srgbClr val="000000"/>
                </a:solidFill>
                <a:latin typeface="Times New Roman"/>
              </a:rPr>
              <a:t>increase stock, and sales reduce stock. Stock monitoring provides the current operational view.</a:t>
            </a:r>
          </a:p>
        </p:txBody>
      </p:sp>
      <p:sp>
        <p:nvSpPr>
          <p:cNvPr id="15" name="TextBox 14"/>
          <p:cNvSpPr txBox="1"/>
          <p:nvPr/>
        </p:nvSpPr>
        <p:spPr>
          <a:xfrm>
            <a:off x="944880" y="2980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 modular design separates these responsibilities so that changes to one area do not require</a:t>
            </a:r>
          </a:p>
        </p:txBody>
      </p:sp>
      <p:sp>
        <p:nvSpPr>
          <p:cNvPr id="16" name="TextBox 15"/>
          <p:cNvSpPr txBox="1"/>
          <p:nvPr/>
        </p:nvSpPr>
        <p:spPr>
          <a:xfrm>
            <a:off x="716280" y="31582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rewriting the entire application. The API layer acts as the controlled entry point to the data.</a:t>
            </a:r>
          </a:p>
        </p:txBody>
      </p:sp>
      <p:sp>
        <p:nvSpPr>
          <p:cNvPr id="17" name="TextBox 16"/>
          <p:cNvSpPr txBox="1"/>
          <p:nvPr/>
        </p:nvSpPr>
        <p:spPr>
          <a:xfrm>
            <a:off x="716280" y="3336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Validation ensures that required fields and values are checked before database updates are</a:t>
            </a:r>
          </a:p>
        </p:txBody>
      </p:sp>
      <p:sp>
        <p:nvSpPr>
          <p:cNvPr id="18" name="TextBox 17"/>
          <p:cNvSpPr txBox="1"/>
          <p:nvPr/>
        </p:nvSpPr>
        <p:spPr>
          <a:xfrm>
            <a:off x="716280" y="3513886"/>
            <a:ext cx="672846" cy="203301"/>
          </a:xfrm>
          <a:prstGeom prst="rect">
            <a:avLst/>
          </a:prstGeom>
          <a:noFill/>
        </p:spPr>
        <p:txBody>
          <a:bodyPr wrap="none" lIns="0" tIns="0" rIns="0" bIns="0" anchor="t">
            <a:spAutoFit/>
          </a:bodyPr>
          <a:lstStyle/>
          <a:p>
            <a:pPr algn="l"/>
            <a:r>
              <a:rPr sz="1200" b="0" i="0">
                <a:solidFill>
                  <a:srgbClr val="000000"/>
                </a:solidFill>
                <a:latin typeface="Times New Roman"/>
              </a:rPr>
              <a:t>performed.</a:t>
            </a:r>
          </a:p>
        </p:txBody>
      </p:sp>
      <p:sp>
        <p:nvSpPr>
          <p:cNvPr id="19" name="TextBox 18"/>
          <p:cNvSpPr txBox="1"/>
          <p:nvPr/>
        </p:nvSpPr>
        <p:spPr>
          <a:xfrm>
            <a:off x="944880" y="3742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design also considers operational alerts. Low-stock identification can be based on a</a:t>
            </a:r>
          </a:p>
        </p:txBody>
      </p:sp>
      <p:sp>
        <p:nvSpPr>
          <p:cNvPr id="20" name="TextBox 19"/>
          <p:cNvSpPr txBox="1"/>
          <p:nvPr/>
        </p:nvSpPr>
        <p:spPr>
          <a:xfrm>
            <a:off x="716280" y="3920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configured minimum quantity, while near-expiry identification can be based on the remaining time</a:t>
            </a:r>
          </a:p>
        </p:txBody>
      </p:sp>
      <p:sp>
        <p:nvSpPr>
          <p:cNvPr id="21" name="TextBox 20"/>
          <p:cNvSpPr txBox="1"/>
          <p:nvPr/>
        </p:nvSpPr>
        <p:spPr>
          <a:xfrm>
            <a:off x="716280" y="4098086"/>
            <a:ext cx="6090057" cy="203301"/>
          </a:xfrm>
          <a:prstGeom prst="rect">
            <a:avLst/>
          </a:prstGeom>
          <a:noFill/>
        </p:spPr>
        <p:txBody>
          <a:bodyPr wrap="none" lIns="0" tIns="0" rIns="0" bIns="0" anchor="t">
            <a:spAutoFit/>
          </a:bodyPr>
          <a:lstStyle/>
          <a:p>
            <a:pPr algn="ctr"/>
            <a:r>
              <a:rPr sz="1200" b="0" i="0">
                <a:solidFill>
                  <a:srgbClr val="000000"/>
                </a:solidFill>
                <a:latin typeface="Times New Roman"/>
              </a:rPr>
              <a:t>before a batch expiry date. These rules can be implemented as backend queries or service functions.</a:t>
            </a:r>
          </a:p>
        </p:txBody>
      </p:sp>
      <p:sp>
        <p:nvSpPr>
          <p:cNvPr id="22" name="TextBox 21"/>
          <p:cNvSpPr txBox="1"/>
          <p:nvPr/>
        </p:nvSpPr>
        <p:spPr>
          <a:xfrm>
            <a:off x="716280" y="4365040"/>
            <a:ext cx="3313836" cy="246252"/>
          </a:xfrm>
          <a:prstGeom prst="rect">
            <a:avLst/>
          </a:prstGeom>
          <a:noFill/>
        </p:spPr>
        <p:txBody>
          <a:bodyPr wrap="none" lIns="0" tIns="0" rIns="0" bIns="0" anchor="t">
            <a:spAutoFit/>
          </a:bodyPr>
          <a:lstStyle/>
          <a:p>
            <a:pPr algn="l"/>
            <a:r>
              <a:rPr sz="1400" b="1" i="0">
                <a:solidFill>
                  <a:srgbClr val="000000"/>
                </a:solidFill>
                <a:latin typeface="Times New Roman"/>
              </a:rPr>
              <a:t>5.2 ER Diagram / Logical Database Schema</a:t>
            </a:r>
          </a:p>
        </p:txBody>
      </p:sp>
      <p:sp>
        <p:nvSpPr>
          <p:cNvPr id="23" name="TextBox 22"/>
          <p:cNvSpPr txBox="1"/>
          <p:nvPr/>
        </p:nvSpPr>
        <p:spPr>
          <a:xfrm>
            <a:off x="944880" y="46441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logical schema provides a common reference for implementation and documentation. The</a:t>
            </a:r>
          </a:p>
        </p:txBody>
      </p:sp>
      <p:sp>
        <p:nvSpPr>
          <p:cNvPr id="24" name="TextBox 23"/>
          <p:cNvSpPr txBox="1"/>
          <p:nvPr/>
        </p:nvSpPr>
        <p:spPr>
          <a:xfrm>
            <a:off x="716280" y="4821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exact collection fields may be adjusted to match the final code, but the major relationships remain</a:t>
            </a:r>
          </a:p>
        </p:txBody>
      </p:sp>
      <p:sp>
        <p:nvSpPr>
          <p:cNvPr id="25" name="TextBox 24"/>
          <p:cNvSpPr txBox="1"/>
          <p:nvPr/>
        </p:nvSpPr>
        <p:spPr>
          <a:xfrm>
            <a:off x="716280" y="4999786"/>
            <a:ext cx="5337048" cy="203301"/>
          </a:xfrm>
          <a:prstGeom prst="rect">
            <a:avLst/>
          </a:prstGeom>
          <a:noFill/>
        </p:spPr>
        <p:txBody>
          <a:bodyPr wrap="none" lIns="0" tIns="0" rIns="0" bIns="0" anchor="t">
            <a:spAutoFit/>
          </a:bodyPr>
          <a:lstStyle/>
          <a:p>
            <a:pPr algn="ctr"/>
            <a:r>
              <a:rPr sz="1200" b="0" i="0">
                <a:solidFill>
                  <a:srgbClr val="000000"/>
                </a:solidFill>
                <a:latin typeface="Times New Roman"/>
              </a:rPr>
              <a:t>centered on medicines, suppliers, batches, purchases, sales, stock, and authorized users.</a:t>
            </a:r>
          </a:p>
        </p:txBody>
      </p:sp>
      <p:sp>
        <p:nvSpPr>
          <p:cNvPr id="26" name="TextBox 25"/>
          <p:cNvSpPr txBox="1"/>
          <p:nvPr/>
        </p:nvSpPr>
        <p:spPr>
          <a:xfrm>
            <a:off x="944880" y="52283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following logical schema is derived from the entities explicitly identified in the project</a:t>
            </a:r>
          </a:p>
        </p:txBody>
      </p:sp>
      <p:sp>
        <p:nvSpPr>
          <p:cNvPr id="27" name="TextBox 26"/>
          <p:cNvSpPr txBox="1"/>
          <p:nvPr/>
        </p:nvSpPr>
        <p:spPr>
          <a:xfrm>
            <a:off x="716280" y="5406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abstract. It is intended to document how the inventory concepts can be connected; the exact field</a:t>
            </a:r>
          </a:p>
        </p:txBody>
      </p:sp>
      <p:sp>
        <p:nvSpPr>
          <p:cNvPr id="28" name="TextBox 27"/>
          <p:cNvSpPr txBox="1"/>
          <p:nvPr/>
        </p:nvSpPr>
        <p:spPr>
          <a:xfrm>
            <a:off x="716280" y="5583986"/>
            <a:ext cx="3694938" cy="203301"/>
          </a:xfrm>
          <a:prstGeom prst="rect">
            <a:avLst/>
          </a:prstGeom>
          <a:noFill/>
        </p:spPr>
        <p:txBody>
          <a:bodyPr wrap="none" lIns="0" tIns="0" rIns="0" bIns="0" anchor="t">
            <a:spAutoFit/>
          </a:bodyPr>
          <a:lstStyle/>
          <a:p>
            <a:pPr algn="l"/>
            <a:r>
              <a:rPr sz="1200" b="0" i="0">
                <a:solidFill>
                  <a:srgbClr val="000000"/>
                </a:solidFill>
                <a:latin typeface="Times New Roman"/>
              </a:rPr>
              <a:t>names may be adapted to the implemented database schema.</a:t>
            </a:r>
          </a:p>
        </p:txBody>
      </p:sp>
      <p:sp>
        <p:nvSpPr>
          <p:cNvPr id="29" name="TextBox 28"/>
          <p:cNvSpPr txBox="1"/>
          <p:nvPr/>
        </p:nvSpPr>
        <p:spPr>
          <a:xfrm>
            <a:off x="1544777" y="5875756"/>
            <a:ext cx="355644" cy="184689"/>
          </a:xfrm>
          <a:prstGeom prst="rect">
            <a:avLst/>
          </a:prstGeom>
          <a:noFill/>
        </p:spPr>
        <p:txBody>
          <a:bodyPr wrap="none" lIns="0" tIns="0" rIns="0" bIns="0" anchor="t">
            <a:spAutoFit/>
          </a:bodyPr>
          <a:lstStyle/>
          <a:p>
            <a:pPr algn="l"/>
            <a:r>
              <a:rPr sz="1050" b="1" i="0">
                <a:solidFill>
                  <a:srgbClr val="000000"/>
                </a:solidFill>
                <a:latin typeface="Times New Roman"/>
              </a:rPr>
              <a:t>Entity</a:t>
            </a:r>
          </a:p>
        </p:txBody>
      </p:sp>
      <p:sp>
        <p:nvSpPr>
          <p:cNvPr id="30" name="TextBox 29"/>
          <p:cNvSpPr txBox="1"/>
          <p:nvPr/>
        </p:nvSpPr>
        <p:spPr>
          <a:xfrm>
            <a:off x="3330010" y="5875756"/>
            <a:ext cx="899979" cy="184689"/>
          </a:xfrm>
          <a:prstGeom prst="rect">
            <a:avLst/>
          </a:prstGeom>
          <a:noFill/>
        </p:spPr>
        <p:txBody>
          <a:bodyPr wrap="none" lIns="0" tIns="0" rIns="0" bIns="0" anchor="t">
            <a:spAutoFit/>
          </a:bodyPr>
          <a:lstStyle/>
          <a:p>
            <a:pPr algn="ctr"/>
            <a:r>
              <a:rPr sz="1050" b="1" i="0">
                <a:solidFill>
                  <a:srgbClr val="000000"/>
                </a:solidFill>
                <a:latin typeface="Times New Roman"/>
              </a:rPr>
              <a:t>Important Data</a:t>
            </a:r>
          </a:p>
        </p:txBody>
      </p:sp>
      <p:sp>
        <p:nvSpPr>
          <p:cNvPr id="31" name="TextBox 30"/>
          <p:cNvSpPr txBox="1"/>
          <p:nvPr/>
        </p:nvSpPr>
        <p:spPr>
          <a:xfrm>
            <a:off x="5192786" y="5875756"/>
            <a:ext cx="1289227" cy="184689"/>
          </a:xfrm>
          <a:prstGeom prst="rect">
            <a:avLst/>
          </a:prstGeom>
          <a:noFill/>
        </p:spPr>
        <p:txBody>
          <a:bodyPr wrap="none" lIns="0" tIns="0" rIns="0" bIns="0" anchor="t">
            <a:spAutoFit/>
          </a:bodyPr>
          <a:lstStyle/>
          <a:p>
            <a:pPr algn="l"/>
            <a:r>
              <a:rPr sz="1050" b="1" i="0">
                <a:solidFill>
                  <a:srgbClr val="000000"/>
                </a:solidFill>
                <a:latin typeface="Times New Roman"/>
              </a:rPr>
              <a:t>Relationship / Purpose</a:t>
            </a:r>
          </a:p>
        </p:txBody>
      </p:sp>
      <p:sp>
        <p:nvSpPr>
          <p:cNvPr id="32" name="TextBox 31"/>
          <p:cNvSpPr txBox="1"/>
          <p:nvPr/>
        </p:nvSpPr>
        <p:spPr>
          <a:xfrm>
            <a:off x="744700" y="6179356"/>
            <a:ext cx="503663" cy="177888"/>
          </a:xfrm>
          <a:prstGeom prst="rect">
            <a:avLst/>
          </a:prstGeom>
          <a:noFill/>
        </p:spPr>
        <p:txBody>
          <a:bodyPr wrap="none" lIns="0" tIns="0" rIns="0" bIns="0" anchor="t">
            <a:spAutoFit/>
          </a:bodyPr>
          <a:lstStyle/>
          <a:p>
            <a:pPr algn="l"/>
            <a:r>
              <a:rPr sz="1050" b="0" i="0">
                <a:solidFill>
                  <a:srgbClr val="000000"/>
                </a:solidFill>
                <a:latin typeface="Times New Roman"/>
              </a:rPr>
              <a:t>Medicine</a:t>
            </a:r>
          </a:p>
        </p:txBody>
      </p:sp>
      <p:sp>
        <p:nvSpPr>
          <p:cNvPr id="33" name="TextBox 32"/>
          <p:cNvSpPr txBox="1"/>
          <p:nvPr/>
        </p:nvSpPr>
        <p:spPr>
          <a:xfrm>
            <a:off x="2802100" y="6103156"/>
            <a:ext cx="1592332" cy="177888"/>
          </a:xfrm>
          <a:prstGeom prst="rect">
            <a:avLst/>
          </a:prstGeom>
          <a:noFill/>
        </p:spPr>
        <p:txBody>
          <a:bodyPr wrap="none" lIns="0" tIns="0" rIns="0" bIns="0" anchor="t">
            <a:spAutoFit/>
          </a:bodyPr>
          <a:lstStyle/>
          <a:p>
            <a:pPr algn="ctr"/>
            <a:r>
              <a:rPr sz="1050" b="0" i="0">
                <a:solidFill>
                  <a:srgbClr val="000000"/>
                </a:solidFill>
                <a:latin typeface="Times New Roman"/>
              </a:rPr>
              <a:t>Medicine ID, name, category,</a:t>
            </a:r>
          </a:p>
        </p:txBody>
      </p:sp>
      <p:sp>
        <p:nvSpPr>
          <p:cNvPr id="34" name="TextBox 33"/>
          <p:cNvSpPr txBox="1"/>
          <p:nvPr/>
        </p:nvSpPr>
        <p:spPr>
          <a:xfrm>
            <a:off x="2802100" y="6255556"/>
            <a:ext cx="777963" cy="177888"/>
          </a:xfrm>
          <a:prstGeom prst="rect">
            <a:avLst/>
          </a:prstGeom>
          <a:noFill/>
        </p:spPr>
        <p:txBody>
          <a:bodyPr wrap="none" lIns="0" tIns="0" rIns="0" bIns="0" anchor="t">
            <a:spAutoFit/>
          </a:bodyPr>
          <a:lstStyle/>
          <a:p>
            <a:pPr algn="l"/>
            <a:r>
              <a:rPr sz="1050" b="0" i="0">
                <a:solidFill>
                  <a:srgbClr val="000000"/>
                </a:solidFill>
                <a:latin typeface="Times New Roman"/>
              </a:rPr>
              <a:t>quantity/status</a:t>
            </a:r>
          </a:p>
        </p:txBody>
      </p:sp>
      <p:sp>
        <p:nvSpPr>
          <p:cNvPr id="35" name="TextBox 34"/>
          <p:cNvSpPr txBox="1"/>
          <p:nvPr/>
        </p:nvSpPr>
        <p:spPr>
          <a:xfrm>
            <a:off x="4859499" y="6179356"/>
            <a:ext cx="1266425" cy="177888"/>
          </a:xfrm>
          <a:prstGeom prst="rect">
            <a:avLst/>
          </a:prstGeom>
          <a:noFill/>
        </p:spPr>
        <p:txBody>
          <a:bodyPr wrap="none" lIns="0" tIns="0" rIns="0" bIns="0" anchor="t">
            <a:spAutoFit/>
          </a:bodyPr>
          <a:lstStyle/>
          <a:p>
            <a:pPr algn="l"/>
            <a:r>
              <a:rPr sz="1050" b="0" i="0">
                <a:solidFill>
                  <a:srgbClr val="000000"/>
                </a:solidFill>
                <a:latin typeface="Times New Roman"/>
              </a:rPr>
              <a:t>Master medicine record</a:t>
            </a:r>
          </a:p>
        </p:txBody>
      </p:sp>
      <p:sp>
        <p:nvSpPr>
          <p:cNvPr id="36" name="TextBox 35"/>
          <p:cNvSpPr txBox="1"/>
          <p:nvPr/>
        </p:nvSpPr>
        <p:spPr>
          <a:xfrm>
            <a:off x="744700" y="6484156"/>
            <a:ext cx="451923" cy="177888"/>
          </a:xfrm>
          <a:prstGeom prst="rect">
            <a:avLst/>
          </a:prstGeom>
          <a:noFill/>
        </p:spPr>
        <p:txBody>
          <a:bodyPr wrap="none" lIns="0" tIns="0" rIns="0" bIns="0" anchor="t">
            <a:spAutoFit/>
          </a:bodyPr>
          <a:lstStyle/>
          <a:p>
            <a:pPr algn="l"/>
            <a:r>
              <a:rPr sz="1050" b="0" i="0">
                <a:solidFill>
                  <a:srgbClr val="000000"/>
                </a:solidFill>
                <a:latin typeface="Times New Roman"/>
              </a:rPr>
              <a:t>Supplier</a:t>
            </a:r>
          </a:p>
        </p:txBody>
      </p:sp>
      <p:sp>
        <p:nvSpPr>
          <p:cNvPr id="37" name="TextBox 36"/>
          <p:cNvSpPr txBox="1"/>
          <p:nvPr/>
        </p:nvSpPr>
        <p:spPr>
          <a:xfrm>
            <a:off x="2802100" y="6484156"/>
            <a:ext cx="1814760" cy="177888"/>
          </a:xfrm>
          <a:prstGeom prst="rect">
            <a:avLst/>
          </a:prstGeom>
          <a:noFill/>
        </p:spPr>
        <p:txBody>
          <a:bodyPr wrap="none" lIns="0" tIns="0" rIns="0" bIns="0" anchor="t">
            <a:spAutoFit/>
          </a:bodyPr>
          <a:lstStyle/>
          <a:p>
            <a:pPr algn="ctr"/>
            <a:r>
              <a:rPr sz="1050" b="0" i="0">
                <a:solidFill>
                  <a:srgbClr val="000000"/>
                </a:solidFill>
                <a:latin typeface="Times New Roman"/>
              </a:rPr>
              <a:t>Supplier ID, name, contact details</a:t>
            </a:r>
          </a:p>
        </p:txBody>
      </p:sp>
      <p:sp>
        <p:nvSpPr>
          <p:cNvPr id="38" name="TextBox 37"/>
          <p:cNvSpPr txBox="1"/>
          <p:nvPr/>
        </p:nvSpPr>
        <p:spPr>
          <a:xfrm>
            <a:off x="4859499" y="6484156"/>
            <a:ext cx="1662740" cy="177888"/>
          </a:xfrm>
          <a:prstGeom prst="rect">
            <a:avLst/>
          </a:prstGeom>
          <a:noFill/>
        </p:spPr>
        <p:txBody>
          <a:bodyPr wrap="none" lIns="0" tIns="0" rIns="0" bIns="0" anchor="t">
            <a:spAutoFit/>
          </a:bodyPr>
          <a:lstStyle/>
          <a:p>
            <a:pPr algn="l"/>
            <a:r>
              <a:rPr sz="1050" b="0" i="0">
                <a:solidFill>
                  <a:srgbClr val="000000"/>
                </a:solidFill>
                <a:latin typeface="Times New Roman"/>
              </a:rPr>
              <a:t>Source of purchased medicines</a:t>
            </a:r>
          </a:p>
        </p:txBody>
      </p:sp>
      <p:sp>
        <p:nvSpPr>
          <p:cNvPr id="39" name="TextBox 38"/>
          <p:cNvSpPr txBox="1"/>
          <p:nvPr/>
        </p:nvSpPr>
        <p:spPr>
          <a:xfrm>
            <a:off x="744700" y="6865156"/>
            <a:ext cx="311105" cy="177889"/>
          </a:xfrm>
          <a:prstGeom prst="rect">
            <a:avLst/>
          </a:prstGeom>
          <a:noFill/>
        </p:spPr>
        <p:txBody>
          <a:bodyPr wrap="none" lIns="0" tIns="0" rIns="0" bIns="0" anchor="t">
            <a:spAutoFit/>
          </a:bodyPr>
          <a:lstStyle/>
          <a:p>
            <a:pPr algn="l"/>
            <a:r>
              <a:rPr sz="1050" b="0" i="0">
                <a:solidFill>
                  <a:srgbClr val="000000"/>
                </a:solidFill>
                <a:latin typeface="Times New Roman"/>
              </a:rPr>
              <a:t>Batch</a:t>
            </a:r>
          </a:p>
        </p:txBody>
      </p:sp>
      <p:sp>
        <p:nvSpPr>
          <p:cNvPr id="40" name="TextBox 39"/>
          <p:cNvSpPr txBox="1"/>
          <p:nvPr/>
        </p:nvSpPr>
        <p:spPr>
          <a:xfrm>
            <a:off x="2802100" y="6712756"/>
            <a:ext cx="1925440" cy="177889"/>
          </a:xfrm>
          <a:prstGeom prst="rect">
            <a:avLst/>
          </a:prstGeom>
          <a:noFill/>
        </p:spPr>
        <p:txBody>
          <a:bodyPr wrap="none" lIns="0" tIns="0" rIns="0" bIns="0" anchor="t">
            <a:spAutoFit/>
          </a:bodyPr>
          <a:lstStyle/>
          <a:p>
            <a:pPr algn="ctr"/>
            <a:r>
              <a:rPr sz="1050" b="0" i="0">
                <a:solidFill>
                  <a:srgbClr val="000000"/>
                </a:solidFill>
                <a:latin typeface="Times New Roman"/>
              </a:rPr>
              <a:t>Batch ID, medicine reference, batch</a:t>
            </a:r>
          </a:p>
        </p:txBody>
      </p:sp>
      <p:sp>
        <p:nvSpPr>
          <p:cNvPr id="41" name="TextBox 40"/>
          <p:cNvSpPr txBox="1"/>
          <p:nvPr/>
        </p:nvSpPr>
        <p:spPr>
          <a:xfrm>
            <a:off x="2802100" y="6865156"/>
            <a:ext cx="1914639" cy="177889"/>
          </a:xfrm>
          <a:prstGeom prst="rect">
            <a:avLst/>
          </a:prstGeom>
          <a:noFill/>
        </p:spPr>
        <p:txBody>
          <a:bodyPr wrap="none" lIns="0" tIns="0" rIns="0" bIns="0" anchor="t">
            <a:spAutoFit/>
          </a:bodyPr>
          <a:lstStyle/>
          <a:p>
            <a:pPr algn="ctr"/>
            <a:r>
              <a:rPr sz="1050" b="0" i="0">
                <a:solidFill>
                  <a:srgbClr val="000000"/>
                </a:solidFill>
                <a:latin typeface="Times New Roman"/>
              </a:rPr>
              <a:t>number, manufacturing date, expiry</a:t>
            </a:r>
          </a:p>
        </p:txBody>
      </p:sp>
      <p:sp>
        <p:nvSpPr>
          <p:cNvPr id="42" name="TextBox 41"/>
          <p:cNvSpPr txBox="1"/>
          <p:nvPr/>
        </p:nvSpPr>
        <p:spPr>
          <a:xfrm>
            <a:off x="2802100" y="7017556"/>
            <a:ext cx="222161" cy="177889"/>
          </a:xfrm>
          <a:prstGeom prst="rect">
            <a:avLst/>
          </a:prstGeom>
          <a:noFill/>
        </p:spPr>
        <p:txBody>
          <a:bodyPr wrap="none" lIns="0" tIns="0" rIns="0" bIns="0" anchor="t">
            <a:spAutoFit/>
          </a:bodyPr>
          <a:lstStyle/>
          <a:p>
            <a:pPr algn="l"/>
            <a:r>
              <a:rPr sz="1050" b="0" i="0">
                <a:solidFill>
                  <a:srgbClr val="000000"/>
                </a:solidFill>
                <a:latin typeface="Times New Roman"/>
              </a:rPr>
              <a:t>date</a:t>
            </a:r>
          </a:p>
        </p:txBody>
      </p:sp>
      <p:sp>
        <p:nvSpPr>
          <p:cNvPr id="43" name="TextBox 42"/>
          <p:cNvSpPr txBox="1"/>
          <p:nvPr/>
        </p:nvSpPr>
        <p:spPr>
          <a:xfrm>
            <a:off x="4859499" y="6865156"/>
            <a:ext cx="1714614" cy="177889"/>
          </a:xfrm>
          <a:prstGeom prst="rect">
            <a:avLst/>
          </a:prstGeom>
          <a:noFill/>
        </p:spPr>
        <p:txBody>
          <a:bodyPr wrap="none" lIns="0" tIns="0" rIns="0" bIns="0" anchor="t">
            <a:spAutoFit/>
          </a:bodyPr>
          <a:lstStyle/>
          <a:p>
            <a:pPr algn="l"/>
            <a:r>
              <a:rPr sz="1050" b="0" i="0">
                <a:solidFill>
                  <a:srgbClr val="000000"/>
                </a:solidFill>
                <a:latin typeface="Times New Roman"/>
              </a:rPr>
              <a:t>Traceability and expiry tracking</a:t>
            </a:r>
          </a:p>
        </p:txBody>
      </p:sp>
      <p:sp>
        <p:nvSpPr>
          <p:cNvPr id="44" name="TextBox 43"/>
          <p:cNvSpPr txBox="1"/>
          <p:nvPr/>
        </p:nvSpPr>
        <p:spPr>
          <a:xfrm>
            <a:off x="744700" y="7322356"/>
            <a:ext cx="481393" cy="177889"/>
          </a:xfrm>
          <a:prstGeom prst="rect">
            <a:avLst/>
          </a:prstGeom>
          <a:noFill/>
        </p:spPr>
        <p:txBody>
          <a:bodyPr wrap="none" lIns="0" tIns="0" rIns="0" bIns="0" anchor="t">
            <a:spAutoFit/>
          </a:bodyPr>
          <a:lstStyle/>
          <a:p>
            <a:pPr algn="l"/>
            <a:r>
              <a:rPr sz="1050" b="0" i="0">
                <a:solidFill>
                  <a:srgbClr val="000000"/>
                </a:solidFill>
                <a:latin typeface="Times New Roman"/>
              </a:rPr>
              <a:t>Purchase</a:t>
            </a:r>
          </a:p>
        </p:txBody>
      </p:sp>
      <p:sp>
        <p:nvSpPr>
          <p:cNvPr id="45" name="TextBox 44"/>
          <p:cNvSpPr txBox="1"/>
          <p:nvPr/>
        </p:nvSpPr>
        <p:spPr>
          <a:xfrm>
            <a:off x="2802100" y="7246156"/>
            <a:ext cx="1473917" cy="177889"/>
          </a:xfrm>
          <a:prstGeom prst="rect">
            <a:avLst/>
          </a:prstGeom>
          <a:noFill/>
        </p:spPr>
        <p:txBody>
          <a:bodyPr wrap="none" lIns="0" tIns="0" rIns="0" bIns="0" anchor="t">
            <a:spAutoFit/>
          </a:bodyPr>
          <a:lstStyle/>
          <a:p>
            <a:pPr algn="ctr"/>
            <a:r>
              <a:rPr sz="1050" b="0" i="0">
                <a:solidFill>
                  <a:srgbClr val="000000"/>
                </a:solidFill>
                <a:latin typeface="Times New Roman"/>
              </a:rPr>
              <a:t>Purchase ID, supplier, date,</a:t>
            </a:r>
          </a:p>
        </p:txBody>
      </p:sp>
      <p:sp>
        <p:nvSpPr>
          <p:cNvPr id="46" name="TextBox 45"/>
          <p:cNvSpPr txBox="1"/>
          <p:nvPr/>
        </p:nvSpPr>
        <p:spPr>
          <a:xfrm>
            <a:off x="2802100" y="7398556"/>
            <a:ext cx="1240821" cy="177889"/>
          </a:xfrm>
          <a:prstGeom prst="rect">
            <a:avLst/>
          </a:prstGeom>
          <a:noFill/>
        </p:spPr>
        <p:txBody>
          <a:bodyPr wrap="none" lIns="0" tIns="0" rIns="0" bIns="0" anchor="t">
            <a:spAutoFit/>
          </a:bodyPr>
          <a:lstStyle/>
          <a:p>
            <a:pPr algn="ctr"/>
            <a:r>
              <a:rPr sz="1050" b="0" i="0">
                <a:solidFill>
                  <a:srgbClr val="000000"/>
                </a:solidFill>
                <a:latin typeface="Times New Roman"/>
              </a:rPr>
              <a:t>total/transaction details</a:t>
            </a:r>
          </a:p>
        </p:txBody>
      </p:sp>
      <p:sp>
        <p:nvSpPr>
          <p:cNvPr id="47" name="TextBox 46"/>
          <p:cNvSpPr txBox="1"/>
          <p:nvPr/>
        </p:nvSpPr>
        <p:spPr>
          <a:xfrm>
            <a:off x="4859499" y="7322356"/>
            <a:ext cx="596341" cy="177889"/>
          </a:xfrm>
          <a:prstGeom prst="rect">
            <a:avLst/>
          </a:prstGeom>
          <a:noFill/>
        </p:spPr>
        <p:txBody>
          <a:bodyPr wrap="none" lIns="0" tIns="0" rIns="0" bIns="0" anchor="t">
            <a:spAutoFit/>
          </a:bodyPr>
          <a:lstStyle/>
          <a:p>
            <a:pPr algn="l"/>
            <a:r>
              <a:rPr sz="1050" b="0" i="0">
                <a:solidFill>
                  <a:srgbClr val="000000"/>
                </a:solidFill>
                <a:latin typeface="Times New Roman"/>
              </a:rPr>
              <a:t>Adds stock</a:t>
            </a:r>
          </a:p>
        </p:txBody>
      </p:sp>
      <p:sp>
        <p:nvSpPr>
          <p:cNvPr id="48" name="TextBox 47"/>
          <p:cNvSpPr txBox="1"/>
          <p:nvPr/>
        </p:nvSpPr>
        <p:spPr>
          <a:xfrm>
            <a:off x="744700" y="7627156"/>
            <a:ext cx="229628" cy="177889"/>
          </a:xfrm>
          <a:prstGeom prst="rect">
            <a:avLst/>
          </a:prstGeom>
          <a:noFill/>
        </p:spPr>
        <p:txBody>
          <a:bodyPr wrap="none" lIns="0" tIns="0" rIns="0" bIns="0" anchor="t">
            <a:spAutoFit/>
          </a:bodyPr>
          <a:lstStyle/>
          <a:p>
            <a:pPr algn="l"/>
            <a:r>
              <a:rPr sz="1050" b="0" i="0">
                <a:solidFill>
                  <a:srgbClr val="000000"/>
                </a:solidFill>
                <a:latin typeface="Times New Roman"/>
              </a:rPr>
              <a:t>Sale</a:t>
            </a:r>
          </a:p>
        </p:txBody>
      </p:sp>
      <p:sp>
        <p:nvSpPr>
          <p:cNvPr id="49" name="TextBox 48"/>
          <p:cNvSpPr txBox="1"/>
          <p:nvPr/>
        </p:nvSpPr>
        <p:spPr>
          <a:xfrm>
            <a:off x="2802100" y="7627156"/>
            <a:ext cx="1725816" cy="177889"/>
          </a:xfrm>
          <a:prstGeom prst="rect">
            <a:avLst/>
          </a:prstGeom>
          <a:noFill/>
        </p:spPr>
        <p:txBody>
          <a:bodyPr wrap="none" lIns="0" tIns="0" rIns="0" bIns="0" anchor="t">
            <a:spAutoFit/>
          </a:bodyPr>
          <a:lstStyle/>
          <a:p>
            <a:pPr algn="ctr"/>
            <a:r>
              <a:rPr sz="1050" b="0" i="0">
                <a:solidFill>
                  <a:srgbClr val="000000"/>
                </a:solidFill>
                <a:latin typeface="Times New Roman"/>
              </a:rPr>
              <a:t>Sale ID, date, transaction details</a:t>
            </a:r>
          </a:p>
        </p:txBody>
      </p:sp>
      <p:sp>
        <p:nvSpPr>
          <p:cNvPr id="50" name="TextBox 49"/>
          <p:cNvSpPr txBox="1"/>
          <p:nvPr/>
        </p:nvSpPr>
        <p:spPr>
          <a:xfrm>
            <a:off x="4859499" y="7627156"/>
            <a:ext cx="766629" cy="177889"/>
          </a:xfrm>
          <a:prstGeom prst="rect">
            <a:avLst/>
          </a:prstGeom>
          <a:noFill/>
        </p:spPr>
        <p:txBody>
          <a:bodyPr wrap="none" lIns="0" tIns="0" rIns="0" bIns="0" anchor="t">
            <a:spAutoFit/>
          </a:bodyPr>
          <a:lstStyle/>
          <a:p>
            <a:pPr algn="l"/>
            <a:r>
              <a:rPr sz="1050" b="0" i="0">
                <a:solidFill>
                  <a:srgbClr val="000000"/>
                </a:solidFill>
                <a:latin typeface="Times New Roman"/>
              </a:rPr>
              <a:t>Reduces stock</a:t>
            </a:r>
          </a:p>
        </p:txBody>
      </p:sp>
      <p:sp>
        <p:nvSpPr>
          <p:cNvPr id="51" name="TextBox 50"/>
          <p:cNvSpPr txBox="1"/>
          <p:nvPr/>
        </p:nvSpPr>
        <p:spPr>
          <a:xfrm>
            <a:off x="744700" y="7931956"/>
            <a:ext cx="303771" cy="177889"/>
          </a:xfrm>
          <a:prstGeom prst="rect">
            <a:avLst/>
          </a:prstGeom>
          <a:noFill/>
        </p:spPr>
        <p:txBody>
          <a:bodyPr wrap="none" lIns="0" tIns="0" rIns="0" bIns="0" anchor="t">
            <a:spAutoFit/>
          </a:bodyPr>
          <a:lstStyle/>
          <a:p>
            <a:pPr algn="l"/>
            <a:r>
              <a:rPr sz="1050" b="0" i="0">
                <a:solidFill>
                  <a:srgbClr val="000000"/>
                </a:solidFill>
                <a:latin typeface="Times New Roman"/>
              </a:rPr>
              <a:t>Stock</a:t>
            </a:r>
          </a:p>
        </p:txBody>
      </p:sp>
      <p:sp>
        <p:nvSpPr>
          <p:cNvPr id="52" name="TextBox 51"/>
          <p:cNvSpPr txBox="1"/>
          <p:nvPr/>
        </p:nvSpPr>
        <p:spPr>
          <a:xfrm>
            <a:off x="2802100" y="7855756"/>
            <a:ext cx="1906905" cy="177889"/>
          </a:xfrm>
          <a:prstGeom prst="rect">
            <a:avLst/>
          </a:prstGeom>
          <a:noFill/>
        </p:spPr>
        <p:txBody>
          <a:bodyPr wrap="none" lIns="0" tIns="0" rIns="0" bIns="0" anchor="t">
            <a:spAutoFit/>
          </a:bodyPr>
          <a:lstStyle/>
          <a:p>
            <a:pPr algn="ctr"/>
            <a:r>
              <a:rPr sz="1050" b="0" i="0">
                <a:solidFill>
                  <a:srgbClr val="000000"/>
                </a:solidFill>
                <a:latin typeface="Times New Roman"/>
              </a:rPr>
              <a:t>Medicine/batch reference, available</a:t>
            </a:r>
          </a:p>
        </p:txBody>
      </p:sp>
      <p:sp>
        <p:nvSpPr>
          <p:cNvPr id="53" name="TextBox 52"/>
          <p:cNvSpPr txBox="1"/>
          <p:nvPr/>
        </p:nvSpPr>
        <p:spPr>
          <a:xfrm>
            <a:off x="2802100" y="8008156"/>
            <a:ext cx="437121" cy="177889"/>
          </a:xfrm>
          <a:prstGeom prst="rect">
            <a:avLst/>
          </a:prstGeom>
          <a:noFill/>
        </p:spPr>
        <p:txBody>
          <a:bodyPr wrap="none" lIns="0" tIns="0" rIns="0" bIns="0" anchor="t">
            <a:spAutoFit/>
          </a:bodyPr>
          <a:lstStyle/>
          <a:p>
            <a:pPr algn="l"/>
            <a:r>
              <a:rPr sz="1050" b="0" i="0">
                <a:solidFill>
                  <a:srgbClr val="000000"/>
                </a:solidFill>
                <a:latin typeface="Times New Roman"/>
              </a:rPr>
              <a:t>quantity</a:t>
            </a:r>
          </a:p>
        </p:txBody>
      </p:sp>
      <p:sp>
        <p:nvSpPr>
          <p:cNvPr id="54" name="TextBox 53"/>
          <p:cNvSpPr txBox="1"/>
          <p:nvPr/>
        </p:nvSpPr>
        <p:spPr>
          <a:xfrm>
            <a:off x="4859499" y="7931956"/>
            <a:ext cx="1459515" cy="177889"/>
          </a:xfrm>
          <a:prstGeom prst="rect">
            <a:avLst/>
          </a:prstGeom>
          <a:noFill/>
        </p:spPr>
        <p:txBody>
          <a:bodyPr wrap="none" lIns="0" tIns="0" rIns="0" bIns="0" anchor="t">
            <a:spAutoFit/>
          </a:bodyPr>
          <a:lstStyle/>
          <a:p>
            <a:pPr algn="l"/>
            <a:r>
              <a:rPr sz="1050" b="0" i="0">
                <a:solidFill>
                  <a:srgbClr val="000000"/>
                </a:solidFill>
                <a:latin typeface="Times New Roman"/>
              </a:rPr>
              <a:t>Current inventory visibility</a:t>
            </a:r>
          </a:p>
        </p:txBody>
      </p:sp>
      <p:sp>
        <p:nvSpPr>
          <p:cNvPr id="55" name="TextBox 54"/>
          <p:cNvSpPr txBox="1"/>
          <p:nvPr/>
        </p:nvSpPr>
        <p:spPr>
          <a:xfrm>
            <a:off x="744700" y="8236756"/>
            <a:ext cx="614743" cy="177889"/>
          </a:xfrm>
          <a:prstGeom prst="rect">
            <a:avLst/>
          </a:prstGeom>
          <a:noFill/>
        </p:spPr>
        <p:txBody>
          <a:bodyPr wrap="none" lIns="0" tIns="0" rIns="0" bIns="0" anchor="t">
            <a:spAutoFit/>
          </a:bodyPr>
          <a:lstStyle/>
          <a:p>
            <a:pPr algn="l"/>
            <a:r>
              <a:rPr sz="1050" b="0" i="0">
                <a:solidFill>
                  <a:srgbClr val="000000"/>
                </a:solidFill>
                <a:latin typeface="Times New Roman"/>
              </a:rPr>
              <a:t>User / Staff</a:t>
            </a:r>
          </a:p>
        </p:txBody>
      </p:sp>
      <p:sp>
        <p:nvSpPr>
          <p:cNvPr id="56" name="TextBox 55"/>
          <p:cNvSpPr txBox="1"/>
          <p:nvPr/>
        </p:nvSpPr>
        <p:spPr>
          <a:xfrm>
            <a:off x="2802100" y="8236756"/>
            <a:ext cx="1685010" cy="177889"/>
          </a:xfrm>
          <a:prstGeom prst="rect">
            <a:avLst/>
          </a:prstGeom>
          <a:noFill/>
        </p:spPr>
        <p:txBody>
          <a:bodyPr wrap="none" lIns="0" tIns="0" rIns="0" bIns="0" anchor="t">
            <a:spAutoFit/>
          </a:bodyPr>
          <a:lstStyle/>
          <a:p>
            <a:pPr algn="ctr"/>
            <a:r>
              <a:rPr sz="1050" b="0" i="0">
                <a:solidFill>
                  <a:srgbClr val="000000"/>
                </a:solidFill>
                <a:latin typeface="Times New Roman"/>
              </a:rPr>
              <a:t>User ID, role, credentials/status</a:t>
            </a:r>
          </a:p>
        </p:txBody>
      </p:sp>
      <p:sp>
        <p:nvSpPr>
          <p:cNvPr id="57" name="TextBox 56"/>
          <p:cNvSpPr txBox="1"/>
          <p:nvPr/>
        </p:nvSpPr>
        <p:spPr>
          <a:xfrm>
            <a:off x="4859499" y="8236756"/>
            <a:ext cx="973855" cy="177889"/>
          </a:xfrm>
          <a:prstGeom prst="rect">
            <a:avLst/>
          </a:prstGeom>
          <a:noFill/>
        </p:spPr>
        <p:txBody>
          <a:bodyPr wrap="none" lIns="0" tIns="0" rIns="0" bIns="0" anchor="t">
            <a:spAutoFit/>
          </a:bodyPr>
          <a:lstStyle/>
          <a:p>
            <a:pPr algn="l"/>
            <a:r>
              <a:rPr sz="1050" b="0" i="0">
                <a:solidFill>
                  <a:srgbClr val="000000"/>
                </a:solidFill>
                <a:latin typeface="Times New Roman"/>
              </a:rPr>
              <a:t>Authorized access</a:t>
            </a:r>
          </a:p>
        </p:txBody>
      </p:sp>
      <p:sp>
        <p:nvSpPr>
          <p:cNvPr id="59" name="TextBox 58"/>
          <p:cNvSpPr txBox="1"/>
          <p:nvPr/>
        </p:nvSpPr>
        <p:spPr>
          <a:xfrm>
            <a:off x="944880" y="8741714"/>
            <a:ext cx="3191713" cy="203301"/>
          </a:xfrm>
          <a:prstGeom prst="rect">
            <a:avLst/>
          </a:prstGeom>
          <a:noFill/>
        </p:spPr>
        <p:txBody>
          <a:bodyPr wrap="none" lIns="0" tIns="0" rIns="0" bIns="0" anchor="t">
            <a:spAutoFit/>
          </a:bodyPr>
          <a:lstStyle/>
          <a:p>
            <a:pPr algn="l"/>
            <a:r>
              <a:rPr sz="1200" b="0" i="0">
                <a:solidFill>
                  <a:srgbClr val="000000"/>
                </a:solidFill>
                <a:latin typeface="Times New Roman"/>
              </a:rPr>
              <a:t>Figure 5.1: Logical ER / Data Relationship Diagram</a:t>
            </a:r>
          </a:p>
        </p:txBody>
      </p:sp>
      <p:sp>
        <p:nvSpPr>
          <p:cNvPr id="60" name="TextBox 59"/>
          <p:cNvSpPr txBox="1"/>
          <p:nvPr/>
        </p:nvSpPr>
        <p:spPr>
          <a:xfrm>
            <a:off x="944880" y="8970315"/>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logical relationship model emphasizes traceability. A medicine may have multiple batches,</a:t>
            </a:r>
          </a:p>
        </p:txBody>
      </p:sp>
      <p:sp>
        <p:nvSpPr>
          <p:cNvPr id="61" name="TextBox 60"/>
          <p:cNvSpPr txBox="1"/>
          <p:nvPr/>
        </p:nvSpPr>
        <p:spPr>
          <a:xfrm>
            <a:off x="716280" y="9148115"/>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 supplier may be associated with multiple purchases, and purchase or sales transactions can affect</a:t>
            </a:r>
          </a:p>
        </p:txBody>
      </p:sp>
      <p:sp>
        <p:nvSpPr>
          <p:cNvPr id="62" name="TextBox 61"/>
          <p:cNvSpPr txBox="1"/>
          <p:nvPr/>
        </p:nvSpPr>
        <p:spPr>
          <a:xfrm>
            <a:off x="716280" y="9325915"/>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the available stock. Batch-level information allows expiry-related monitoring to be performed more</a:t>
            </a:r>
          </a:p>
        </p:txBody>
      </p:sp>
      <p:sp>
        <p:nvSpPr>
          <p:cNvPr id="63" name="TextBox 62"/>
          <p:cNvSpPr txBox="1"/>
          <p:nvPr/>
        </p:nvSpPr>
        <p:spPr>
          <a:xfrm>
            <a:off x="716280" y="9503715"/>
            <a:ext cx="3246425" cy="203301"/>
          </a:xfrm>
          <a:prstGeom prst="rect">
            <a:avLst/>
          </a:prstGeom>
          <a:noFill/>
        </p:spPr>
        <p:txBody>
          <a:bodyPr wrap="none" lIns="0" tIns="0" rIns="0" bIns="0" anchor="t">
            <a:spAutoFit/>
          </a:bodyPr>
          <a:lstStyle/>
          <a:p>
            <a:pPr algn="l"/>
            <a:r>
              <a:rPr sz="1200" b="0" i="0">
                <a:solidFill>
                  <a:srgbClr val="000000"/>
                </a:solidFill>
                <a:latin typeface="Times New Roman"/>
              </a:rPr>
              <a:t>precisely than a single medicine-level quantity alone.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17</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151555" y="579322"/>
            <a:ext cx="3256889" cy="281432"/>
          </a:xfrm>
          <a:prstGeom prst="rect">
            <a:avLst/>
          </a:prstGeom>
          <a:noFill/>
        </p:spPr>
        <p:txBody>
          <a:bodyPr wrap="none" lIns="0" tIns="0" rIns="0" bIns="0" anchor="t">
            <a:spAutoFit/>
          </a:bodyPr>
          <a:lstStyle/>
          <a:p>
            <a:pPr algn="ctr"/>
            <a:r>
              <a:rPr sz="1600" b="1" i="0">
                <a:solidFill>
                  <a:srgbClr val="000000"/>
                </a:solidFill>
                <a:latin typeface="Times New Roman"/>
              </a:rPr>
              <a:t>CHAPTER - 6 IMPLEMENTATION</a:t>
            </a:r>
          </a:p>
        </p:txBody>
      </p:sp>
      <p:sp>
        <p:nvSpPr>
          <p:cNvPr id="5" name="TextBox 4"/>
          <p:cNvSpPr txBox="1"/>
          <p:nvPr/>
        </p:nvSpPr>
        <p:spPr>
          <a:xfrm>
            <a:off x="716280" y="948740"/>
            <a:ext cx="2494000" cy="246252"/>
          </a:xfrm>
          <a:prstGeom prst="rect">
            <a:avLst/>
          </a:prstGeom>
          <a:noFill/>
        </p:spPr>
        <p:txBody>
          <a:bodyPr wrap="none" lIns="0" tIns="0" rIns="0" bIns="0" anchor="t">
            <a:spAutoFit/>
          </a:bodyPr>
          <a:lstStyle/>
          <a:p>
            <a:pPr algn="l"/>
            <a:r>
              <a:rPr sz="1400" b="1" i="0">
                <a:solidFill>
                  <a:srgbClr val="000000"/>
                </a:solidFill>
                <a:latin typeface="Times New Roman"/>
              </a:rPr>
              <a:t>6.1 Module-wise Implementation</a:t>
            </a:r>
          </a:p>
        </p:txBody>
      </p:sp>
      <p:sp>
        <p:nvSpPr>
          <p:cNvPr id="6" name="TextBox 5"/>
          <p:cNvSpPr txBox="1"/>
          <p:nvPr/>
        </p:nvSpPr>
        <p:spPr>
          <a:xfrm>
            <a:off x="944880" y="1227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Each module should expose only the operations required for its responsibility. This makes the</a:t>
            </a:r>
          </a:p>
        </p:txBody>
      </p:sp>
      <p:sp>
        <p:nvSpPr>
          <p:cNvPr id="7" name="TextBox 6"/>
          <p:cNvSpPr txBox="1"/>
          <p:nvPr/>
        </p:nvSpPr>
        <p:spPr>
          <a:xfrm>
            <a:off x="716280" y="1405686"/>
            <a:ext cx="5705703" cy="203301"/>
          </a:xfrm>
          <a:prstGeom prst="rect">
            <a:avLst/>
          </a:prstGeom>
          <a:noFill/>
        </p:spPr>
        <p:txBody>
          <a:bodyPr wrap="none" lIns="0" tIns="0" rIns="0" bIns="0" anchor="t">
            <a:spAutoFit/>
          </a:bodyPr>
          <a:lstStyle/>
          <a:p>
            <a:pPr algn="ctr"/>
            <a:r>
              <a:rPr sz="1200" b="0" i="0">
                <a:solidFill>
                  <a:srgbClr val="000000"/>
                </a:solidFill>
                <a:latin typeface="Times New Roman"/>
              </a:rPr>
              <a:t>API easier to understand and prevents unrelated functionality from becoming tightly coupled.</a:t>
            </a:r>
          </a:p>
        </p:txBody>
      </p:sp>
      <p:sp>
        <p:nvSpPr>
          <p:cNvPr id="8" name="TextBox 7"/>
          <p:cNvSpPr txBox="1"/>
          <p:nvPr/>
        </p:nvSpPr>
        <p:spPr>
          <a:xfrm>
            <a:off x="944880" y="16342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Module-level testing should be followed by integration testing. For example, creating a purchase</a:t>
            </a:r>
          </a:p>
        </p:txBody>
      </p:sp>
      <p:sp>
        <p:nvSpPr>
          <p:cNvPr id="9" name="TextBox 8"/>
          <p:cNvSpPr txBox="1"/>
          <p:nvPr/>
        </p:nvSpPr>
        <p:spPr>
          <a:xfrm>
            <a:off x="716280" y="18120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should be tested not only as an individual transaction but also for its effect on the related stock</a:t>
            </a:r>
          </a:p>
        </p:txBody>
      </p:sp>
      <p:sp>
        <p:nvSpPr>
          <p:cNvPr id="10" name="TextBox 9"/>
          <p:cNvSpPr txBox="1"/>
          <p:nvPr/>
        </p:nvSpPr>
        <p:spPr>
          <a:xfrm>
            <a:off x="716280" y="1989886"/>
            <a:ext cx="757732" cy="203301"/>
          </a:xfrm>
          <a:prstGeom prst="rect">
            <a:avLst/>
          </a:prstGeom>
          <a:noFill/>
        </p:spPr>
        <p:txBody>
          <a:bodyPr wrap="none" lIns="0" tIns="0" rIns="0" bIns="0" anchor="t">
            <a:spAutoFit/>
          </a:bodyPr>
          <a:lstStyle/>
          <a:p>
            <a:pPr algn="l"/>
            <a:r>
              <a:rPr sz="1200" b="0" i="0">
                <a:solidFill>
                  <a:srgbClr val="000000"/>
                </a:solidFill>
                <a:latin typeface="Times New Roman"/>
              </a:rPr>
              <a:t>information.</a:t>
            </a:r>
          </a:p>
        </p:txBody>
      </p:sp>
      <p:sp>
        <p:nvSpPr>
          <p:cNvPr id="11" name="TextBox 10"/>
          <p:cNvSpPr txBox="1"/>
          <p:nvPr/>
        </p:nvSpPr>
        <p:spPr>
          <a:xfrm>
            <a:off x="944880" y="22184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implementation is divided into modules that correspond to the business requirements. The</a:t>
            </a:r>
          </a:p>
        </p:txBody>
      </p:sp>
      <p:sp>
        <p:nvSpPr>
          <p:cNvPr id="12" name="TextBox 11"/>
          <p:cNvSpPr txBox="1"/>
          <p:nvPr/>
        </p:nvSpPr>
        <p:spPr>
          <a:xfrm>
            <a:off x="716280" y="23962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Medicine Management module supports the maintenance of medicine records. The Supplier</a:t>
            </a:r>
          </a:p>
        </p:txBody>
      </p:sp>
      <p:sp>
        <p:nvSpPr>
          <p:cNvPr id="13" name="TextBox 12"/>
          <p:cNvSpPr txBox="1"/>
          <p:nvPr/>
        </p:nvSpPr>
        <p:spPr>
          <a:xfrm>
            <a:off x="716280" y="2574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Management module maintains supplier information. Batch Management stores batch identifiers</a:t>
            </a:r>
          </a:p>
        </p:txBody>
      </p:sp>
      <p:sp>
        <p:nvSpPr>
          <p:cNvPr id="14" name="TextBox 13"/>
          <p:cNvSpPr txBox="1"/>
          <p:nvPr/>
        </p:nvSpPr>
        <p:spPr>
          <a:xfrm>
            <a:off x="716280" y="27518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and date information. Purchase and Sales modules represent inventory movement. Stock Monitoring</a:t>
            </a:r>
          </a:p>
        </p:txBody>
      </p:sp>
      <p:sp>
        <p:nvSpPr>
          <p:cNvPr id="15" name="TextBox 14"/>
          <p:cNvSpPr txBox="1"/>
          <p:nvPr/>
        </p:nvSpPr>
        <p:spPr>
          <a:xfrm>
            <a:off x="716280" y="2929686"/>
            <a:ext cx="2975457" cy="203301"/>
          </a:xfrm>
          <a:prstGeom prst="rect">
            <a:avLst/>
          </a:prstGeom>
          <a:noFill/>
        </p:spPr>
        <p:txBody>
          <a:bodyPr wrap="none" lIns="0" tIns="0" rIns="0" bIns="0" anchor="t">
            <a:spAutoFit/>
          </a:bodyPr>
          <a:lstStyle/>
          <a:p>
            <a:pPr algn="l"/>
            <a:r>
              <a:rPr sz="1200" b="0" i="0">
                <a:solidFill>
                  <a:srgbClr val="000000"/>
                </a:solidFill>
                <a:latin typeface="Times New Roman"/>
              </a:rPr>
              <a:t>provides the current view of available quantities.</a:t>
            </a:r>
          </a:p>
        </p:txBody>
      </p:sp>
      <p:sp>
        <p:nvSpPr>
          <p:cNvPr id="16" name="TextBox 15"/>
          <p:cNvSpPr txBox="1"/>
          <p:nvPr/>
        </p:nvSpPr>
        <p:spPr>
          <a:xfrm>
            <a:off x="944880" y="3158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Each module exposes operations through the REST API. Request data is validated before it is</a:t>
            </a:r>
          </a:p>
        </p:txBody>
      </p:sp>
      <p:sp>
        <p:nvSpPr>
          <p:cNvPr id="17" name="TextBox 16"/>
          <p:cNvSpPr txBox="1"/>
          <p:nvPr/>
        </p:nvSpPr>
        <p:spPr>
          <a:xfrm>
            <a:off x="716280" y="33360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passed to database operations. Responses are returned in a structured format so that clients can</a:t>
            </a:r>
          </a:p>
        </p:txBody>
      </p:sp>
      <p:sp>
        <p:nvSpPr>
          <p:cNvPr id="18" name="TextBox 17"/>
          <p:cNvSpPr txBox="1"/>
          <p:nvPr/>
        </p:nvSpPr>
        <p:spPr>
          <a:xfrm>
            <a:off x="716280" y="3513886"/>
            <a:ext cx="3186684" cy="203301"/>
          </a:xfrm>
          <a:prstGeom prst="rect">
            <a:avLst/>
          </a:prstGeom>
          <a:noFill/>
        </p:spPr>
        <p:txBody>
          <a:bodyPr wrap="none" lIns="0" tIns="0" rIns="0" bIns="0" anchor="t">
            <a:spAutoFit/>
          </a:bodyPr>
          <a:lstStyle/>
          <a:p>
            <a:pPr algn="l"/>
            <a:r>
              <a:rPr sz="1200" b="0" i="0">
                <a:solidFill>
                  <a:srgbClr val="000000"/>
                </a:solidFill>
                <a:latin typeface="Times New Roman"/>
              </a:rPr>
              <a:t>determine whether an operation succeeded or failed.</a:t>
            </a:r>
          </a:p>
        </p:txBody>
      </p:sp>
      <p:sp>
        <p:nvSpPr>
          <p:cNvPr id="19" name="TextBox 18"/>
          <p:cNvSpPr txBox="1"/>
          <p:nvPr/>
        </p:nvSpPr>
        <p:spPr>
          <a:xfrm>
            <a:off x="944880" y="3742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modular implementation also allows future features to be added without changing the entire</a:t>
            </a:r>
          </a:p>
        </p:txBody>
      </p:sp>
      <p:sp>
        <p:nvSpPr>
          <p:cNvPr id="20" name="TextBox 19"/>
          <p:cNvSpPr txBox="1"/>
          <p:nvPr/>
        </p:nvSpPr>
        <p:spPr>
          <a:xfrm>
            <a:off x="716280" y="39202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system. For example, reporting or notification services can consume the same inventory data while</a:t>
            </a:r>
          </a:p>
        </p:txBody>
      </p:sp>
      <p:sp>
        <p:nvSpPr>
          <p:cNvPr id="21" name="TextBox 20"/>
          <p:cNvSpPr txBox="1"/>
          <p:nvPr/>
        </p:nvSpPr>
        <p:spPr>
          <a:xfrm>
            <a:off x="716280" y="4098086"/>
            <a:ext cx="3068574" cy="203301"/>
          </a:xfrm>
          <a:prstGeom prst="rect">
            <a:avLst/>
          </a:prstGeom>
          <a:noFill/>
        </p:spPr>
        <p:txBody>
          <a:bodyPr wrap="none" lIns="0" tIns="0" rIns="0" bIns="0" anchor="t">
            <a:spAutoFit/>
          </a:bodyPr>
          <a:lstStyle/>
          <a:p>
            <a:pPr algn="l"/>
            <a:r>
              <a:rPr sz="1200" b="0" i="0">
                <a:solidFill>
                  <a:srgbClr val="000000"/>
                </a:solidFill>
                <a:latin typeface="Times New Roman"/>
              </a:rPr>
              <a:t>remaining separate from the core CRUD modules.</a:t>
            </a:r>
          </a:p>
        </p:txBody>
      </p:sp>
      <p:sp>
        <p:nvSpPr>
          <p:cNvPr id="22" name="TextBox 21"/>
          <p:cNvSpPr txBox="1"/>
          <p:nvPr/>
        </p:nvSpPr>
        <p:spPr>
          <a:xfrm>
            <a:off x="2018389" y="4389856"/>
            <a:ext cx="437121" cy="184689"/>
          </a:xfrm>
          <a:prstGeom prst="rect">
            <a:avLst/>
          </a:prstGeom>
          <a:noFill/>
        </p:spPr>
        <p:txBody>
          <a:bodyPr wrap="none" lIns="0" tIns="0" rIns="0" bIns="0" anchor="t">
            <a:spAutoFit/>
          </a:bodyPr>
          <a:lstStyle/>
          <a:p>
            <a:pPr algn="l"/>
            <a:r>
              <a:rPr sz="1050" b="1" i="0">
                <a:solidFill>
                  <a:srgbClr val="000000"/>
                </a:solidFill>
                <a:latin typeface="Times New Roman"/>
              </a:rPr>
              <a:t>Module</a:t>
            </a:r>
          </a:p>
        </p:txBody>
      </p:sp>
      <p:sp>
        <p:nvSpPr>
          <p:cNvPr id="23" name="TextBox 22"/>
          <p:cNvSpPr txBox="1"/>
          <p:nvPr/>
        </p:nvSpPr>
        <p:spPr>
          <a:xfrm>
            <a:off x="4661834" y="4389856"/>
            <a:ext cx="1322432" cy="184689"/>
          </a:xfrm>
          <a:prstGeom prst="rect">
            <a:avLst/>
          </a:prstGeom>
          <a:noFill/>
        </p:spPr>
        <p:txBody>
          <a:bodyPr wrap="none" lIns="0" tIns="0" rIns="0" bIns="0" anchor="t">
            <a:spAutoFit/>
          </a:bodyPr>
          <a:lstStyle/>
          <a:p>
            <a:pPr algn="l"/>
            <a:r>
              <a:rPr sz="1050" b="1" i="0">
                <a:solidFill>
                  <a:srgbClr val="000000"/>
                </a:solidFill>
                <a:latin typeface="Times New Roman"/>
              </a:rPr>
              <a:t>Primary Responsibility</a:t>
            </a:r>
          </a:p>
        </p:txBody>
      </p:sp>
      <p:sp>
        <p:nvSpPr>
          <p:cNvPr id="24" name="TextBox 23"/>
          <p:cNvSpPr txBox="1"/>
          <p:nvPr/>
        </p:nvSpPr>
        <p:spPr>
          <a:xfrm>
            <a:off x="744700" y="4617256"/>
            <a:ext cx="1233220" cy="177888"/>
          </a:xfrm>
          <a:prstGeom prst="rect">
            <a:avLst/>
          </a:prstGeom>
          <a:noFill/>
        </p:spPr>
        <p:txBody>
          <a:bodyPr wrap="none" lIns="0" tIns="0" rIns="0" bIns="0" anchor="t">
            <a:spAutoFit/>
          </a:bodyPr>
          <a:lstStyle/>
          <a:p>
            <a:pPr algn="l"/>
            <a:r>
              <a:rPr sz="1050" b="0" i="0">
                <a:solidFill>
                  <a:srgbClr val="000000"/>
                </a:solidFill>
                <a:latin typeface="Times New Roman"/>
              </a:rPr>
              <a:t>Medicine Management</a:t>
            </a:r>
          </a:p>
        </p:txBody>
      </p:sp>
      <p:sp>
        <p:nvSpPr>
          <p:cNvPr id="25" name="TextBox 24"/>
          <p:cNvSpPr txBox="1"/>
          <p:nvPr/>
        </p:nvSpPr>
        <p:spPr>
          <a:xfrm>
            <a:off x="3830799" y="4617256"/>
            <a:ext cx="2769813" cy="177888"/>
          </a:xfrm>
          <a:prstGeom prst="rect">
            <a:avLst/>
          </a:prstGeom>
          <a:noFill/>
        </p:spPr>
        <p:txBody>
          <a:bodyPr wrap="none" lIns="0" tIns="0" rIns="0" bIns="0" anchor="t">
            <a:spAutoFit/>
          </a:bodyPr>
          <a:lstStyle/>
          <a:p>
            <a:pPr algn="l"/>
            <a:r>
              <a:rPr sz="1050" b="0" i="0">
                <a:solidFill>
                  <a:srgbClr val="000000"/>
                </a:solidFill>
                <a:latin typeface="Times New Roman"/>
              </a:rPr>
              <a:t>Create, retrieve, update and delete medicine records</a:t>
            </a:r>
          </a:p>
        </p:txBody>
      </p:sp>
      <p:sp>
        <p:nvSpPr>
          <p:cNvPr id="26" name="TextBox 25"/>
          <p:cNvSpPr txBox="1"/>
          <p:nvPr/>
        </p:nvSpPr>
        <p:spPr>
          <a:xfrm>
            <a:off x="744700" y="4845856"/>
            <a:ext cx="1181481" cy="177888"/>
          </a:xfrm>
          <a:prstGeom prst="rect">
            <a:avLst/>
          </a:prstGeom>
          <a:noFill/>
        </p:spPr>
        <p:txBody>
          <a:bodyPr wrap="none" lIns="0" tIns="0" rIns="0" bIns="0" anchor="t">
            <a:spAutoFit/>
          </a:bodyPr>
          <a:lstStyle/>
          <a:p>
            <a:pPr algn="l"/>
            <a:r>
              <a:rPr sz="1050" b="0" i="0">
                <a:solidFill>
                  <a:srgbClr val="000000"/>
                </a:solidFill>
                <a:latin typeface="Times New Roman"/>
              </a:rPr>
              <a:t>Supplier Management</a:t>
            </a:r>
          </a:p>
        </p:txBody>
      </p:sp>
      <p:sp>
        <p:nvSpPr>
          <p:cNvPr id="27" name="TextBox 26"/>
          <p:cNvSpPr txBox="1"/>
          <p:nvPr/>
        </p:nvSpPr>
        <p:spPr>
          <a:xfrm>
            <a:off x="3830799" y="4845856"/>
            <a:ext cx="1607534" cy="177888"/>
          </a:xfrm>
          <a:prstGeom prst="rect">
            <a:avLst/>
          </a:prstGeom>
          <a:noFill/>
        </p:spPr>
        <p:txBody>
          <a:bodyPr wrap="none" lIns="0" tIns="0" rIns="0" bIns="0" anchor="t">
            <a:spAutoFit/>
          </a:bodyPr>
          <a:lstStyle/>
          <a:p>
            <a:pPr algn="l"/>
            <a:r>
              <a:rPr sz="1050" b="0" i="0">
                <a:solidFill>
                  <a:srgbClr val="000000"/>
                </a:solidFill>
                <a:latin typeface="Times New Roman"/>
              </a:rPr>
              <a:t>Maintain supplier information</a:t>
            </a:r>
          </a:p>
        </p:txBody>
      </p:sp>
      <p:sp>
        <p:nvSpPr>
          <p:cNvPr id="28" name="TextBox 27"/>
          <p:cNvSpPr txBox="1"/>
          <p:nvPr/>
        </p:nvSpPr>
        <p:spPr>
          <a:xfrm>
            <a:off x="744700" y="5074456"/>
            <a:ext cx="1040663" cy="177888"/>
          </a:xfrm>
          <a:prstGeom prst="rect">
            <a:avLst/>
          </a:prstGeom>
          <a:noFill/>
        </p:spPr>
        <p:txBody>
          <a:bodyPr wrap="none" lIns="0" tIns="0" rIns="0" bIns="0" anchor="t">
            <a:spAutoFit/>
          </a:bodyPr>
          <a:lstStyle/>
          <a:p>
            <a:pPr algn="l"/>
            <a:r>
              <a:rPr sz="1050" b="0" i="0">
                <a:solidFill>
                  <a:srgbClr val="000000"/>
                </a:solidFill>
                <a:latin typeface="Times New Roman"/>
              </a:rPr>
              <a:t>Batch Management</a:t>
            </a:r>
          </a:p>
        </p:txBody>
      </p:sp>
      <p:sp>
        <p:nvSpPr>
          <p:cNvPr id="29" name="TextBox 28"/>
          <p:cNvSpPr txBox="1"/>
          <p:nvPr/>
        </p:nvSpPr>
        <p:spPr>
          <a:xfrm>
            <a:off x="3830799" y="5074456"/>
            <a:ext cx="2795949" cy="177888"/>
          </a:xfrm>
          <a:prstGeom prst="rect">
            <a:avLst/>
          </a:prstGeom>
          <a:noFill/>
        </p:spPr>
        <p:txBody>
          <a:bodyPr wrap="none" lIns="0" tIns="0" rIns="0" bIns="0" anchor="t">
            <a:spAutoFit/>
          </a:bodyPr>
          <a:lstStyle/>
          <a:p>
            <a:pPr algn="l"/>
            <a:r>
              <a:rPr sz="1050" b="0" i="0">
                <a:solidFill>
                  <a:srgbClr val="000000"/>
                </a:solidFill>
                <a:latin typeface="Times New Roman"/>
              </a:rPr>
              <a:t>Track batch number and manufacturing/expiry dates</a:t>
            </a:r>
          </a:p>
        </p:txBody>
      </p:sp>
      <p:sp>
        <p:nvSpPr>
          <p:cNvPr id="30" name="TextBox 29"/>
          <p:cNvSpPr txBox="1"/>
          <p:nvPr/>
        </p:nvSpPr>
        <p:spPr>
          <a:xfrm>
            <a:off x="744700" y="5303056"/>
            <a:ext cx="1210951" cy="177888"/>
          </a:xfrm>
          <a:prstGeom prst="rect">
            <a:avLst/>
          </a:prstGeom>
          <a:noFill/>
        </p:spPr>
        <p:txBody>
          <a:bodyPr wrap="none" lIns="0" tIns="0" rIns="0" bIns="0" anchor="t">
            <a:spAutoFit/>
          </a:bodyPr>
          <a:lstStyle/>
          <a:p>
            <a:pPr algn="l"/>
            <a:r>
              <a:rPr sz="1050" b="0" i="0">
                <a:solidFill>
                  <a:srgbClr val="000000"/>
                </a:solidFill>
                <a:latin typeface="Times New Roman"/>
              </a:rPr>
              <a:t>Purchase Management</a:t>
            </a:r>
          </a:p>
        </p:txBody>
      </p:sp>
      <p:sp>
        <p:nvSpPr>
          <p:cNvPr id="31" name="TextBox 30"/>
          <p:cNvSpPr txBox="1"/>
          <p:nvPr/>
        </p:nvSpPr>
        <p:spPr>
          <a:xfrm>
            <a:off x="3830799" y="5303056"/>
            <a:ext cx="1907438" cy="177888"/>
          </a:xfrm>
          <a:prstGeom prst="rect">
            <a:avLst/>
          </a:prstGeom>
          <a:noFill/>
        </p:spPr>
        <p:txBody>
          <a:bodyPr wrap="none" lIns="0" tIns="0" rIns="0" bIns="0" anchor="t">
            <a:spAutoFit/>
          </a:bodyPr>
          <a:lstStyle/>
          <a:p>
            <a:pPr algn="l"/>
            <a:r>
              <a:rPr sz="1050" b="0" i="0">
                <a:solidFill>
                  <a:srgbClr val="000000"/>
                </a:solidFill>
                <a:latin typeface="Times New Roman"/>
              </a:rPr>
              <a:t>Record incoming stock transactions</a:t>
            </a:r>
          </a:p>
        </p:txBody>
      </p:sp>
      <p:sp>
        <p:nvSpPr>
          <p:cNvPr id="32" name="TextBox 31"/>
          <p:cNvSpPr txBox="1"/>
          <p:nvPr/>
        </p:nvSpPr>
        <p:spPr>
          <a:xfrm>
            <a:off x="744700" y="5531656"/>
            <a:ext cx="1011059" cy="177888"/>
          </a:xfrm>
          <a:prstGeom prst="rect">
            <a:avLst/>
          </a:prstGeom>
          <a:noFill/>
        </p:spPr>
        <p:txBody>
          <a:bodyPr wrap="none" lIns="0" tIns="0" rIns="0" bIns="0" anchor="t">
            <a:spAutoFit/>
          </a:bodyPr>
          <a:lstStyle/>
          <a:p>
            <a:pPr algn="l"/>
            <a:r>
              <a:rPr sz="1050" b="0" i="0">
                <a:solidFill>
                  <a:srgbClr val="000000"/>
                </a:solidFill>
                <a:latin typeface="Times New Roman"/>
              </a:rPr>
              <a:t>Sales Management</a:t>
            </a:r>
          </a:p>
        </p:txBody>
      </p:sp>
      <p:sp>
        <p:nvSpPr>
          <p:cNvPr id="33" name="TextBox 32"/>
          <p:cNvSpPr txBox="1"/>
          <p:nvPr/>
        </p:nvSpPr>
        <p:spPr>
          <a:xfrm>
            <a:off x="3830799" y="5531656"/>
            <a:ext cx="1877834" cy="177888"/>
          </a:xfrm>
          <a:prstGeom prst="rect">
            <a:avLst/>
          </a:prstGeom>
          <a:noFill/>
        </p:spPr>
        <p:txBody>
          <a:bodyPr wrap="none" lIns="0" tIns="0" rIns="0" bIns="0" anchor="t">
            <a:spAutoFit/>
          </a:bodyPr>
          <a:lstStyle/>
          <a:p>
            <a:pPr algn="l"/>
            <a:r>
              <a:rPr sz="1050" b="0" i="0">
                <a:solidFill>
                  <a:srgbClr val="000000"/>
                </a:solidFill>
                <a:latin typeface="Times New Roman"/>
              </a:rPr>
              <a:t>Record outgoing stock transactions</a:t>
            </a:r>
          </a:p>
        </p:txBody>
      </p:sp>
      <p:sp>
        <p:nvSpPr>
          <p:cNvPr id="34" name="TextBox 33"/>
          <p:cNvSpPr txBox="1"/>
          <p:nvPr/>
        </p:nvSpPr>
        <p:spPr>
          <a:xfrm>
            <a:off x="744700" y="5760256"/>
            <a:ext cx="944651" cy="177888"/>
          </a:xfrm>
          <a:prstGeom prst="rect">
            <a:avLst/>
          </a:prstGeom>
          <a:noFill/>
        </p:spPr>
        <p:txBody>
          <a:bodyPr wrap="none" lIns="0" tIns="0" rIns="0" bIns="0" anchor="t">
            <a:spAutoFit/>
          </a:bodyPr>
          <a:lstStyle/>
          <a:p>
            <a:pPr algn="l"/>
            <a:r>
              <a:rPr sz="1050" b="0" i="0">
                <a:solidFill>
                  <a:srgbClr val="000000"/>
                </a:solidFill>
                <a:latin typeface="Times New Roman"/>
              </a:rPr>
              <a:t>Stock Monitoring</a:t>
            </a:r>
          </a:p>
        </p:txBody>
      </p:sp>
      <p:sp>
        <p:nvSpPr>
          <p:cNvPr id="35" name="TextBox 34"/>
          <p:cNvSpPr txBox="1"/>
          <p:nvPr/>
        </p:nvSpPr>
        <p:spPr>
          <a:xfrm>
            <a:off x="3830799" y="5760256"/>
            <a:ext cx="2685269" cy="177888"/>
          </a:xfrm>
          <a:prstGeom prst="rect">
            <a:avLst/>
          </a:prstGeom>
          <a:noFill/>
        </p:spPr>
        <p:txBody>
          <a:bodyPr wrap="none" lIns="0" tIns="0" rIns="0" bIns="0" anchor="t">
            <a:spAutoFit/>
          </a:bodyPr>
          <a:lstStyle/>
          <a:p>
            <a:pPr algn="l"/>
            <a:r>
              <a:rPr sz="1050" b="0" i="0">
                <a:solidFill>
                  <a:srgbClr val="000000"/>
                </a:solidFill>
                <a:latin typeface="Times New Roman"/>
              </a:rPr>
              <a:t>Track quantities and identify low-stock conditions</a:t>
            </a:r>
          </a:p>
        </p:txBody>
      </p:sp>
      <p:sp>
        <p:nvSpPr>
          <p:cNvPr id="36" name="TextBox 35"/>
          <p:cNvSpPr txBox="1"/>
          <p:nvPr/>
        </p:nvSpPr>
        <p:spPr>
          <a:xfrm>
            <a:off x="744700" y="5988856"/>
            <a:ext cx="1003858" cy="177888"/>
          </a:xfrm>
          <a:prstGeom prst="rect">
            <a:avLst/>
          </a:prstGeom>
          <a:noFill/>
        </p:spPr>
        <p:txBody>
          <a:bodyPr wrap="none" lIns="0" tIns="0" rIns="0" bIns="0" anchor="t">
            <a:spAutoFit/>
          </a:bodyPr>
          <a:lstStyle/>
          <a:p>
            <a:pPr algn="l"/>
            <a:r>
              <a:rPr sz="1050" b="0" i="0">
                <a:solidFill>
                  <a:srgbClr val="000000"/>
                </a:solidFill>
                <a:latin typeface="Times New Roman"/>
              </a:rPr>
              <a:t>Expiry Monitoring</a:t>
            </a:r>
          </a:p>
        </p:txBody>
      </p:sp>
      <p:sp>
        <p:nvSpPr>
          <p:cNvPr id="37" name="TextBox 36"/>
          <p:cNvSpPr txBox="1"/>
          <p:nvPr/>
        </p:nvSpPr>
        <p:spPr>
          <a:xfrm>
            <a:off x="3830799" y="5988856"/>
            <a:ext cx="2162536" cy="177888"/>
          </a:xfrm>
          <a:prstGeom prst="rect">
            <a:avLst/>
          </a:prstGeom>
          <a:noFill/>
        </p:spPr>
        <p:txBody>
          <a:bodyPr wrap="none" lIns="0" tIns="0" rIns="0" bIns="0" anchor="t">
            <a:spAutoFit/>
          </a:bodyPr>
          <a:lstStyle/>
          <a:p>
            <a:pPr algn="l"/>
            <a:r>
              <a:rPr sz="1050" b="0" i="0">
                <a:solidFill>
                  <a:srgbClr val="000000"/>
                </a:solidFill>
                <a:latin typeface="Times New Roman"/>
              </a:rPr>
              <a:t>Identify near-expiry and expired batches</a:t>
            </a:r>
          </a:p>
        </p:txBody>
      </p:sp>
      <p:sp>
        <p:nvSpPr>
          <p:cNvPr id="38" name="TextBox 37"/>
          <p:cNvSpPr txBox="1"/>
          <p:nvPr/>
        </p:nvSpPr>
        <p:spPr>
          <a:xfrm>
            <a:off x="744700" y="6217456"/>
            <a:ext cx="818502" cy="177888"/>
          </a:xfrm>
          <a:prstGeom prst="rect">
            <a:avLst/>
          </a:prstGeom>
          <a:noFill/>
        </p:spPr>
        <p:txBody>
          <a:bodyPr wrap="none" lIns="0" tIns="0" rIns="0" bIns="0" anchor="t">
            <a:spAutoFit/>
          </a:bodyPr>
          <a:lstStyle/>
          <a:p>
            <a:pPr algn="l"/>
            <a:r>
              <a:rPr sz="1050" b="0" i="0">
                <a:solidFill>
                  <a:srgbClr val="000000"/>
                </a:solidFill>
                <a:latin typeface="Times New Roman"/>
              </a:rPr>
              <a:t>Access Control</a:t>
            </a:r>
          </a:p>
        </p:txBody>
      </p:sp>
      <p:sp>
        <p:nvSpPr>
          <p:cNvPr id="39" name="TextBox 38"/>
          <p:cNvSpPr txBox="1"/>
          <p:nvPr/>
        </p:nvSpPr>
        <p:spPr>
          <a:xfrm>
            <a:off x="3830799" y="6217456"/>
            <a:ext cx="2507380" cy="177888"/>
          </a:xfrm>
          <a:prstGeom prst="rect">
            <a:avLst/>
          </a:prstGeom>
          <a:noFill/>
        </p:spPr>
        <p:txBody>
          <a:bodyPr wrap="none" lIns="0" tIns="0" rIns="0" bIns="0" anchor="t">
            <a:spAutoFit/>
          </a:bodyPr>
          <a:lstStyle/>
          <a:p>
            <a:pPr algn="l"/>
            <a:r>
              <a:rPr sz="1050" b="0" i="0">
                <a:solidFill>
                  <a:srgbClr val="000000"/>
                </a:solidFill>
                <a:latin typeface="Times New Roman"/>
              </a:rPr>
              <a:t>Restrict sensitive operations to authorized staff</a:t>
            </a:r>
          </a:p>
        </p:txBody>
      </p:sp>
      <p:sp>
        <p:nvSpPr>
          <p:cNvPr id="40" name="TextBox 39"/>
          <p:cNvSpPr txBox="1"/>
          <p:nvPr/>
        </p:nvSpPr>
        <p:spPr>
          <a:xfrm>
            <a:off x="716280" y="6528104"/>
            <a:ext cx="2558542" cy="246253"/>
          </a:xfrm>
          <a:prstGeom prst="rect">
            <a:avLst/>
          </a:prstGeom>
          <a:noFill/>
        </p:spPr>
        <p:txBody>
          <a:bodyPr wrap="none" lIns="0" tIns="0" rIns="0" bIns="0" anchor="t">
            <a:spAutoFit/>
          </a:bodyPr>
          <a:lstStyle/>
          <a:p>
            <a:pPr algn="l"/>
            <a:r>
              <a:rPr sz="1400" b="1" i="0">
                <a:solidFill>
                  <a:srgbClr val="000000"/>
                </a:solidFill>
                <a:latin typeface="Times New Roman"/>
              </a:rPr>
              <a:t>6.2 Backend Logic and Data Flow</a:t>
            </a:r>
          </a:p>
        </p:txBody>
      </p:sp>
      <p:sp>
        <p:nvSpPr>
          <p:cNvPr id="41" name="TextBox 40"/>
          <p:cNvSpPr txBox="1"/>
          <p:nvPr/>
        </p:nvSpPr>
        <p:spPr>
          <a:xfrm>
            <a:off x="944880" y="6807251"/>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data flow should be predictable and traceable. Every request should move through the same</a:t>
            </a:r>
          </a:p>
        </p:txBody>
      </p:sp>
      <p:sp>
        <p:nvSpPr>
          <p:cNvPr id="42" name="TextBox 41"/>
          <p:cNvSpPr txBox="1"/>
          <p:nvPr/>
        </p:nvSpPr>
        <p:spPr>
          <a:xfrm>
            <a:off x="716280" y="6985051"/>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major stages of validation, authorization where required, business processing, database interaction,</a:t>
            </a:r>
          </a:p>
        </p:txBody>
      </p:sp>
      <p:sp>
        <p:nvSpPr>
          <p:cNvPr id="43" name="TextBox 42"/>
          <p:cNvSpPr txBox="1"/>
          <p:nvPr/>
        </p:nvSpPr>
        <p:spPr>
          <a:xfrm>
            <a:off x="716280" y="7162851"/>
            <a:ext cx="1510893" cy="203301"/>
          </a:xfrm>
          <a:prstGeom prst="rect">
            <a:avLst/>
          </a:prstGeom>
          <a:noFill/>
        </p:spPr>
        <p:txBody>
          <a:bodyPr wrap="none" lIns="0" tIns="0" rIns="0" bIns="0" anchor="t">
            <a:spAutoFit/>
          </a:bodyPr>
          <a:lstStyle/>
          <a:p>
            <a:pPr algn="l"/>
            <a:r>
              <a:rPr sz="1200" b="0" i="0">
                <a:solidFill>
                  <a:srgbClr val="000000"/>
                </a:solidFill>
                <a:latin typeface="Times New Roman"/>
              </a:rPr>
              <a:t>and response generation.</a:t>
            </a:r>
          </a:p>
        </p:txBody>
      </p:sp>
      <p:sp>
        <p:nvSpPr>
          <p:cNvPr id="44" name="TextBox 43"/>
          <p:cNvSpPr txBox="1"/>
          <p:nvPr/>
        </p:nvSpPr>
        <p:spPr>
          <a:xfrm>
            <a:off x="944880" y="739145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Logging can support troubleshooting by recording important server events without exposing</a:t>
            </a:r>
          </a:p>
        </p:txBody>
      </p:sp>
      <p:sp>
        <p:nvSpPr>
          <p:cNvPr id="45" name="TextBox 44"/>
          <p:cNvSpPr txBox="1"/>
          <p:nvPr/>
        </p:nvSpPr>
        <p:spPr>
          <a:xfrm>
            <a:off x="716280" y="75692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sensitive credentials. In production, logs should be protected and retained according to operational</a:t>
            </a:r>
          </a:p>
        </p:txBody>
      </p:sp>
      <p:sp>
        <p:nvSpPr>
          <p:cNvPr id="46" name="TextBox 45"/>
          <p:cNvSpPr txBox="1"/>
          <p:nvPr/>
        </p:nvSpPr>
        <p:spPr>
          <a:xfrm>
            <a:off x="716280" y="7747050"/>
            <a:ext cx="833780" cy="203301"/>
          </a:xfrm>
          <a:prstGeom prst="rect">
            <a:avLst/>
          </a:prstGeom>
          <a:noFill/>
        </p:spPr>
        <p:txBody>
          <a:bodyPr wrap="none" lIns="0" tIns="0" rIns="0" bIns="0" anchor="t">
            <a:spAutoFit/>
          </a:bodyPr>
          <a:lstStyle/>
          <a:p>
            <a:pPr algn="l"/>
            <a:r>
              <a:rPr sz="1200" b="0" i="0">
                <a:solidFill>
                  <a:srgbClr val="000000"/>
                </a:solidFill>
                <a:latin typeface="Times New Roman"/>
              </a:rPr>
              <a:t>requirements.</a:t>
            </a:r>
          </a:p>
        </p:txBody>
      </p:sp>
      <p:sp>
        <p:nvSpPr>
          <p:cNvPr id="47" name="TextBox 46"/>
          <p:cNvSpPr txBox="1"/>
          <p:nvPr/>
        </p:nvSpPr>
        <p:spPr>
          <a:xfrm>
            <a:off x="944880" y="797565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A typical request begins at an Express.js route. Middleware performs common processing such</a:t>
            </a:r>
          </a:p>
        </p:txBody>
      </p:sp>
      <p:sp>
        <p:nvSpPr>
          <p:cNvPr id="48" name="TextBox 47"/>
          <p:cNvSpPr txBox="1"/>
          <p:nvPr/>
        </p:nvSpPr>
        <p:spPr>
          <a:xfrm>
            <a:off x="716280" y="81534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as parsing input, checking authentication information, and validating request fields. The request is</a:t>
            </a:r>
          </a:p>
        </p:txBody>
      </p:sp>
      <p:sp>
        <p:nvSpPr>
          <p:cNvPr id="49" name="TextBox 48"/>
          <p:cNvSpPr txBox="1"/>
          <p:nvPr/>
        </p:nvSpPr>
        <p:spPr>
          <a:xfrm>
            <a:off x="716280" y="8331250"/>
            <a:ext cx="3263189" cy="203301"/>
          </a:xfrm>
          <a:prstGeom prst="rect">
            <a:avLst/>
          </a:prstGeom>
          <a:noFill/>
        </p:spPr>
        <p:txBody>
          <a:bodyPr wrap="none" lIns="0" tIns="0" rIns="0" bIns="0" anchor="t">
            <a:spAutoFit/>
          </a:bodyPr>
          <a:lstStyle/>
          <a:p>
            <a:pPr algn="l"/>
            <a:r>
              <a:rPr sz="1200" b="0" i="0">
                <a:solidFill>
                  <a:srgbClr val="000000"/>
                </a:solidFill>
                <a:latin typeface="Times New Roman"/>
              </a:rPr>
              <a:t>then passed to the relevant service or controller logic.</a:t>
            </a:r>
          </a:p>
        </p:txBody>
      </p:sp>
      <p:sp>
        <p:nvSpPr>
          <p:cNvPr id="50" name="TextBox 49"/>
          <p:cNvSpPr txBox="1"/>
          <p:nvPr/>
        </p:nvSpPr>
        <p:spPr>
          <a:xfrm>
            <a:off x="944880" y="855985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business logic determines what database operation is required. For example, a purchase</a:t>
            </a:r>
          </a:p>
        </p:txBody>
      </p:sp>
      <p:sp>
        <p:nvSpPr>
          <p:cNvPr id="51" name="TextBox 50"/>
          <p:cNvSpPr txBox="1"/>
          <p:nvPr/>
        </p:nvSpPr>
        <p:spPr>
          <a:xfrm>
            <a:off x="716280" y="873765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transaction may require a purchase record to be stored and the corresponding stock quantity to be</a:t>
            </a:r>
          </a:p>
        </p:txBody>
      </p:sp>
      <p:sp>
        <p:nvSpPr>
          <p:cNvPr id="52" name="TextBox 51"/>
          <p:cNvSpPr txBox="1"/>
          <p:nvPr/>
        </p:nvSpPr>
        <p:spPr>
          <a:xfrm>
            <a:off x="716280" y="891545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increased. A sales transaction may reduce the available quantity after validating that sufficient stock</a:t>
            </a:r>
          </a:p>
        </p:txBody>
      </p:sp>
      <p:sp>
        <p:nvSpPr>
          <p:cNvPr id="53" name="TextBox 52"/>
          <p:cNvSpPr txBox="1"/>
          <p:nvPr/>
        </p:nvSpPr>
        <p:spPr>
          <a:xfrm>
            <a:off x="716280" y="9093250"/>
            <a:ext cx="385267" cy="203301"/>
          </a:xfrm>
          <a:prstGeom prst="rect">
            <a:avLst/>
          </a:prstGeom>
          <a:noFill/>
        </p:spPr>
        <p:txBody>
          <a:bodyPr wrap="none" lIns="0" tIns="0" rIns="0" bIns="0" anchor="t">
            <a:spAutoFit/>
          </a:bodyPr>
          <a:lstStyle/>
          <a:p>
            <a:pPr algn="l"/>
            <a:r>
              <a:rPr sz="1200" b="0" i="0">
                <a:solidFill>
                  <a:srgbClr val="000000"/>
                </a:solidFill>
                <a:latin typeface="Times New Roman"/>
              </a:rPr>
              <a:t>exists.</a:t>
            </a:r>
          </a:p>
        </p:txBody>
      </p:sp>
      <p:sp>
        <p:nvSpPr>
          <p:cNvPr id="54" name="TextBox 53"/>
          <p:cNvSpPr txBox="1"/>
          <p:nvPr/>
        </p:nvSpPr>
        <p:spPr>
          <a:xfrm>
            <a:off x="944880" y="9321851"/>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After the database operation completes, the backend constructs a response. Errors are handled</a:t>
            </a:r>
          </a:p>
        </p:txBody>
      </p:sp>
      <p:sp>
        <p:nvSpPr>
          <p:cNvPr id="55" name="TextBox 54"/>
          <p:cNvSpPr txBox="1"/>
          <p:nvPr/>
        </p:nvSpPr>
        <p:spPr>
          <a:xfrm>
            <a:off x="716280" y="9499651"/>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through consistent error-handling middleware so that clients receive meaningful responses instead</a:t>
            </a:r>
          </a:p>
        </p:txBody>
      </p:sp>
      <p:sp>
        <p:nvSpPr>
          <p:cNvPr id="56" name="TextBox 55"/>
          <p:cNvSpPr txBox="1"/>
          <p:nvPr/>
        </p:nvSpPr>
        <p:spPr>
          <a:xfrm>
            <a:off x="716280" y="9677451"/>
            <a:ext cx="1633728" cy="203301"/>
          </a:xfrm>
          <a:prstGeom prst="rect">
            <a:avLst/>
          </a:prstGeom>
          <a:noFill/>
        </p:spPr>
        <p:txBody>
          <a:bodyPr wrap="none" lIns="0" tIns="0" rIns="0" bIns="0" anchor="t">
            <a:spAutoFit/>
          </a:bodyPr>
          <a:lstStyle/>
          <a:p>
            <a:pPr algn="l"/>
            <a:r>
              <a:rPr sz="1200" b="0" i="0">
                <a:solidFill>
                  <a:srgbClr val="000000"/>
                </a:solidFill>
                <a:latin typeface="Times New Roman"/>
              </a:rPr>
              <a:t>of raw runtime exceptions.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18</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544846" y="620495"/>
            <a:ext cx="2470308" cy="184689"/>
          </a:xfrm>
          <a:prstGeom prst="rect">
            <a:avLst/>
          </a:prstGeom>
          <a:noFill/>
        </p:spPr>
        <p:txBody>
          <a:bodyPr wrap="none" lIns="0" tIns="0" rIns="0" bIns="0" anchor="t">
            <a:spAutoFit/>
          </a:bodyPr>
          <a:lstStyle/>
          <a:p>
            <a:pPr algn="ctr"/>
            <a:r>
              <a:rPr sz="1050" b="1" i="0">
                <a:solidFill>
                  <a:srgbClr val="000000"/>
                </a:solidFill>
                <a:latin typeface="Times New Roman"/>
              </a:rPr>
              <a:t>Figure 6.1: Request-to-Response Data Flow</a:t>
            </a:r>
          </a:p>
        </p:txBody>
      </p:sp>
      <p:sp>
        <p:nvSpPr>
          <p:cNvPr id="6" name="TextBox 5"/>
          <p:cNvSpPr txBox="1"/>
          <p:nvPr/>
        </p:nvSpPr>
        <p:spPr>
          <a:xfrm>
            <a:off x="716280" y="1107744"/>
            <a:ext cx="1476629" cy="246252"/>
          </a:xfrm>
          <a:prstGeom prst="rect">
            <a:avLst/>
          </a:prstGeom>
          <a:noFill/>
        </p:spPr>
        <p:txBody>
          <a:bodyPr wrap="none" lIns="0" tIns="0" rIns="0" bIns="0" anchor="t">
            <a:spAutoFit/>
          </a:bodyPr>
          <a:lstStyle/>
          <a:p>
            <a:pPr algn="l"/>
            <a:r>
              <a:rPr sz="1400" b="1" i="0">
                <a:solidFill>
                  <a:srgbClr val="000000"/>
                </a:solidFill>
                <a:latin typeface="Times New Roman"/>
              </a:rPr>
              <a:t>6.3 API Integration</a:t>
            </a:r>
          </a:p>
        </p:txBody>
      </p:sp>
      <p:sp>
        <p:nvSpPr>
          <p:cNvPr id="7" name="TextBox 6"/>
          <p:cNvSpPr txBox="1"/>
          <p:nvPr/>
        </p:nvSpPr>
        <p:spPr>
          <a:xfrm>
            <a:off x="944880" y="138689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API integration provides a clear contract between the backend and any consuming client. The</a:t>
            </a:r>
          </a:p>
        </p:txBody>
      </p:sp>
      <p:sp>
        <p:nvSpPr>
          <p:cNvPr id="8" name="TextBox 7"/>
          <p:cNvSpPr txBox="1"/>
          <p:nvPr/>
        </p:nvSpPr>
        <p:spPr>
          <a:xfrm>
            <a:off x="716280" y="15646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client can request inventory information without knowing how MongoDB stores the documents</a:t>
            </a:r>
          </a:p>
        </p:txBody>
      </p:sp>
      <p:sp>
        <p:nvSpPr>
          <p:cNvPr id="9" name="TextBox 8"/>
          <p:cNvSpPr txBox="1"/>
          <p:nvPr/>
        </p:nvSpPr>
        <p:spPr>
          <a:xfrm>
            <a:off x="716280" y="1742490"/>
            <a:ext cx="622249" cy="203301"/>
          </a:xfrm>
          <a:prstGeom prst="rect">
            <a:avLst/>
          </a:prstGeom>
          <a:noFill/>
        </p:spPr>
        <p:txBody>
          <a:bodyPr wrap="none" lIns="0" tIns="0" rIns="0" bIns="0" anchor="t">
            <a:spAutoFit/>
          </a:bodyPr>
          <a:lstStyle/>
          <a:p>
            <a:pPr algn="l"/>
            <a:r>
              <a:rPr sz="1200" b="0" i="0">
                <a:solidFill>
                  <a:srgbClr val="000000"/>
                </a:solidFill>
                <a:latin typeface="Times New Roman"/>
              </a:rPr>
              <a:t>internally.</a:t>
            </a:r>
          </a:p>
        </p:txBody>
      </p:sp>
      <p:sp>
        <p:nvSpPr>
          <p:cNvPr id="10" name="TextBox 9"/>
          <p:cNvSpPr txBox="1"/>
          <p:nvPr/>
        </p:nvSpPr>
        <p:spPr>
          <a:xfrm>
            <a:off x="944880" y="197109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API testing should include both normal and exceptional conditions. The same endpoint should</a:t>
            </a:r>
          </a:p>
        </p:txBody>
      </p:sp>
      <p:sp>
        <p:nvSpPr>
          <p:cNvPr id="11" name="TextBox 10"/>
          <p:cNvSpPr txBox="1"/>
          <p:nvPr/>
        </p:nvSpPr>
        <p:spPr>
          <a:xfrm>
            <a:off x="716280" y="214889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be tested with valid, incomplete, invalid, unauthorized, and non-existing-resource inputs where</a:t>
            </a:r>
          </a:p>
        </p:txBody>
      </p:sp>
      <p:sp>
        <p:nvSpPr>
          <p:cNvPr id="12" name="TextBox 11"/>
          <p:cNvSpPr txBox="1"/>
          <p:nvPr/>
        </p:nvSpPr>
        <p:spPr>
          <a:xfrm>
            <a:off x="716280" y="2326690"/>
            <a:ext cx="664463" cy="203301"/>
          </a:xfrm>
          <a:prstGeom prst="rect">
            <a:avLst/>
          </a:prstGeom>
          <a:noFill/>
        </p:spPr>
        <p:txBody>
          <a:bodyPr wrap="none" lIns="0" tIns="0" rIns="0" bIns="0" anchor="t">
            <a:spAutoFit/>
          </a:bodyPr>
          <a:lstStyle/>
          <a:p>
            <a:pPr algn="l"/>
            <a:r>
              <a:rPr sz="1200" b="0" i="0">
                <a:solidFill>
                  <a:srgbClr val="000000"/>
                </a:solidFill>
                <a:latin typeface="Times New Roman"/>
              </a:rPr>
              <a:t>applicable.</a:t>
            </a:r>
          </a:p>
        </p:txBody>
      </p:sp>
      <p:sp>
        <p:nvSpPr>
          <p:cNvPr id="13" name="TextBox 12"/>
          <p:cNvSpPr txBox="1"/>
          <p:nvPr/>
        </p:nvSpPr>
        <p:spPr>
          <a:xfrm>
            <a:off x="944880" y="255529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RESTful API is the main integration mechanism in the project. It exposes inventory</a:t>
            </a:r>
          </a:p>
        </p:txBody>
      </p:sp>
      <p:sp>
        <p:nvSpPr>
          <p:cNvPr id="14" name="TextBox 13"/>
          <p:cNvSpPr txBox="1"/>
          <p:nvPr/>
        </p:nvSpPr>
        <p:spPr>
          <a:xfrm>
            <a:off x="716280" y="27330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resources through HTTP requests and allows clients to interact with the backend without directly</a:t>
            </a:r>
          </a:p>
        </p:txBody>
      </p:sp>
      <p:sp>
        <p:nvSpPr>
          <p:cNvPr id="15" name="TextBox 14"/>
          <p:cNvSpPr txBox="1"/>
          <p:nvPr/>
        </p:nvSpPr>
        <p:spPr>
          <a:xfrm>
            <a:off x="716280" y="2910890"/>
            <a:ext cx="1312163" cy="203301"/>
          </a:xfrm>
          <a:prstGeom prst="rect">
            <a:avLst/>
          </a:prstGeom>
          <a:noFill/>
        </p:spPr>
        <p:txBody>
          <a:bodyPr wrap="none" lIns="0" tIns="0" rIns="0" bIns="0" anchor="t">
            <a:spAutoFit/>
          </a:bodyPr>
          <a:lstStyle/>
          <a:p>
            <a:pPr algn="l"/>
            <a:r>
              <a:rPr sz="1200" b="0" i="0">
                <a:solidFill>
                  <a:srgbClr val="000000"/>
                </a:solidFill>
                <a:latin typeface="Times New Roman"/>
              </a:rPr>
              <a:t>accessing MongoDB.</a:t>
            </a:r>
          </a:p>
        </p:txBody>
      </p:sp>
      <p:sp>
        <p:nvSpPr>
          <p:cNvPr id="16" name="TextBox 15"/>
          <p:cNvSpPr txBox="1"/>
          <p:nvPr/>
        </p:nvSpPr>
        <p:spPr>
          <a:xfrm>
            <a:off x="944880" y="313949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Typical API categories include medicine operations, supplier operations, batch operations,</a:t>
            </a:r>
          </a:p>
        </p:txBody>
      </p:sp>
      <p:sp>
        <p:nvSpPr>
          <p:cNvPr id="17" name="TextBox 16"/>
          <p:cNvSpPr txBox="1"/>
          <p:nvPr/>
        </p:nvSpPr>
        <p:spPr>
          <a:xfrm>
            <a:off x="716280" y="33172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purchase operations, sales operations, stock queries, and authentication or authorization operations.</a:t>
            </a:r>
          </a:p>
        </p:txBody>
      </p:sp>
      <p:sp>
        <p:nvSpPr>
          <p:cNvPr id="18" name="TextBox 17"/>
          <p:cNvSpPr txBox="1"/>
          <p:nvPr/>
        </p:nvSpPr>
        <p:spPr>
          <a:xfrm>
            <a:off x="716280" y="3495090"/>
            <a:ext cx="4698187" cy="203301"/>
          </a:xfrm>
          <a:prstGeom prst="rect">
            <a:avLst/>
          </a:prstGeom>
          <a:noFill/>
        </p:spPr>
        <p:txBody>
          <a:bodyPr wrap="none" lIns="0" tIns="0" rIns="0" bIns="0" anchor="t">
            <a:spAutoFit/>
          </a:bodyPr>
          <a:lstStyle/>
          <a:p>
            <a:pPr algn="l"/>
            <a:r>
              <a:rPr sz="1200" b="0" i="0">
                <a:solidFill>
                  <a:srgbClr val="000000"/>
                </a:solidFill>
                <a:latin typeface="Times New Roman"/>
              </a:rPr>
              <a:t>Each category should use consistent request validation and response formats.</a:t>
            </a:r>
          </a:p>
        </p:txBody>
      </p:sp>
      <p:sp>
        <p:nvSpPr>
          <p:cNvPr id="19" name="TextBox 18"/>
          <p:cNvSpPr txBox="1"/>
          <p:nvPr/>
        </p:nvSpPr>
        <p:spPr>
          <a:xfrm>
            <a:off x="944880" y="372369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Postman can be used to send sample requests for each API category. The returned status code,</a:t>
            </a:r>
          </a:p>
        </p:txBody>
      </p:sp>
      <p:sp>
        <p:nvSpPr>
          <p:cNvPr id="20" name="TextBox 19"/>
          <p:cNvSpPr txBox="1"/>
          <p:nvPr/>
        </p:nvSpPr>
        <p:spPr>
          <a:xfrm>
            <a:off x="716280" y="39014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response body, and resulting database state can then be verified. This approach isolates backend</a:t>
            </a:r>
          </a:p>
        </p:txBody>
      </p:sp>
      <p:sp>
        <p:nvSpPr>
          <p:cNvPr id="21" name="TextBox 20"/>
          <p:cNvSpPr txBox="1"/>
          <p:nvPr/>
        </p:nvSpPr>
        <p:spPr>
          <a:xfrm>
            <a:off x="716280" y="4079290"/>
            <a:ext cx="2073859" cy="203301"/>
          </a:xfrm>
          <a:prstGeom prst="rect">
            <a:avLst/>
          </a:prstGeom>
          <a:noFill/>
        </p:spPr>
        <p:txBody>
          <a:bodyPr wrap="none" lIns="0" tIns="0" rIns="0" bIns="0" anchor="t">
            <a:spAutoFit/>
          </a:bodyPr>
          <a:lstStyle/>
          <a:p>
            <a:pPr algn="l"/>
            <a:r>
              <a:rPr sz="1200" b="0" i="0">
                <a:solidFill>
                  <a:srgbClr val="000000"/>
                </a:solidFill>
                <a:latin typeface="Times New Roman"/>
              </a:rPr>
              <a:t>problems from frontend concerns.</a:t>
            </a:r>
          </a:p>
        </p:txBody>
      </p:sp>
      <p:sp>
        <p:nvSpPr>
          <p:cNvPr id="22" name="TextBox 21"/>
          <p:cNvSpPr txBox="1"/>
          <p:nvPr/>
        </p:nvSpPr>
        <p:spPr>
          <a:xfrm>
            <a:off x="1268809" y="4371060"/>
            <a:ext cx="907580" cy="184689"/>
          </a:xfrm>
          <a:prstGeom prst="rect">
            <a:avLst/>
          </a:prstGeom>
          <a:noFill/>
        </p:spPr>
        <p:txBody>
          <a:bodyPr wrap="none" lIns="0" tIns="0" rIns="0" bIns="0" anchor="t">
            <a:spAutoFit/>
          </a:bodyPr>
          <a:lstStyle/>
          <a:p>
            <a:pPr algn="l"/>
            <a:r>
              <a:rPr sz="1050" b="1" i="0">
                <a:solidFill>
                  <a:srgbClr val="000000"/>
                </a:solidFill>
                <a:latin typeface="Times New Roman"/>
              </a:rPr>
              <a:t>Operation Type</a:t>
            </a:r>
          </a:p>
        </p:txBody>
      </p:sp>
      <p:sp>
        <p:nvSpPr>
          <p:cNvPr id="23" name="TextBox 22"/>
          <p:cNvSpPr txBox="1"/>
          <p:nvPr/>
        </p:nvSpPr>
        <p:spPr>
          <a:xfrm>
            <a:off x="3090980" y="4371060"/>
            <a:ext cx="1378038" cy="184689"/>
          </a:xfrm>
          <a:prstGeom prst="rect">
            <a:avLst/>
          </a:prstGeom>
          <a:noFill/>
        </p:spPr>
        <p:txBody>
          <a:bodyPr wrap="none" lIns="0" tIns="0" rIns="0" bIns="0" anchor="t">
            <a:spAutoFit/>
          </a:bodyPr>
          <a:lstStyle/>
          <a:p>
            <a:pPr algn="ctr"/>
            <a:r>
              <a:rPr sz="1050" b="1" i="0">
                <a:solidFill>
                  <a:srgbClr val="000000"/>
                </a:solidFill>
                <a:latin typeface="Times New Roman"/>
              </a:rPr>
              <a:t>HTTP Method Example</a:t>
            </a:r>
          </a:p>
        </p:txBody>
      </p:sp>
      <p:sp>
        <p:nvSpPr>
          <p:cNvPr id="24" name="TextBox 23"/>
          <p:cNvSpPr txBox="1"/>
          <p:nvPr/>
        </p:nvSpPr>
        <p:spPr>
          <a:xfrm>
            <a:off x="5604037" y="4371060"/>
            <a:ext cx="466724" cy="184689"/>
          </a:xfrm>
          <a:prstGeom prst="rect">
            <a:avLst/>
          </a:prstGeom>
          <a:noFill/>
        </p:spPr>
        <p:txBody>
          <a:bodyPr wrap="none" lIns="0" tIns="0" rIns="0" bIns="0" anchor="t">
            <a:spAutoFit/>
          </a:bodyPr>
          <a:lstStyle/>
          <a:p>
            <a:pPr algn="l"/>
            <a:r>
              <a:rPr sz="1050" b="1" i="0">
                <a:solidFill>
                  <a:srgbClr val="000000"/>
                </a:solidFill>
                <a:latin typeface="Times New Roman"/>
              </a:rPr>
              <a:t>Purpose</a:t>
            </a:r>
          </a:p>
        </p:txBody>
      </p:sp>
      <p:sp>
        <p:nvSpPr>
          <p:cNvPr id="25" name="TextBox 24"/>
          <p:cNvSpPr txBox="1"/>
          <p:nvPr/>
        </p:nvSpPr>
        <p:spPr>
          <a:xfrm>
            <a:off x="744700" y="4598460"/>
            <a:ext cx="348043" cy="177888"/>
          </a:xfrm>
          <a:prstGeom prst="rect">
            <a:avLst/>
          </a:prstGeom>
          <a:noFill/>
        </p:spPr>
        <p:txBody>
          <a:bodyPr wrap="none" lIns="0" tIns="0" rIns="0" bIns="0" anchor="t">
            <a:spAutoFit/>
          </a:bodyPr>
          <a:lstStyle/>
          <a:p>
            <a:pPr algn="l"/>
            <a:r>
              <a:rPr sz="1050" b="0" i="0">
                <a:solidFill>
                  <a:srgbClr val="000000"/>
                </a:solidFill>
                <a:latin typeface="Times New Roman"/>
              </a:rPr>
              <a:t>Create</a:t>
            </a:r>
          </a:p>
        </p:txBody>
      </p:sp>
      <p:sp>
        <p:nvSpPr>
          <p:cNvPr id="26" name="TextBox 25"/>
          <p:cNvSpPr txBox="1"/>
          <p:nvPr/>
        </p:nvSpPr>
        <p:spPr>
          <a:xfrm>
            <a:off x="2802100" y="4598460"/>
            <a:ext cx="326040" cy="177888"/>
          </a:xfrm>
          <a:prstGeom prst="rect">
            <a:avLst/>
          </a:prstGeom>
          <a:noFill/>
        </p:spPr>
        <p:txBody>
          <a:bodyPr wrap="none" lIns="0" tIns="0" rIns="0" bIns="0" anchor="t">
            <a:spAutoFit/>
          </a:bodyPr>
          <a:lstStyle/>
          <a:p>
            <a:pPr algn="l"/>
            <a:r>
              <a:rPr sz="1050" b="0" i="0">
                <a:solidFill>
                  <a:srgbClr val="000000"/>
                </a:solidFill>
                <a:latin typeface="Times New Roman"/>
              </a:rPr>
              <a:t>POST</a:t>
            </a:r>
          </a:p>
        </p:txBody>
      </p:sp>
      <p:sp>
        <p:nvSpPr>
          <p:cNvPr id="27" name="TextBox 26"/>
          <p:cNvSpPr txBox="1"/>
          <p:nvPr/>
        </p:nvSpPr>
        <p:spPr>
          <a:xfrm>
            <a:off x="4859499" y="4598460"/>
            <a:ext cx="1725549" cy="177888"/>
          </a:xfrm>
          <a:prstGeom prst="rect">
            <a:avLst/>
          </a:prstGeom>
          <a:noFill/>
        </p:spPr>
        <p:txBody>
          <a:bodyPr wrap="none" lIns="0" tIns="0" rIns="0" bIns="0" anchor="t">
            <a:spAutoFit/>
          </a:bodyPr>
          <a:lstStyle/>
          <a:p>
            <a:pPr algn="l"/>
            <a:r>
              <a:rPr sz="1050" b="0" i="0">
                <a:solidFill>
                  <a:srgbClr val="000000"/>
                </a:solidFill>
                <a:latin typeface="Times New Roman"/>
              </a:rPr>
              <a:t>Create a new inventory resource</a:t>
            </a:r>
          </a:p>
        </p:txBody>
      </p:sp>
      <p:sp>
        <p:nvSpPr>
          <p:cNvPr id="28" name="TextBox 27"/>
          <p:cNvSpPr txBox="1"/>
          <p:nvPr/>
        </p:nvSpPr>
        <p:spPr>
          <a:xfrm>
            <a:off x="744700" y="4827060"/>
            <a:ext cx="274034" cy="177888"/>
          </a:xfrm>
          <a:prstGeom prst="rect">
            <a:avLst/>
          </a:prstGeom>
          <a:noFill/>
        </p:spPr>
        <p:txBody>
          <a:bodyPr wrap="none" lIns="0" tIns="0" rIns="0" bIns="0" anchor="t">
            <a:spAutoFit/>
          </a:bodyPr>
          <a:lstStyle/>
          <a:p>
            <a:pPr algn="l"/>
            <a:r>
              <a:rPr sz="1050" b="0" i="0">
                <a:solidFill>
                  <a:srgbClr val="000000"/>
                </a:solidFill>
                <a:latin typeface="Times New Roman"/>
              </a:rPr>
              <a:t>Read</a:t>
            </a:r>
          </a:p>
        </p:txBody>
      </p:sp>
      <p:sp>
        <p:nvSpPr>
          <p:cNvPr id="29" name="TextBox 28"/>
          <p:cNvSpPr txBox="1"/>
          <p:nvPr/>
        </p:nvSpPr>
        <p:spPr>
          <a:xfrm>
            <a:off x="2802100" y="4827060"/>
            <a:ext cx="259232" cy="177888"/>
          </a:xfrm>
          <a:prstGeom prst="rect">
            <a:avLst/>
          </a:prstGeom>
          <a:noFill/>
        </p:spPr>
        <p:txBody>
          <a:bodyPr wrap="none" lIns="0" tIns="0" rIns="0" bIns="0" anchor="t">
            <a:spAutoFit/>
          </a:bodyPr>
          <a:lstStyle/>
          <a:p>
            <a:pPr algn="l"/>
            <a:r>
              <a:rPr sz="1050" b="0" i="0">
                <a:solidFill>
                  <a:srgbClr val="000000"/>
                </a:solidFill>
                <a:latin typeface="Times New Roman"/>
              </a:rPr>
              <a:t>GET</a:t>
            </a:r>
          </a:p>
        </p:txBody>
      </p:sp>
      <p:sp>
        <p:nvSpPr>
          <p:cNvPr id="30" name="TextBox 29"/>
          <p:cNvSpPr txBox="1"/>
          <p:nvPr/>
        </p:nvSpPr>
        <p:spPr>
          <a:xfrm>
            <a:off x="4859499" y="4827060"/>
            <a:ext cx="1555260" cy="177888"/>
          </a:xfrm>
          <a:prstGeom prst="rect">
            <a:avLst/>
          </a:prstGeom>
          <a:noFill/>
        </p:spPr>
        <p:txBody>
          <a:bodyPr wrap="none" lIns="0" tIns="0" rIns="0" bIns="0" anchor="t">
            <a:spAutoFit/>
          </a:bodyPr>
          <a:lstStyle/>
          <a:p>
            <a:pPr algn="l"/>
            <a:r>
              <a:rPr sz="1050" b="0" i="0">
                <a:solidFill>
                  <a:srgbClr val="000000"/>
                </a:solidFill>
                <a:latin typeface="Times New Roman"/>
              </a:rPr>
              <a:t>Retrieve one or more records</a:t>
            </a:r>
          </a:p>
        </p:txBody>
      </p:sp>
      <p:sp>
        <p:nvSpPr>
          <p:cNvPr id="31" name="TextBox 30"/>
          <p:cNvSpPr txBox="1"/>
          <p:nvPr/>
        </p:nvSpPr>
        <p:spPr>
          <a:xfrm>
            <a:off x="744700" y="5055660"/>
            <a:ext cx="385114" cy="177888"/>
          </a:xfrm>
          <a:prstGeom prst="rect">
            <a:avLst/>
          </a:prstGeom>
          <a:noFill/>
        </p:spPr>
        <p:txBody>
          <a:bodyPr wrap="none" lIns="0" tIns="0" rIns="0" bIns="0" anchor="t">
            <a:spAutoFit/>
          </a:bodyPr>
          <a:lstStyle/>
          <a:p>
            <a:pPr algn="l"/>
            <a:r>
              <a:rPr sz="1050" b="0" i="0">
                <a:solidFill>
                  <a:srgbClr val="000000"/>
                </a:solidFill>
                <a:latin typeface="Times New Roman"/>
              </a:rPr>
              <a:t>Update</a:t>
            </a:r>
          </a:p>
        </p:txBody>
      </p:sp>
      <p:sp>
        <p:nvSpPr>
          <p:cNvPr id="32" name="TextBox 31"/>
          <p:cNvSpPr txBox="1"/>
          <p:nvPr/>
        </p:nvSpPr>
        <p:spPr>
          <a:xfrm>
            <a:off x="2802100" y="5055660"/>
            <a:ext cx="726090" cy="177888"/>
          </a:xfrm>
          <a:prstGeom prst="rect">
            <a:avLst/>
          </a:prstGeom>
          <a:noFill/>
        </p:spPr>
        <p:txBody>
          <a:bodyPr wrap="none" lIns="0" tIns="0" rIns="0" bIns="0" anchor="t">
            <a:spAutoFit/>
          </a:bodyPr>
          <a:lstStyle/>
          <a:p>
            <a:pPr algn="l"/>
            <a:r>
              <a:rPr sz="1050" b="0" i="0">
                <a:solidFill>
                  <a:srgbClr val="000000"/>
                </a:solidFill>
                <a:latin typeface="Times New Roman"/>
              </a:rPr>
              <a:t>PUT/PATCH</a:t>
            </a:r>
          </a:p>
        </p:txBody>
      </p:sp>
      <p:sp>
        <p:nvSpPr>
          <p:cNvPr id="33" name="TextBox 32"/>
          <p:cNvSpPr txBox="1"/>
          <p:nvPr/>
        </p:nvSpPr>
        <p:spPr>
          <a:xfrm>
            <a:off x="4859499" y="5055660"/>
            <a:ext cx="1388840" cy="177888"/>
          </a:xfrm>
          <a:prstGeom prst="rect">
            <a:avLst/>
          </a:prstGeom>
          <a:noFill/>
        </p:spPr>
        <p:txBody>
          <a:bodyPr wrap="none" lIns="0" tIns="0" rIns="0" bIns="0" anchor="t">
            <a:spAutoFit/>
          </a:bodyPr>
          <a:lstStyle/>
          <a:p>
            <a:pPr algn="l"/>
            <a:r>
              <a:rPr sz="1050" b="0" i="0">
                <a:solidFill>
                  <a:srgbClr val="000000"/>
                </a:solidFill>
                <a:latin typeface="Times New Roman"/>
              </a:rPr>
              <a:t>Modify an existing record</a:t>
            </a:r>
          </a:p>
        </p:txBody>
      </p:sp>
      <p:sp>
        <p:nvSpPr>
          <p:cNvPr id="34" name="TextBox 33"/>
          <p:cNvSpPr txBox="1"/>
          <p:nvPr/>
        </p:nvSpPr>
        <p:spPr>
          <a:xfrm>
            <a:off x="744700" y="5284260"/>
            <a:ext cx="348043" cy="177888"/>
          </a:xfrm>
          <a:prstGeom prst="rect">
            <a:avLst/>
          </a:prstGeom>
          <a:noFill/>
        </p:spPr>
        <p:txBody>
          <a:bodyPr wrap="none" lIns="0" tIns="0" rIns="0" bIns="0" anchor="t">
            <a:spAutoFit/>
          </a:bodyPr>
          <a:lstStyle/>
          <a:p>
            <a:pPr algn="l"/>
            <a:r>
              <a:rPr sz="1050" b="0" i="0">
                <a:solidFill>
                  <a:srgbClr val="000000"/>
                </a:solidFill>
                <a:latin typeface="Times New Roman"/>
              </a:rPr>
              <a:t>Delete</a:t>
            </a:r>
          </a:p>
        </p:txBody>
      </p:sp>
      <p:sp>
        <p:nvSpPr>
          <p:cNvPr id="35" name="TextBox 34"/>
          <p:cNvSpPr txBox="1"/>
          <p:nvPr/>
        </p:nvSpPr>
        <p:spPr>
          <a:xfrm>
            <a:off x="2802100" y="5284260"/>
            <a:ext cx="503662" cy="177888"/>
          </a:xfrm>
          <a:prstGeom prst="rect">
            <a:avLst/>
          </a:prstGeom>
          <a:noFill/>
        </p:spPr>
        <p:txBody>
          <a:bodyPr wrap="none" lIns="0" tIns="0" rIns="0" bIns="0" anchor="t">
            <a:spAutoFit/>
          </a:bodyPr>
          <a:lstStyle/>
          <a:p>
            <a:pPr algn="l"/>
            <a:r>
              <a:rPr sz="1050" b="0" i="0">
                <a:solidFill>
                  <a:srgbClr val="000000"/>
                </a:solidFill>
                <a:latin typeface="Times New Roman"/>
              </a:rPr>
              <a:t>DELETE</a:t>
            </a:r>
          </a:p>
        </p:txBody>
      </p:sp>
      <p:sp>
        <p:nvSpPr>
          <p:cNvPr id="36" name="TextBox 35"/>
          <p:cNvSpPr txBox="1"/>
          <p:nvPr/>
        </p:nvSpPr>
        <p:spPr>
          <a:xfrm>
            <a:off x="4859499" y="5284260"/>
            <a:ext cx="1455382" cy="177888"/>
          </a:xfrm>
          <a:prstGeom prst="rect">
            <a:avLst/>
          </a:prstGeom>
          <a:noFill/>
        </p:spPr>
        <p:txBody>
          <a:bodyPr wrap="none" lIns="0" tIns="0" rIns="0" bIns="0" anchor="t">
            <a:spAutoFit/>
          </a:bodyPr>
          <a:lstStyle/>
          <a:p>
            <a:pPr algn="l"/>
            <a:r>
              <a:rPr sz="1050" b="0" i="0">
                <a:solidFill>
                  <a:srgbClr val="000000"/>
                </a:solidFill>
                <a:latin typeface="Times New Roman"/>
              </a:rPr>
              <a:t>Remove a permitted record</a:t>
            </a:r>
          </a:p>
        </p:txBody>
      </p:sp>
      <p:sp>
        <p:nvSpPr>
          <p:cNvPr id="37" name="TextBox 36"/>
          <p:cNvSpPr txBox="1"/>
          <p:nvPr/>
        </p:nvSpPr>
        <p:spPr>
          <a:xfrm>
            <a:off x="744700" y="5512860"/>
            <a:ext cx="607542" cy="177888"/>
          </a:xfrm>
          <a:prstGeom prst="rect">
            <a:avLst/>
          </a:prstGeom>
          <a:noFill/>
        </p:spPr>
        <p:txBody>
          <a:bodyPr wrap="none" lIns="0" tIns="0" rIns="0" bIns="0" anchor="t">
            <a:spAutoFit/>
          </a:bodyPr>
          <a:lstStyle/>
          <a:p>
            <a:pPr algn="l"/>
            <a:r>
              <a:rPr sz="1050" b="0" i="0">
                <a:solidFill>
                  <a:srgbClr val="000000"/>
                </a:solidFill>
                <a:latin typeface="Times New Roman"/>
              </a:rPr>
              <a:t>Monitoring</a:t>
            </a:r>
          </a:p>
        </p:txBody>
      </p:sp>
      <p:sp>
        <p:nvSpPr>
          <p:cNvPr id="38" name="TextBox 37"/>
          <p:cNvSpPr txBox="1"/>
          <p:nvPr/>
        </p:nvSpPr>
        <p:spPr>
          <a:xfrm>
            <a:off x="2802100" y="5512860"/>
            <a:ext cx="259232" cy="177888"/>
          </a:xfrm>
          <a:prstGeom prst="rect">
            <a:avLst/>
          </a:prstGeom>
          <a:noFill/>
        </p:spPr>
        <p:txBody>
          <a:bodyPr wrap="none" lIns="0" tIns="0" rIns="0" bIns="0" anchor="t">
            <a:spAutoFit/>
          </a:bodyPr>
          <a:lstStyle/>
          <a:p>
            <a:pPr algn="l"/>
            <a:r>
              <a:rPr sz="1050" b="0" i="0">
                <a:solidFill>
                  <a:srgbClr val="000000"/>
                </a:solidFill>
                <a:latin typeface="Times New Roman"/>
              </a:rPr>
              <a:t>GET</a:t>
            </a:r>
          </a:p>
        </p:txBody>
      </p:sp>
      <p:sp>
        <p:nvSpPr>
          <p:cNvPr id="39" name="TextBox 38"/>
          <p:cNvSpPr txBox="1"/>
          <p:nvPr/>
        </p:nvSpPr>
        <p:spPr>
          <a:xfrm>
            <a:off x="4859499" y="5512860"/>
            <a:ext cx="1948110" cy="177888"/>
          </a:xfrm>
          <a:prstGeom prst="rect">
            <a:avLst/>
          </a:prstGeom>
          <a:noFill/>
        </p:spPr>
        <p:txBody>
          <a:bodyPr wrap="none" lIns="0" tIns="0" rIns="0" bIns="0" anchor="t">
            <a:spAutoFit/>
          </a:bodyPr>
          <a:lstStyle/>
          <a:p>
            <a:pPr algn="l"/>
            <a:r>
              <a:rPr sz="1050" b="0" i="0">
                <a:solidFill>
                  <a:srgbClr val="000000"/>
                </a:solidFill>
                <a:latin typeface="Times New Roman"/>
              </a:rPr>
              <a:t>Retrieve stock or expiry information</a:t>
            </a:r>
          </a:p>
        </p:txBody>
      </p:sp>
      <p:sp>
        <p:nvSpPr>
          <p:cNvPr id="40" name="TextBox 39"/>
          <p:cNvSpPr txBox="1"/>
          <p:nvPr/>
        </p:nvSpPr>
        <p:spPr>
          <a:xfrm>
            <a:off x="716280" y="5823508"/>
            <a:ext cx="2844977" cy="246252"/>
          </a:xfrm>
          <a:prstGeom prst="rect">
            <a:avLst/>
          </a:prstGeom>
          <a:noFill/>
        </p:spPr>
        <p:txBody>
          <a:bodyPr wrap="none" lIns="0" tIns="0" rIns="0" bIns="0" anchor="t">
            <a:spAutoFit/>
          </a:bodyPr>
          <a:lstStyle/>
          <a:p>
            <a:pPr algn="l"/>
            <a:r>
              <a:rPr sz="1400" b="1" i="0">
                <a:solidFill>
                  <a:srgbClr val="000000"/>
                </a:solidFill>
                <a:latin typeface="Times New Roman"/>
              </a:rPr>
              <a:t>6.4 Authentication and Authorization</a:t>
            </a:r>
          </a:p>
        </p:txBody>
      </p:sp>
      <p:sp>
        <p:nvSpPr>
          <p:cNvPr id="41" name="TextBox 40"/>
          <p:cNvSpPr txBox="1"/>
          <p:nvPr/>
        </p:nvSpPr>
        <p:spPr>
          <a:xfrm>
            <a:off x="944880" y="6102654"/>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Authentication verifies who is making a request, while authorization determines what that user</a:t>
            </a:r>
          </a:p>
        </p:txBody>
      </p:sp>
      <p:sp>
        <p:nvSpPr>
          <p:cNvPr id="42" name="TextBox 41"/>
          <p:cNvSpPr txBox="1"/>
          <p:nvPr/>
        </p:nvSpPr>
        <p:spPr>
          <a:xfrm>
            <a:off x="716280" y="6280454"/>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can do. These concepts should remain separate in the design so that roles and permissions can be</a:t>
            </a:r>
          </a:p>
        </p:txBody>
      </p:sp>
      <p:sp>
        <p:nvSpPr>
          <p:cNvPr id="43" name="TextBox 42"/>
          <p:cNvSpPr txBox="1"/>
          <p:nvPr/>
        </p:nvSpPr>
        <p:spPr>
          <a:xfrm>
            <a:off x="716280" y="6458254"/>
            <a:ext cx="931011" cy="203301"/>
          </a:xfrm>
          <a:prstGeom prst="rect">
            <a:avLst/>
          </a:prstGeom>
          <a:noFill/>
        </p:spPr>
        <p:txBody>
          <a:bodyPr wrap="none" lIns="0" tIns="0" rIns="0" bIns="0" anchor="t">
            <a:spAutoFit/>
          </a:bodyPr>
          <a:lstStyle/>
          <a:p>
            <a:pPr algn="l"/>
            <a:r>
              <a:rPr sz="1200" b="0" i="0">
                <a:solidFill>
                  <a:srgbClr val="000000"/>
                </a:solidFill>
                <a:latin typeface="Times New Roman"/>
              </a:rPr>
              <a:t>expanded later.</a:t>
            </a:r>
          </a:p>
        </p:txBody>
      </p:sp>
      <p:sp>
        <p:nvSpPr>
          <p:cNvPr id="44" name="TextBox 43"/>
          <p:cNvSpPr txBox="1"/>
          <p:nvPr/>
        </p:nvSpPr>
        <p:spPr>
          <a:xfrm>
            <a:off x="944880" y="6686854"/>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Sensitive configuration should never be embedded directly into public source files.</a:t>
            </a:r>
          </a:p>
        </p:txBody>
      </p:sp>
      <p:sp>
        <p:nvSpPr>
          <p:cNvPr id="45" name="TextBox 44"/>
          <p:cNvSpPr txBox="1"/>
          <p:nvPr/>
        </p:nvSpPr>
        <p:spPr>
          <a:xfrm>
            <a:off x="716280" y="6864654"/>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Environment-based configuration is a practical approach for protecting connection information and</a:t>
            </a:r>
          </a:p>
        </p:txBody>
      </p:sp>
      <p:sp>
        <p:nvSpPr>
          <p:cNvPr id="46" name="TextBox 45"/>
          <p:cNvSpPr txBox="1"/>
          <p:nvPr/>
        </p:nvSpPr>
        <p:spPr>
          <a:xfrm>
            <a:off x="716280" y="7042454"/>
            <a:ext cx="1168146" cy="203301"/>
          </a:xfrm>
          <a:prstGeom prst="rect">
            <a:avLst/>
          </a:prstGeom>
          <a:noFill/>
        </p:spPr>
        <p:txBody>
          <a:bodyPr wrap="none" lIns="0" tIns="0" rIns="0" bIns="0" anchor="t">
            <a:spAutoFit/>
          </a:bodyPr>
          <a:lstStyle/>
          <a:p>
            <a:pPr algn="l"/>
            <a:r>
              <a:rPr sz="1200" b="0" i="0">
                <a:solidFill>
                  <a:srgbClr val="000000"/>
                </a:solidFill>
                <a:latin typeface="Times New Roman"/>
              </a:rPr>
              <a:t>application secrets.</a:t>
            </a:r>
          </a:p>
        </p:txBody>
      </p:sp>
      <p:sp>
        <p:nvSpPr>
          <p:cNvPr id="47" name="TextBox 46"/>
          <p:cNvSpPr txBox="1"/>
          <p:nvPr/>
        </p:nvSpPr>
        <p:spPr>
          <a:xfrm>
            <a:off x="944880" y="7271054"/>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Because pharmaceutical inventory records are operationally important, access should be</a:t>
            </a:r>
          </a:p>
        </p:txBody>
      </p:sp>
      <p:sp>
        <p:nvSpPr>
          <p:cNvPr id="48" name="TextBox 47"/>
          <p:cNvSpPr txBox="1"/>
          <p:nvPr/>
        </p:nvSpPr>
        <p:spPr>
          <a:xfrm>
            <a:off x="716280" y="7448854"/>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restricted to administrators and authorized staff. Authentication establishes the identity of a user,</a:t>
            </a:r>
          </a:p>
        </p:txBody>
      </p:sp>
      <p:sp>
        <p:nvSpPr>
          <p:cNvPr id="49" name="TextBox 48"/>
          <p:cNvSpPr txBox="1"/>
          <p:nvPr/>
        </p:nvSpPr>
        <p:spPr>
          <a:xfrm>
            <a:off x="716280" y="7626654"/>
            <a:ext cx="5015789" cy="203301"/>
          </a:xfrm>
          <a:prstGeom prst="rect">
            <a:avLst/>
          </a:prstGeom>
          <a:noFill/>
        </p:spPr>
        <p:txBody>
          <a:bodyPr wrap="none" lIns="0" tIns="0" rIns="0" bIns="0" anchor="t">
            <a:spAutoFit/>
          </a:bodyPr>
          <a:lstStyle/>
          <a:p>
            <a:pPr algn="l"/>
            <a:r>
              <a:rPr sz="1200" b="0" i="0">
                <a:solidFill>
                  <a:srgbClr val="000000"/>
                </a:solidFill>
                <a:latin typeface="Times New Roman"/>
              </a:rPr>
              <a:t>while authorization determines which operations that user is permitted to perform.</a:t>
            </a:r>
          </a:p>
        </p:txBody>
      </p:sp>
      <p:sp>
        <p:nvSpPr>
          <p:cNvPr id="50" name="TextBox 49"/>
          <p:cNvSpPr txBox="1"/>
          <p:nvPr/>
        </p:nvSpPr>
        <p:spPr>
          <a:xfrm>
            <a:off x="944880" y="7855254"/>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Sensitive operations such as deleting records, modifying supplier information, or changing</a:t>
            </a:r>
          </a:p>
        </p:txBody>
      </p:sp>
      <p:sp>
        <p:nvSpPr>
          <p:cNvPr id="51" name="TextBox 50"/>
          <p:cNvSpPr txBox="1"/>
          <p:nvPr/>
        </p:nvSpPr>
        <p:spPr>
          <a:xfrm>
            <a:off x="716280" y="8033054"/>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stock-related data should not be exposed without appropriate authorization. The backend should</a:t>
            </a:r>
          </a:p>
        </p:txBody>
      </p:sp>
      <p:sp>
        <p:nvSpPr>
          <p:cNvPr id="52" name="TextBox 51"/>
          <p:cNvSpPr txBox="1"/>
          <p:nvPr/>
        </p:nvSpPr>
        <p:spPr>
          <a:xfrm>
            <a:off x="716280" y="8210854"/>
            <a:ext cx="4862931" cy="203301"/>
          </a:xfrm>
          <a:prstGeom prst="rect">
            <a:avLst/>
          </a:prstGeom>
          <a:noFill/>
        </p:spPr>
        <p:txBody>
          <a:bodyPr wrap="none" lIns="0" tIns="0" rIns="0" bIns="0" anchor="t">
            <a:spAutoFit/>
          </a:bodyPr>
          <a:lstStyle/>
          <a:p>
            <a:pPr algn="l"/>
            <a:r>
              <a:rPr sz="1200" b="0" i="0">
                <a:solidFill>
                  <a:srgbClr val="000000"/>
                </a:solidFill>
                <a:latin typeface="Times New Roman"/>
              </a:rPr>
              <a:t>verify credentials or access tokens before allowing protected routes to continue.</a:t>
            </a:r>
          </a:p>
        </p:txBody>
      </p:sp>
      <p:sp>
        <p:nvSpPr>
          <p:cNvPr id="53" name="TextBox 52"/>
          <p:cNvSpPr txBox="1"/>
          <p:nvPr/>
        </p:nvSpPr>
        <p:spPr>
          <a:xfrm>
            <a:off x="944880" y="8439454"/>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Credentials and configuration values should not be stored directly in source code. Environment</a:t>
            </a:r>
          </a:p>
        </p:txBody>
      </p:sp>
      <p:sp>
        <p:nvSpPr>
          <p:cNvPr id="54" name="TextBox 53"/>
          <p:cNvSpPr txBox="1"/>
          <p:nvPr/>
        </p:nvSpPr>
        <p:spPr>
          <a:xfrm>
            <a:off x="716280" y="8617254"/>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variables can be used for secrets and database connection information. Passwords, where applicable,</a:t>
            </a:r>
          </a:p>
        </p:txBody>
      </p:sp>
      <p:sp>
        <p:nvSpPr>
          <p:cNvPr id="55" name="TextBox 54"/>
          <p:cNvSpPr txBox="1"/>
          <p:nvPr/>
        </p:nvSpPr>
        <p:spPr>
          <a:xfrm>
            <a:off x="716280" y="8795054"/>
            <a:ext cx="4262323" cy="203301"/>
          </a:xfrm>
          <a:prstGeom prst="rect">
            <a:avLst/>
          </a:prstGeom>
          <a:noFill/>
        </p:spPr>
        <p:txBody>
          <a:bodyPr wrap="none" lIns="0" tIns="0" rIns="0" bIns="0" anchor="t">
            <a:spAutoFit/>
          </a:bodyPr>
          <a:lstStyle/>
          <a:p>
            <a:pPr algn="l"/>
            <a:r>
              <a:rPr sz="1200" b="0" i="0">
                <a:solidFill>
                  <a:srgbClr val="000000"/>
                </a:solidFill>
                <a:latin typeface="Times New Roman"/>
              </a:rPr>
              <a:t>should be stored using secure password hashing rather than plain text.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64592"/>
            <a:ext cx="5760720" cy="228600"/>
          </a:xfrm>
          <a:prstGeom prst="rect">
            <a:avLst/>
          </a:prstGeom>
          <a:noFill/>
        </p:spPr>
        <p:txBody>
          <a:bodyPr wrap="none">
            <a:spAutoFit/>
          </a:bodyPr>
          <a:lstStyle/>
          <a:p>
            <a:pPr algn="l"/>
            <a:r>
              <a:rPr sz="1000" b="1">
                <a:solidFill>
                  <a:srgbClr val="000000"/>
                </a:solidFill>
                <a:latin typeface="Times New Roman"/>
              </a:rPr>
              <a:t>ENTERPRISE PHARMACEUTICAL STOCK AND INVENTORY MANAGEMENT SYSTEM</a:t>
            </a:r>
          </a:p>
        </p:txBody>
      </p:sp>
      <p:sp>
        <p:nvSpPr>
          <p:cNvPr id="3" name="Rectangle 2"/>
          <p:cNvSpPr/>
          <p:nvPr/>
        </p:nvSpPr>
        <p:spPr>
          <a:xfrm>
            <a:off x="685800" y="10149840"/>
            <a:ext cx="6172200" cy="22860"/>
          </a:xfrm>
          <a:prstGeom prst="rect">
            <a:avLst/>
          </a:prstGeom>
          <a:solidFill>
            <a:srgbClr val="7D4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72200" y="10195560"/>
            <a:ext cx="731520" cy="228600"/>
          </a:xfrm>
          <a:prstGeom prst="rect">
            <a:avLst/>
          </a:prstGeom>
          <a:noFill/>
        </p:spPr>
        <p:txBody>
          <a:bodyPr wrap="none">
            <a:spAutoFit/>
          </a:bodyPr>
          <a:lstStyle/>
          <a:p>
            <a:pPr algn="r"/>
            <a:endParaRPr/>
          </a:p>
        </p:txBody>
      </p:sp>
      <p:sp>
        <p:nvSpPr>
          <p:cNvPr id="5" name="TextBox 4"/>
          <p:cNvSpPr txBox="1"/>
          <p:nvPr/>
        </p:nvSpPr>
        <p:spPr>
          <a:xfrm>
            <a:off x="685800" y="502920"/>
            <a:ext cx="6172200" cy="457200"/>
          </a:xfrm>
          <a:prstGeom prst="rect">
            <a:avLst/>
          </a:prstGeom>
          <a:noFill/>
        </p:spPr>
        <p:txBody>
          <a:bodyPr wrap="none">
            <a:spAutoFit/>
          </a:bodyPr>
          <a:lstStyle/>
          <a:p>
            <a:pPr algn="ctr"/>
            <a:r>
              <a:rPr sz="1500" b="1">
                <a:solidFill>
                  <a:srgbClr val="000000"/>
                </a:solidFill>
                <a:latin typeface="Times New Roman"/>
              </a:rPr>
              <a:t>CHAPTER 6 – IMPLEMENTATION: CODE SNIPPETS</a:t>
            </a:r>
          </a:p>
        </p:txBody>
      </p:sp>
      <p:sp>
        <p:nvSpPr>
          <p:cNvPr id="6" name="TextBox 5"/>
          <p:cNvSpPr txBox="1"/>
          <p:nvPr/>
        </p:nvSpPr>
        <p:spPr>
          <a:xfrm>
            <a:off x="731520" y="1051560"/>
            <a:ext cx="6126480" cy="502920"/>
          </a:xfrm>
          <a:prstGeom prst="rect">
            <a:avLst/>
          </a:prstGeom>
          <a:noFill/>
        </p:spPr>
        <p:txBody>
          <a:bodyPr wrap="none">
            <a:spAutoFit/>
          </a:bodyPr>
          <a:lstStyle/>
          <a:p>
            <a:pPr algn="l"/>
            <a:r>
              <a:rPr sz="1050" b="0">
                <a:solidFill>
                  <a:srgbClr val="000000"/>
                </a:solidFill>
                <a:latin typeface="Times New Roman"/>
              </a:rPr>
              <a:t>Sample RESTful backend operations retained from the current project documentation.</a:t>
            </a:r>
          </a:p>
        </p:txBody>
      </p:sp>
      <p:sp>
        <p:nvSpPr>
          <p:cNvPr id="7" name="TextBox 6"/>
          <p:cNvSpPr txBox="1"/>
          <p:nvPr/>
        </p:nvSpPr>
        <p:spPr>
          <a:xfrm>
            <a:off x="731520" y="1691640"/>
            <a:ext cx="2011680" cy="274320"/>
          </a:xfrm>
          <a:prstGeom prst="rect">
            <a:avLst/>
          </a:prstGeom>
          <a:noFill/>
        </p:spPr>
        <p:txBody>
          <a:bodyPr wrap="none">
            <a:spAutoFit/>
          </a:bodyPr>
          <a:lstStyle/>
          <a:p>
            <a:pPr algn="l"/>
            <a:r>
              <a:rPr sz="1050" b="1">
                <a:solidFill>
                  <a:srgbClr val="1E506E"/>
                </a:solidFill>
                <a:latin typeface="Times New Roman"/>
              </a:rPr>
              <a:t>GET MEDICINES</a:t>
            </a:r>
          </a:p>
        </p:txBody>
      </p:sp>
      <p:sp>
        <p:nvSpPr>
          <p:cNvPr id="8" name="Rounded Rectangle 7"/>
          <p:cNvSpPr/>
          <p:nvPr/>
        </p:nvSpPr>
        <p:spPr>
          <a:xfrm>
            <a:off x="731520" y="1947672"/>
            <a:ext cx="6126480" cy="1234440"/>
          </a:xfrm>
          <a:prstGeom prst="roundRect">
            <a:avLst/>
          </a:prstGeom>
          <a:solidFill>
            <a:srgbClr val="F5F7F9"/>
          </a:solidFill>
          <a:ln>
            <a:solidFill>
              <a:srgbClr val="C8CDD2"/>
            </a:solidFill>
          </a:ln>
        </p:spPr>
        <p:style>
          <a:lnRef idx="1">
            <a:schemeClr val="accent1"/>
          </a:lnRef>
          <a:fillRef idx="3">
            <a:schemeClr val="accent1"/>
          </a:fillRef>
          <a:effectRef idx="2">
            <a:schemeClr val="accent1"/>
          </a:effectRef>
          <a:fontRef idx="minor">
            <a:schemeClr val="lt1"/>
          </a:fontRef>
        </p:style>
        <p:txBody>
          <a:bodyPr lIns="164592" tIns="109728" rIns="164592" bIns="73152" rtlCol="0" anchor="ctr"/>
          <a:lstStyle/>
          <a:p>
            <a:pPr algn="ctr"/>
            <a:r>
              <a:rPr sz="1000">
                <a:solidFill>
                  <a:srgbClr val="1E1E1E"/>
                </a:solidFill>
                <a:latin typeface="Courier New"/>
              </a:rPr>
              <a:t>router.get("/medicines", async (req, res) =&gt; {
  const medicines = await Medicine.find();
  res.status(200).json(medicines);
});</a:t>
            </a:r>
          </a:p>
        </p:txBody>
      </p:sp>
      <p:sp>
        <p:nvSpPr>
          <p:cNvPr id="9" name="TextBox 8"/>
          <p:cNvSpPr txBox="1"/>
          <p:nvPr/>
        </p:nvSpPr>
        <p:spPr>
          <a:xfrm>
            <a:off x="731520" y="3291840"/>
            <a:ext cx="2011680" cy="274320"/>
          </a:xfrm>
          <a:prstGeom prst="rect">
            <a:avLst/>
          </a:prstGeom>
          <a:noFill/>
        </p:spPr>
        <p:txBody>
          <a:bodyPr wrap="none">
            <a:spAutoFit/>
          </a:bodyPr>
          <a:lstStyle/>
          <a:p>
            <a:pPr algn="l"/>
            <a:r>
              <a:rPr sz="1050" b="1">
                <a:solidFill>
                  <a:srgbClr val="1E506E"/>
                </a:solidFill>
                <a:latin typeface="Times New Roman"/>
              </a:rPr>
              <a:t>CREATE MEDICINE</a:t>
            </a:r>
          </a:p>
        </p:txBody>
      </p:sp>
      <p:sp>
        <p:nvSpPr>
          <p:cNvPr id="10" name="Rounded Rectangle 9"/>
          <p:cNvSpPr/>
          <p:nvPr/>
        </p:nvSpPr>
        <p:spPr>
          <a:xfrm>
            <a:off x="731520" y="3547872"/>
            <a:ext cx="6126480" cy="1234440"/>
          </a:xfrm>
          <a:prstGeom prst="roundRect">
            <a:avLst/>
          </a:prstGeom>
          <a:solidFill>
            <a:srgbClr val="F5F7F9"/>
          </a:solidFill>
          <a:ln>
            <a:solidFill>
              <a:srgbClr val="C8CDD2"/>
            </a:solidFill>
          </a:ln>
        </p:spPr>
        <p:style>
          <a:lnRef idx="1">
            <a:schemeClr val="accent1"/>
          </a:lnRef>
          <a:fillRef idx="3">
            <a:schemeClr val="accent1"/>
          </a:fillRef>
          <a:effectRef idx="2">
            <a:schemeClr val="accent1"/>
          </a:effectRef>
          <a:fontRef idx="minor">
            <a:schemeClr val="lt1"/>
          </a:fontRef>
        </p:style>
        <p:txBody>
          <a:bodyPr lIns="164592" tIns="109728" rIns="164592" bIns="73152" rtlCol="0" anchor="ctr"/>
          <a:lstStyle/>
          <a:p>
            <a:pPr algn="ctr"/>
            <a:r>
              <a:rPr sz="1000">
                <a:solidFill>
                  <a:srgbClr val="1E1E1E"/>
                </a:solidFill>
                <a:latin typeface="Courier New"/>
              </a:rPr>
              <a:t>router.post("/medicines", async (req, res) =&gt; {
  const medicine = await Medicine.create(req.body);
  res.status(201).json(medicine);
});</a:t>
            </a:r>
          </a:p>
        </p:txBody>
      </p:sp>
      <p:sp>
        <p:nvSpPr>
          <p:cNvPr id="11" name="TextBox 10"/>
          <p:cNvSpPr txBox="1"/>
          <p:nvPr/>
        </p:nvSpPr>
        <p:spPr>
          <a:xfrm>
            <a:off x="731520" y="4892040"/>
            <a:ext cx="2011680" cy="274320"/>
          </a:xfrm>
          <a:prstGeom prst="rect">
            <a:avLst/>
          </a:prstGeom>
          <a:noFill/>
        </p:spPr>
        <p:txBody>
          <a:bodyPr wrap="none">
            <a:spAutoFit/>
          </a:bodyPr>
          <a:lstStyle/>
          <a:p>
            <a:pPr algn="l"/>
            <a:r>
              <a:rPr sz="1050" b="1">
                <a:solidFill>
                  <a:srgbClr val="1E506E"/>
                </a:solidFill>
                <a:latin typeface="Times New Roman"/>
              </a:rPr>
              <a:t>LOW-STOCK MONITORING</a:t>
            </a:r>
          </a:p>
        </p:txBody>
      </p:sp>
      <p:sp>
        <p:nvSpPr>
          <p:cNvPr id="12" name="Rounded Rectangle 11"/>
          <p:cNvSpPr/>
          <p:nvPr/>
        </p:nvSpPr>
        <p:spPr>
          <a:xfrm>
            <a:off x="731520" y="5148072"/>
            <a:ext cx="6126480" cy="1234440"/>
          </a:xfrm>
          <a:prstGeom prst="roundRect">
            <a:avLst/>
          </a:prstGeom>
          <a:solidFill>
            <a:srgbClr val="F5F7F9"/>
          </a:solidFill>
          <a:ln>
            <a:solidFill>
              <a:srgbClr val="C8CDD2"/>
            </a:solidFill>
          </a:ln>
        </p:spPr>
        <p:style>
          <a:lnRef idx="1">
            <a:schemeClr val="accent1"/>
          </a:lnRef>
          <a:fillRef idx="3">
            <a:schemeClr val="accent1"/>
          </a:fillRef>
          <a:effectRef idx="2">
            <a:schemeClr val="accent1"/>
          </a:effectRef>
          <a:fontRef idx="minor">
            <a:schemeClr val="lt1"/>
          </a:fontRef>
        </p:style>
        <p:txBody>
          <a:bodyPr lIns="164592" tIns="109728" rIns="164592" bIns="73152" rtlCol="0" anchor="ctr"/>
          <a:lstStyle/>
          <a:p>
            <a:pPr algn="ctr"/>
            <a:r>
              <a:rPr sz="1000">
                <a:solidFill>
                  <a:srgbClr val="1E1E1E"/>
                </a:solidFill>
                <a:latin typeface="Courier New"/>
              </a:rPr>
              <a:t>const lowStock = await Medicine.find({
  quantity: { $lt: minimumQuantity }
});</a:t>
            </a:r>
          </a:p>
        </p:txBody>
      </p:sp>
      <p:sp>
        <p:nvSpPr>
          <p:cNvPr id="13"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20</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580510" y="579322"/>
            <a:ext cx="2398979" cy="281432"/>
          </a:xfrm>
          <a:prstGeom prst="rect">
            <a:avLst/>
          </a:prstGeom>
          <a:noFill/>
        </p:spPr>
        <p:txBody>
          <a:bodyPr wrap="none" lIns="0" tIns="0" rIns="0" bIns="0" anchor="t">
            <a:spAutoFit/>
          </a:bodyPr>
          <a:lstStyle/>
          <a:p>
            <a:pPr algn="ctr"/>
            <a:r>
              <a:rPr sz="1600" b="1" i="0">
                <a:solidFill>
                  <a:srgbClr val="000000"/>
                </a:solidFill>
                <a:latin typeface="Times New Roman"/>
              </a:rPr>
              <a:t>CHAPTER - 7 FEATURES</a:t>
            </a:r>
          </a:p>
        </p:txBody>
      </p:sp>
      <p:sp>
        <p:nvSpPr>
          <p:cNvPr id="5" name="TextBox 4"/>
          <p:cNvSpPr txBox="1"/>
          <p:nvPr/>
        </p:nvSpPr>
        <p:spPr>
          <a:xfrm>
            <a:off x="716280" y="948740"/>
            <a:ext cx="1911172" cy="246252"/>
          </a:xfrm>
          <a:prstGeom prst="rect">
            <a:avLst/>
          </a:prstGeom>
          <a:noFill/>
        </p:spPr>
        <p:txBody>
          <a:bodyPr wrap="none" lIns="0" tIns="0" rIns="0" bIns="0" anchor="t">
            <a:spAutoFit/>
          </a:bodyPr>
          <a:lstStyle/>
          <a:p>
            <a:pPr algn="l"/>
            <a:r>
              <a:rPr sz="1400" b="1" i="0">
                <a:solidFill>
                  <a:srgbClr val="000000"/>
                </a:solidFill>
                <a:latin typeface="Times New Roman"/>
              </a:rPr>
              <a:t>7.1 List of Main Features</a:t>
            </a:r>
          </a:p>
        </p:txBody>
      </p:sp>
      <p:sp>
        <p:nvSpPr>
          <p:cNvPr id="6" name="TextBox 5"/>
          <p:cNvSpPr txBox="1"/>
          <p:nvPr/>
        </p:nvSpPr>
        <p:spPr>
          <a:xfrm>
            <a:off x="944880" y="12278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features are designed around the inventory lifecycle rather than isolated screens. Medicine</a:t>
            </a:r>
          </a:p>
        </p:txBody>
      </p:sp>
      <p:sp>
        <p:nvSpPr>
          <p:cNvPr id="7" name="TextBox 6"/>
          <p:cNvSpPr txBox="1"/>
          <p:nvPr/>
        </p:nvSpPr>
        <p:spPr>
          <a:xfrm>
            <a:off x="716280" y="1405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and supplier records provide master information, batch management provides traceability,</a:t>
            </a:r>
          </a:p>
        </p:txBody>
      </p:sp>
      <p:sp>
        <p:nvSpPr>
          <p:cNvPr id="8" name="TextBox 7"/>
          <p:cNvSpPr txBox="1"/>
          <p:nvPr/>
        </p:nvSpPr>
        <p:spPr>
          <a:xfrm>
            <a:off x="716280" y="1583486"/>
            <a:ext cx="5778093" cy="203301"/>
          </a:xfrm>
          <a:prstGeom prst="rect">
            <a:avLst/>
          </a:prstGeom>
          <a:noFill/>
        </p:spPr>
        <p:txBody>
          <a:bodyPr wrap="none" lIns="0" tIns="0" rIns="0" bIns="0" anchor="t">
            <a:spAutoFit/>
          </a:bodyPr>
          <a:lstStyle/>
          <a:p>
            <a:pPr algn="ctr"/>
            <a:r>
              <a:rPr sz="1200" b="0" i="0">
                <a:solidFill>
                  <a:srgbClr val="000000"/>
                </a:solidFill>
                <a:latin typeface="Times New Roman"/>
              </a:rPr>
              <a:t>transaction modules change inventory, and monitoring functions provide operational visibility.</a:t>
            </a:r>
          </a:p>
        </p:txBody>
      </p:sp>
      <p:sp>
        <p:nvSpPr>
          <p:cNvPr id="9" name="TextBox 8"/>
          <p:cNvSpPr txBox="1"/>
          <p:nvPr/>
        </p:nvSpPr>
        <p:spPr>
          <a:xfrm>
            <a:off x="944880" y="18120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Together, these features form a single backend workflow in which inventory information can be</a:t>
            </a:r>
          </a:p>
        </p:txBody>
      </p:sp>
      <p:sp>
        <p:nvSpPr>
          <p:cNvPr id="10" name="TextBox 9"/>
          <p:cNvSpPr txBox="1"/>
          <p:nvPr/>
        </p:nvSpPr>
        <p:spPr>
          <a:xfrm>
            <a:off x="716280" y="1989886"/>
            <a:ext cx="3822192" cy="203301"/>
          </a:xfrm>
          <a:prstGeom prst="rect">
            <a:avLst/>
          </a:prstGeom>
          <a:noFill/>
        </p:spPr>
        <p:txBody>
          <a:bodyPr wrap="none" lIns="0" tIns="0" rIns="0" bIns="0" anchor="t">
            <a:spAutoFit/>
          </a:bodyPr>
          <a:lstStyle/>
          <a:p>
            <a:pPr algn="l"/>
            <a:r>
              <a:rPr sz="1200" b="0" i="0">
                <a:solidFill>
                  <a:srgbClr val="000000"/>
                </a:solidFill>
                <a:latin typeface="Times New Roman"/>
              </a:rPr>
              <a:t>maintained and retrieved through consistent RESTful services.</a:t>
            </a:r>
          </a:p>
        </p:txBody>
      </p:sp>
      <p:sp>
        <p:nvSpPr>
          <p:cNvPr id="11" name="TextBox 10"/>
          <p:cNvSpPr txBox="1"/>
          <p:nvPr/>
        </p:nvSpPr>
        <p:spPr>
          <a:xfrm>
            <a:off x="944880" y="2218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major features of the Enterprise Pharmaceutical Stock and Inventory Management System</a:t>
            </a:r>
          </a:p>
        </p:txBody>
      </p:sp>
      <p:sp>
        <p:nvSpPr>
          <p:cNvPr id="12" name="TextBox 11"/>
          <p:cNvSpPr txBox="1"/>
          <p:nvPr/>
        </p:nvSpPr>
        <p:spPr>
          <a:xfrm>
            <a:off x="716280" y="2396286"/>
            <a:ext cx="4245102" cy="203301"/>
          </a:xfrm>
          <a:prstGeom prst="rect">
            <a:avLst/>
          </a:prstGeom>
          <a:noFill/>
        </p:spPr>
        <p:txBody>
          <a:bodyPr wrap="none" lIns="0" tIns="0" rIns="0" bIns="0" anchor="t">
            <a:spAutoFit/>
          </a:bodyPr>
          <a:lstStyle/>
          <a:p>
            <a:pPr algn="l"/>
            <a:r>
              <a:rPr sz="1200" b="0" i="0">
                <a:solidFill>
                  <a:srgbClr val="000000"/>
                </a:solidFill>
                <a:latin typeface="Times New Roman"/>
              </a:rPr>
              <a:t>are derived directly from the project abstract and its stated objectives.</a:t>
            </a:r>
          </a:p>
        </p:txBody>
      </p:sp>
      <p:sp>
        <p:nvSpPr>
          <p:cNvPr id="13" name="TextBox 12"/>
          <p:cNvSpPr txBox="1"/>
          <p:nvPr/>
        </p:nvSpPr>
        <p:spPr>
          <a:xfrm>
            <a:off x="716280" y="2624886"/>
            <a:ext cx="2207666" cy="203301"/>
          </a:xfrm>
          <a:prstGeom prst="rect">
            <a:avLst/>
          </a:prstGeom>
          <a:noFill/>
        </p:spPr>
        <p:txBody>
          <a:bodyPr wrap="none" lIns="0" tIns="0" rIns="0" bIns="0" anchor="t">
            <a:spAutoFit/>
          </a:bodyPr>
          <a:lstStyle/>
          <a:p>
            <a:pPr algn="l"/>
            <a:r>
              <a:rPr sz="1200" b="0" i="0">
                <a:solidFill>
                  <a:srgbClr val="000000"/>
                </a:solidFill>
                <a:latin typeface="Times New Roman"/>
              </a:rPr>
              <a:t>• Centralized medicine management</a:t>
            </a:r>
          </a:p>
        </p:txBody>
      </p:sp>
      <p:sp>
        <p:nvSpPr>
          <p:cNvPr id="14" name="TextBox 13"/>
          <p:cNvSpPr txBox="1"/>
          <p:nvPr/>
        </p:nvSpPr>
        <p:spPr>
          <a:xfrm>
            <a:off x="716280" y="2853486"/>
            <a:ext cx="1424787" cy="203301"/>
          </a:xfrm>
          <a:prstGeom prst="rect">
            <a:avLst/>
          </a:prstGeom>
          <a:noFill/>
        </p:spPr>
        <p:txBody>
          <a:bodyPr wrap="none" lIns="0" tIns="0" rIns="0" bIns="0" anchor="t">
            <a:spAutoFit/>
          </a:bodyPr>
          <a:lstStyle/>
          <a:p>
            <a:pPr algn="l"/>
            <a:r>
              <a:rPr sz="1200" b="0" i="0">
                <a:solidFill>
                  <a:srgbClr val="000000"/>
                </a:solidFill>
                <a:latin typeface="Times New Roman"/>
              </a:rPr>
              <a:t>• Supplier management</a:t>
            </a:r>
          </a:p>
        </p:txBody>
      </p:sp>
      <p:sp>
        <p:nvSpPr>
          <p:cNvPr id="15" name="TextBox 14"/>
          <p:cNvSpPr txBox="1"/>
          <p:nvPr/>
        </p:nvSpPr>
        <p:spPr>
          <a:xfrm>
            <a:off x="716280" y="3082086"/>
            <a:ext cx="1488186" cy="203301"/>
          </a:xfrm>
          <a:prstGeom prst="rect">
            <a:avLst/>
          </a:prstGeom>
          <a:noFill/>
        </p:spPr>
        <p:txBody>
          <a:bodyPr wrap="none" lIns="0" tIns="0" rIns="0" bIns="0" anchor="t">
            <a:spAutoFit/>
          </a:bodyPr>
          <a:lstStyle/>
          <a:p>
            <a:pPr algn="l"/>
            <a:r>
              <a:rPr sz="1200" b="0" i="0">
                <a:solidFill>
                  <a:srgbClr val="000000"/>
                </a:solidFill>
                <a:latin typeface="Times New Roman"/>
              </a:rPr>
              <a:t>• Batch number tracking</a:t>
            </a:r>
          </a:p>
        </p:txBody>
      </p:sp>
      <p:sp>
        <p:nvSpPr>
          <p:cNvPr id="16" name="TextBox 15"/>
          <p:cNvSpPr txBox="1"/>
          <p:nvPr/>
        </p:nvSpPr>
        <p:spPr>
          <a:xfrm>
            <a:off x="716280" y="3310686"/>
            <a:ext cx="2804312" cy="203301"/>
          </a:xfrm>
          <a:prstGeom prst="rect">
            <a:avLst/>
          </a:prstGeom>
          <a:noFill/>
        </p:spPr>
        <p:txBody>
          <a:bodyPr wrap="none" lIns="0" tIns="0" rIns="0" bIns="0" anchor="t">
            <a:spAutoFit/>
          </a:bodyPr>
          <a:lstStyle/>
          <a:p>
            <a:pPr algn="l"/>
            <a:r>
              <a:rPr sz="1200" b="0" i="0">
                <a:solidFill>
                  <a:srgbClr val="000000"/>
                </a:solidFill>
                <a:latin typeface="Times New Roman"/>
              </a:rPr>
              <a:t>• Manufacturing date and expiry date tracking</a:t>
            </a:r>
          </a:p>
        </p:txBody>
      </p:sp>
      <p:sp>
        <p:nvSpPr>
          <p:cNvPr id="17" name="TextBox 16"/>
          <p:cNvSpPr txBox="1"/>
          <p:nvPr/>
        </p:nvSpPr>
        <p:spPr>
          <a:xfrm>
            <a:off x="716280" y="3539286"/>
            <a:ext cx="2165299" cy="203301"/>
          </a:xfrm>
          <a:prstGeom prst="rect">
            <a:avLst/>
          </a:prstGeom>
          <a:noFill/>
        </p:spPr>
        <p:txBody>
          <a:bodyPr wrap="none" lIns="0" tIns="0" rIns="0" bIns="0" anchor="t">
            <a:spAutoFit/>
          </a:bodyPr>
          <a:lstStyle/>
          <a:p>
            <a:pPr algn="l"/>
            <a:r>
              <a:rPr sz="1200" b="0" i="0">
                <a:solidFill>
                  <a:srgbClr val="000000"/>
                </a:solidFill>
                <a:latin typeface="Times New Roman"/>
              </a:rPr>
              <a:t>• Purchase transaction management</a:t>
            </a:r>
          </a:p>
        </p:txBody>
      </p:sp>
      <p:sp>
        <p:nvSpPr>
          <p:cNvPr id="18" name="TextBox 17"/>
          <p:cNvSpPr txBox="1"/>
          <p:nvPr/>
        </p:nvSpPr>
        <p:spPr>
          <a:xfrm>
            <a:off x="716280" y="3767886"/>
            <a:ext cx="1936851" cy="203301"/>
          </a:xfrm>
          <a:prstGeom prst="rect">
            <a:avLst/>
          </a:prstGeom>
          <a:noFill/>
        </p:spPr>
        <p:txBody>
          <a:bodyPr wrap="none" lIns="0" tIns="0" rIns="0" bIns="0" anchor="t">
            <a:spAutoFit/>
          </a:bodyPr>
          <a:lstStyle/>
          <a:p>
            <a:pPr algn="l"/>
            <a:r>
              <a:rPr sz="1200" b="0" i="0">
                <a:solidFill>
                  <a:srgbClr val="000000"/>
                </a:solidFill>
                <a:latin typeface="Times New Roman"/>
              </a:rPr>
              <a:t>• Sales transaction management</a:t>
            </a:r>
          </a:p>
        </p:txBody>
      </p:sp>
      <p:sp>
        <p:nvSpPr>
          <p:cNvPr id="19" name="TextBox 18"/>
          <p:cNvSpPr txBox="1"/>
          <p:nvPr/>
        </p:nvSpPr>
        <p:spPr>
          <a:xfrm>
            <a:off x="716280" y="3996486"/>
            <a:ext cx="1759305" cy="203301"/>
          </a:xfrm>
          <a:prstGeom prst="rect">
            <a:avLst/>
          </a:prstGeom>
          <a:noFill/>
        </p:spPr>
        <p:txBody>
          <a:bodyPr wrap="none" lIns="0" tIns="0" rIns="0" bIns="0" anchor="t">
            <a:spAutoFit/>
          </a:bodyPr>
          <a:lstStyle/>
          <a:p>
            <a:pPr algn="l"/>
            <a:r>
              <a:rPr sz="1200" b="0" i="0">
                <a:solidFill>
                  <a:srgbClr val="000000"/>
                </a:solidFill>
                <a:latin typeface="Times New Roman"/>
              </a:rPr>
              <a:t>• Available stock monitoring</a:t>
            </a:r>
          </a:p>
        </p:txBody>
      </p:sp>
      <p:sp>
        <p:nvSpPr>
          <p:cNvPr id="20" name="TextBox 19"/>
          <p:cNvSpPr txBox="1"/>
          <p:nvPr/>
        </p:nvSpPr>
        <p:spPr>
          <a:xfrm>
            <a:off x="716280" y="4225086"/>
            <a:ext cx="1594104" cy="203301"/>
          </a:xfrm>
          <a:prstGeom prst="rect">
            <a:avLst/>
          </a:prstGeom>
          <a:noFill/>
        </p:spPr>
        <p:txBody>
          <a:bodyPr wrap="none" lIns="0" tIns="0" rIns="0" bIns="0" anchor="t">
            <a:spAutoFit/>
          </a:bodyPr>
          <a:lstStyle/>
          <a:p>
            <a:pPr algn="l"/>
            <a:r>
              <a:rPr sz="1200" b="0" i="0">
                <a:solidFill>
                  <a:srgbClr val="000000"/>
                </a:solidFill>
                <a:latin typeface="Times New Roman"/>
              </a:rPr>
              <a:t>• Low-stock identification</a:t>
            </a:r>
          </a:p>
        </p:txBody>
      </p:sp>
      <p:sp>
        <p:nvSpPr>
          <p:cNvPr id="21" name="TextBox 20"/>
          <p:cNvSpPr txBox="1"/>
          <p:nvPr/>
        </p:nvSpPr>
        <p:spPr>
          <a:xfrm>
            <a:off x="716280" y="4453686"/>
            <a:ext cx="2275331" cy="203301"/>
          </a:xfrm>
          <a:prstGeom prst="rect">
            <a:avLst/>
          </a:prstGeom>
          <a:noFill/>
        </p:spPr>
        <p:txBody>
          <a:bodyPr wrap="none" lIns="0" tIns="0" rIns="0" bIns="0" anchor="t">
            <a:spAutoFit/>
          </a:bodyPr>
          <a:lstStyle/>
          <a:p>
            <a:pPr algn="l"/>
            <a:r>
              <a:rPr sz="1200" b="0" i="0">
                <a:solidFill>
                  <a:srgbClr val="000000"/>
                </a:solidFill>
                <a:latin typeface="Times New Roman"/>
              </a:rPr>
              <a:t>• Near-expiry medicine identification</a:t>
            </a:r>
          </a:p>
        </p:txBody>
      </p:sp>
      <p:sp>
        <p:nvSpPr>
          <p:cNvPr id="22" name="TextBox 21"/>
          <p:cNvSpPr txBox="1"/>
          <p:nvPr/>
        </p:nvSpPr>
        <p:spPr>
          <a:xfrm>
            <a:off x="716280" y="4682286"/>
            <a:ext cx="2944215" cy="203301"/>
          </a:xfrm>
          <a:prstGeom prst="rect">
            <a:avLst/>
          </a:prstGeom>
          <a:noFill/>
        </p:spPr>
        <p:txBody>
          <a:bodyPr wrap="none" lIns="0" tIns="0" rIns="0" bIns="0" anchor="t">
            <a:spAutoFit/>
          </a:bodyPr>
          <a:lstStyle/>
          <a:p>
            <a:pPr algn="l"/>
            <a:r>
              <a:rPr sz="1200" b="0" i="0">
                <a:solidFill>
                  <a:srgbClr val="000000"/>
                </a:solidFill>
                <a:latin typeface="Times New Roman"/>
              </a:rPr>
              <a:t>• CRUD APIs for medicine and supplier records</a:t>
            </a:r>
          </a:p>
        </p:txBody>
      </p:sp>
      <p:sp>
        <p:nvSpPr>
          <p:cNvPr id="23" name="TextBox 22"/>
          <p:cNvSpPr txBox="1"/>
          <p:nvPr/>
        </p:nvSpPr>
        <p:spPr>
          <a:xfrm>
            <a:off x="716280" y="4910886"/>
            <a:ext cx="1513332" cy="203301"/>
          </a:xfrm>
          <a:prstGeom prst="rect">
            <a:avLst/>
          </a:prstGeom>
          <a:noFill/>
        </p:spPr>
        <p:txBody>
          <a:bodyPr wrap="none" lIns="0" tIns="0" rIns="0" bIns="0" anchor="t">
            <a:spAutoFit/>
          </a:bodyPr>
          <a:lstStyle/>
          <a:p>
            <a:pPr algn="l"/>
            <a:r>
              <a:rPr sz="1200" b="0" i="0">
                <a:solidFill>
                  <a:srgbClr val="000000"/>
                </a:solidFill>
                <a:latin typeface="Times New Roman"/>
              </a:rPr>
              <a:t>• Authorized staff access</a:t>
            </a:r>
          </a:p>
        </p:txBody>
      </p:sp>
      <p:sp>
        <p:nvSpPr>
          <p:cNvPr id="24" name="TextBox 23"/>
          <p:cNvSpPr txBox="1"/>
          <p:nvPr/>
        </p:nvSpPr>
        <p:spPr>
          <a:xfrm>
            <a:off x="716280" y="5139486"/>
            <a:ext cx="1936699" cy="203301"/>
          </a:xfrm>
          <a:prstGeom prst="rect">
            <a:avLst/>
          </a:prstGeom>
          <a:noFill/>
        </p:spPr>
        <p:txBody>
          <a:bodyPr wrap="none" lIns="0" tIns="0" rIns="0" bIns="0" anchor="t">
            <a:spAutoFit/>
          </a:bodyPr>
          <a:lstStyle/>
          <a:p>
            <a:pPr algn="l"/>
            <a:r>
              <a:rPr sz="1200" b="0" i="0">
                <a:solidFill>
                  <a:srgbClr val="000000"/>
                </a:solidFill>
                <a:latin typeface="Times New Roman"/>
              </a:rPr>
              <a:t>• RESTful backend architecture</a:t>
            </a:r>
          </a:p>
        </p:txBody>
      </p:sp>
      <p:sp>
        <p:nvSpPr>
          <p:cNvPr id="25" name="TextBox 24"/>
          <p:cNvSpPr txBox="1"/>
          <p:nvPr/>
        </p:nvSpPr>
        <p:spPr>
          <a:xfrm>
            <a:off x="716280" y="5368086"/>
            <a:ext cx="1911401" cy="203301"/>
          </a:xfrm>
          <a:prstGeom prst="rect">
            <a:avLst/>
          </a:prstGeom>
          <a:noFill/>
        </p:spPr>
        <p:txBody>
          <a:bodyPr wrap="none" lIns="0" tIns="0" rIns="0" bIns="0" anchor="t">
            <a:spAutoFit/>
          </a:bodyPr>
          <a:lstStyle/>
          <a:p>
            <a:pPr algn="l"/>
            <a:r>
              <a:rPr sz="1200" b="0" i="0">
                <a:solidFill>
                  <a:srgbClr val="000000"/>
                </a:solidFill>
                <a:latin typeface="Times New Roman"/>
              </a:rPr>
              <a:t>• MongoDB-based data storage</a:t>
            </a:r>
          </a:p>
        </p:txBody>
      </p:sp>
      <p:sp>
        <p:nvSpPr>
          <p:cNvPr id="26" name="TextBox 25"/>
          <p:cNvSpPr txBox="1"/>
          <p:nvPr/>
        </p:nvSpPr>
        <p:spPr>
          <a:xfrm>
            <a:off x="716280" y="5596686"/>
            <a:ext cx="1856841" cy="203301"/>
          </a:xfrm>
          <a:prstGeom prst="rect">
            <a:avLst/>
          </a:prstGeom>
          <a:noFill/>
        </p:spPr>
        <p:txBody>
          <a:bodyPr wrap="none" lIns="0" tIns="0" rIns="0" bIns="0" anchor="t">
            <a:spAutoFit/>
          </a:bodyPr>
          <a:lstStyle/>
          <a:p>
            <a:pPr algn="l"/>
            <a:r>
              <a:rPr sz="1200" b="0" i="0">
                <a:solidFill>
                  <a:srgbClr val="000000"/>
                </a:solidFill>
                <a:latin typeface="Times New Roman"/>
              </a:rPr>
              <a:t>• API testing through Postman</a:t>
            </a:r>
          </a:p>
        </p:txBody>
      </p:sp>
      <p:sp>
        <p:nvSpPr>
          <p:cNvPr id="27" name="TextBox 26"/>
          <p:cNvSpPr txBox="1"/>
          <p:nvPr/>
        </p:nvSpPr>
        <p:spPr>
          <a:xfrm>
            <a:off x="716280" y="5863640"/>
            <a:ext cx="2247036" cy="246252"/>
          </a:xfrm>
          <a:prstGeom prst="rect">
            <a:avLst/>
          </a:prstGeom>
          <a:noFill/>
        </p:spPr>
        <p:txBody>
          <a:bodyPr wrap="none" lIns="0" tIns="0" rIns="0" bIns="0" anchor="t">
            <a:spAutoFit/>
          </a:bodyPr>
          <a:lstStyle/>
          <a:p>
            <a:pPr algn="l"/>
            <a:r>
              <a:rPr sz="1400" b="1" i="0">
                <a:solidFill>
                  <a:srgbClr val="000000"/>
                </a:solidFill>
                <a:latin typeface="Times New Roman"/>
              </a:rPr>
              <a:t>7.2 How Each Feature Works</a:t>
            </a:r>
          </a:p>
        </p:txBody>
      </p:sp>
      <p:sp>
        <p:nvSpPr>
          <p:cNvPr id="28" name="TextBox 27"/>
          <p:cNvSpPr txBox="1"/>
          <p:nvPr/>
        </p:nvSpPr>
        <p:spPr>
          <a:xfrm>
            <a:off x="944880" y="61427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 feature is considered complete only when its API behavior and database effect agree. For</a:t>
            </a:r>
          </a:p>
        </p:txBody>
      </p:sp>
      <p:sp>
        <p:nvSpPr>
          <p:cNvPr id="29" name="TextBox 28"/>
          <p:cNvSpPr txBox="1"/>
          <p:nvPr/>
        </p:nvSpPr>
        <p:spPr>
          <a:xfrm>
            <a:off x="716280" y="6320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example, a successful purchase should create the required transaction information and update the</a:t>
            </a:r>
          </a:p>
        </p:txBody>
      </p:sp>
      <p:sp>
        <p:nvSpPr>
          <p:cNvPr id="30" name="TextBox 29"/>
          <p:cNvSpPr txBox="1"/>
          <p:nvPr/>
        </p:nvSpPr>
        <p:spPr>
          <a:xfrm>
            <a:off x="716280" y="6498386"/>
            <a:ext cx="4313225" cy="203301"/>
          </a:xfrm>
          <a:prstGeom prst="rect">
            <a:avLst/>
          </a:prstGeom>
          <a:noFill/>
        </p:spPr>
        <p:txBody>
          <a:bodyPr wrap="none" lIns="0" tIns="0" rIns="0" bIns="0" anchor="t">
            <a:spAutoFit/>
          </a:bodyPr>
          <a:lstStyle/>
          <a:p>
            <a:pPr algn="l"/>
            <a:r>
              <a:rPr sz="1200" b="0" i="0">
                <a:solidFill>
                  <a:srgbClr val="000000"/>
                </a:solidFill>
                <a:latin typeface="Times New Roman"/>
              </a:rPr>
              <a:t>appropriate stock quantity according to the implemented business rule.</a:t>
            </a:r>
          </a:p>
        </p:txBody>
      </p:sp>
      <p:sp>
        <p:nvSpPr>
          <p:cNvPr id="31" name="TextBox 30"/>
          <p:cNvSpPr txBox="1"/>
          <p:nvPr/>
        </p:nvSpPr>
        <p:spPr>
          <a:xfrm>
            <a:off x="944880" y="67269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Monitoring functions should be read-oriented so that checking stock or expiry information does</a:t>
            </a:r>
          </a:p>
        </p:txBody>
      </p:sp>
      <p:sp>
        <p:nvSpPr>
          <p:cNvPr id="32" name="TextBox 31"/>
          <p:cNvSpPr txBox="1"/>
          <p:nvPr/>
        </p:nvSpPr>
        <p:spPr>
          <a:xfrm>
            <a:off x="716280" y="6904786"/>
            <a:ext cx="2586532" cy="203301"/>
          </a:xfrm>
          <a:prstGeom prst="rect">
            <a:avLst/>
          </a:prstGeom>
          <a:noFill/>
        </p:spPr>
        <p:txBody>
          <a:bodyPr wrap="none" lIns="0" tIns="0" rIns="0" bIns="0" anchor="t">
            <a:spAutoFit/>
          </a:bodyPr>
          <a:lstStyle/>
          <a:p>
            <a:pPr algn="l"/>
            <a:r>
              <a:rPr sz="1200" b="0" i="0">
                <a:solidFill>
                  <a:srgbClr val="000000"/>
                </a:solidFill>
                <a:latin typeface="Times New Roman"/>
              </a:rPr>
              <a:t>not unintentionally modify inventory data.</a:t>
            </a:r>
          </a:p>
        </p:txBody>
      </p:sp>
      <p:sp>
        <p:nvSpPr>
          <p:cNvPr id="33" name="TextBox 32"/>
          <p:cNvSpPr txBox="1"/>
          <p:nvPr/>
        </p:nvSpPr>
        <p:spPr>
          <a:xfrm>
            <a:off x="944880" y="71333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Medicine management allows authorized users to maintain medicine records in a centralized</a:t>
            </a:r>
          </a:p>
        </p:txBody>
      </p:sp>
      <p:sp>
        <p:nvSpPr>
          <p:cNvPr id="34" name="TextBox 33"/>
          <p:cNvSpPr txBox="1"/>
          <p:nvPr/>
        </p:nvSpPr>
        <p:spPr>
          <a:xfrm>
            <a:off x="716280" y="73111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database. Supplier management provides the information required to associate incoming stock with</a:t>
            </a:r>
          </a:p>
        </p:txBody>
      </p:sp>
      <p:sp>
        <p:nvSpPr>
          <p:cNvPr id="35" name="TextBox 34"/>
          <p:cNvSpPr txBox="1"/>
          <p:nvPr/>
        </p:nvSpPr>
        <p:spPr>
          <a:xfrm>
            <a:off x="716280" y="7488986"/>
            <a:ext cx="5789981" cy="203301"/>
          </a:xfrm>
          <a:prstGeom prst="rect">
            <a:avLst/>
          </a:prstGeom>
          <a:noFill/>
        </p:spPr>
        <p:txBody>
          <a:bodyPr wrap="none" lIns="0" tIns="0" rIns="0" bIns="0" anchor="t">
            <a:spAutoFit/>
          </a:bodyPr>
          <a:lstStyle/>
          <a:p>
            <a:pPr algn="ctr"/>
            <a:r>
              <a:rPr sz="1200" b="0" i="0">
                <a:solidFill>
                  <a:srgbClr val="000000"/>
                </a:solidFill>
                <a:latin typeface="Times New Roman"/>
              </a:rPr>
              <a:t>its source. Batch management adds traceability by recording batch numbers and relevant dates.</a:t>
            </a:r>
          </a:p>
        </p:txBody>
      </p:sp>
      <p:sp>
        <p:nvSpPr>
          <p:cNvPr id="36" name="TextBox 35"/>
          <p:cNvSpPr txBox="1"/>
          <p:nvPr/>
        </p:nvSpPr>
        <p:spPr>
          <a:xfrm>
            <a:off x="944880" y="77175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Purchase operations represent stock entering the inventory. Sales operations represent stock</a:t>
            </a:r>
          </a:p>
        </p:txBody>
      </p:sp>
      <p:sp>
        <p:nvSpPr>
          <p:cNvPr id="37" name="TextBox 36"/>
          <p:cNvSpPr txBox="1"/>
          <p:nvPr/>
        </p:nvSpPr>
        <p:spPr>
          <a:xfrm>
            <a:off x="716280" y="78953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leaving the inventory. The stock view reflects these movements so that users can understand the</a:t>
            </a:r>
          </a:p>
        </p:txBody>
      </p:sp>
      <p:sp>
        <p:nvSpPr>
          <p:cNvPr id="38" name="TextBox 37"/>
          <p:cNvSpPr txBox="1"/>
          <p:nvPr/>
        </p:nvSpPr>
        <p:spPr>
          <a:xfrm>
            <a:off x="716280" y="8073186"/>
            <a:ext cx="1595628" cy="203301"/>
          </a:xfrm>
          <a:prstGeom prst="rect">
            <a:avLst/>
          </a:prstGeom>
          <a:noFill/>
        </p:spPr>
        <p:txBody>
          <a:bodyPr wrap="none" lIns="0" tIns="0" rIns="0" bIns="0" anchor="t">
            <a:spAutoFit/>
          </a:bodyPr>
          <a:lstStyle/>
          <a:p>
            <a:pPr algn="l"/>
            <a:r>
              <a:rPr sz="1200" b="0" i="0">
                <a:solidFill>
                  <a:srgbClr val="000000"/>
                </a:solidFill>
                <a:latin typeface="Times New Roman"/>
              </a:rPr>
              <a:t>current available quantity.</a:t>
            </a:r>
          </a:p>
        </p:txBody>
      </p:sp>
      <p:sp>
        <p:nvSpPr>
          <p:cNvPr id="39" name="TextBox 38"/>
          <p:cNvSpPr txBox="1"/>
          <p:nvPr/>
        </p:nvSpPr>
        <p:spPr>
          <a:xfrm>
            <a:off x="944880" y="83017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Expiry monitoring uses the stored expiry dates to identify records that require attention.</a:t>
            </a:r>
          </a:p>
        </p:txBody>
      </p:sp>
      <p:sp>
        <p:nvSpPr>
          <p:cNvPr id="40" name="TextBox 39"/>
          <p:cNvSpPr txBox="1"/>
          <p:nvPr/>
        </p:nvSpPr>
        <p:spPr>
          <a:xfrm>
            <a:off x="716280" y="84795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Low-stock monitoring uses quantity information to identify medicines that may require</a:t>
            </a:r>
          </a:p>
        </p:txBody>
      </p:sp>
      <p:sp>
        <p:nvSpPr>
          <p:cNvPr id="41" name="TextBox 40"/>
          <p:cNvSpPr txBox="1"/>
          <p:nvPr/>
        </p:nvSpPr>
        <p:spPr>
          <a:xfrm>
            <a:off x="716280" y="8657386"/>
            <a:ext cx="5679796" cy="203301"/>
          </a:xfrm>
          <a:prstGeom prst="rect">
            <a:avLst/>
          </a:prstGeom>
          <a:noFill/>
        </p:spPr>
        <p:txBody>
          <a:bodyPr wrap="none" lIns="0" tIns="0" rIns="0" bIns="0" anchor="t">
            <a:spAutoFit/>
          </a:bodyPr>
          <a:lstStyle/>
          <a:p>
            <a:pPr algn="ctr"/>
            <a:r>
              <a:rPr sz="1200" b="0" i="0">
                <a:solidFill>
                  <a:srgbClr val="000000"/>
                </a:solidFill>
                <a:latin typeface="Times New Roman"/>
              </a:rPr>
              <a:t>replenishment. Together, these features provide a practical operational view of the inventory.</a:t>
            </a:r>
          </a:p>
        </p:txBody>
      </p:sp>
      <p:sp>
        <p:nvSpPr>
          <p:cNvPr id="42" name="TextBox 41"/>
          <p:cNvSpPr txBox="1"/>
          <p:nvPr/>
        </p:nvSpPr>
        <p:spPr>
          <a:xfrm>
            <a:off x="1500438" y="8949156"/>
            <a:ext cx="444322" cy="184689"/>
          </a:xfrm>
          <a:prstGeom prst="rect">
            <a:avLst/>
          </a:prstGeom>
          <a:noFill/>
        </p:spPr>
        <p:txBody>
          <a:bodyPr wrap="none" lIns="0" tIns="0" rIns="0" bIns="0" anchor="t">
            <a:spAutoFit/>
          </a:bodyPr>
          <a:lstStyle/>
          <a:p>
            <a:pPr algn="l"/>
            <a:r>
              <a:rPr sz="1050" b="1" i="0">
                <a:solidFill>
                  <a:srgbClr val="000000"/>
                </a:solidFill>
                <a:latin typeface="Times New Roman"/>
              </a:rPr>
              <a:t>Feature</a:t>
            </a:r>
          </a:p>
        </p:txBody>
      </p:sp>
      <p:sp>
        <p:nvSpPr>
          <p:cNvPr id="43" name="TextBox 42"/>
          <p:cNvSpPr txBox="1"/>
          <p:nvPr/>
        </p:nvSpPr>
        <p:spPr>
          <a:xfrm>
            <a:off x="3304207" y="8949156"/>
            <a:ext cx="951585" cy="184689"/>
          </a:xfrm>
          <a:prstGeom prst="rect">
            <a:avLst/>
          </a:prstGeom>
          <a:noFill/>
        </p:spPr>
        <p:txBody>
          <a:bodyPr wrap="none" lIns="0" tIns="0" rIns="0" bIns="0" anchor="t">
            <a:spAutoFit/>
          </a:bodyPr>
          <a:lstStyle/>
          <a:p>
            <a:pPr algn="ctr"/>
            <a:r>
              <a:rPr sz="1050" b="1" i="0">
                <a:solidFill>
                  <a:srgbClr val="000000"/>
                </a:solidFill>
                <a:latin typeface="Times New Roman"/>
              </a:rPr>
              <a:t>User Perspective</a:t>
            </a:r>
          </a:p>
        </p:txBody>
      </p:sp>
      <p:sp>
        <p:nvSpPr>
          <p:cNvPr id="44" name="TextBox 43"/>
          <p:cNvSpPr txBox="1"/>
          <p:nvPr/>
        </p:nvSpPr>
        <p:spPr>
          <a:xfrm>
            <a:off x="5246659" y="8949156"/>
            <a:ext cx="1181480" cy="184689"/>
          </a:xfrm>
          <a:prstGeom prst="rect">
            <a:avLst/>
          </a:prstGeom>
          <a:noFill/>
        </p:spPr>
        <p:txBody>
          <a:bodyPr wrap="none" lIns="0" tIns="0" rIns="0" bIns="0" anchor="t">
            <a:spAutoFit/>
          </a:bodyPr>
          <a:lstStyle/>
          <a:p>
            <a:pPr algn="l"/>
            <a:r>
              <a:rPr sz="1050" b="1" i="0">
                <a:solidFill>
                  <a:srgbClr val="000000"/>
                </a:solidFill>
                <a:latin typeface="Times New Roman"/>
              </a:rPr>
              <a:t>Backend Perspective</a:t>
            </a:r>
          </a:p>
        </p:txBody>
      </p:sp>
      <p:sp>
        <p:nvSpPr>
          <p:cNvPr id="45" name="TextBox 44"/>
          <p:cNvSpPr txBox="1"/>
          <p:nvPr/>
        </p:nvSpPr>
        <p:spPr>
          <a:xfrm>
            <a:off x="744700" y="9176556"/>
            <a:ext cx="907446" cy="177889"/>
          </a:xfrm>
          <a:prstGeom prst="rect">
            <a:avLst/>
          </a:prstGeom>
          <a:noFill/>
        </p:spPr>
        <p:txBody>
          <a:bodyPr wrap="none" lIns="0" tIns="0" rIns="0" bIns="0" anchor="t">
            <a:spAutoFit/>
          </a:bodyPr>
          <a:lstStyle/>
          <a:p>
            <a:pPr algn="l"/>
            <a:r>
              <a:rPr sz="1050" b="0" i="0">
                <a:solidFill>
                  <a:srgbClr val="000000"/>
                </a:solidFill>
                <a:latin typeface="Times New Roman"/>
              </a:rPr>
              <a:t>Medicine CRUD</a:t>
            </a:r>
          </a:p>
        </p:txBody>
      </p:sp>
      <p:sp>
        <p:nvSpPr>
          <p:cNvPr id="46" name="TextBox 45"/>
          <p:cNvSpPr txBox="1"/>
          <p:nvPr/>
        </p:nvSpPr>
        <p:spPr>
          <a:xfrm>
            <a:off x="2802100" y="9176556"/>
            <a:ext cx="1429512" cy="177889"/>
          </a:xfrm>
          <a:prstGeom prst="rect">
            <a:avLst/>
          </a:prstGeom>
          <a:noFill/>
        </p:spPr>
        <p:txBody>
          <a:bodyPr wrap="none" lIns="0" tIns="0" rIns="0" bIns="0" anchor="t">
            <a:spAutoFit/>
          </a:bodyPr>
          <a:lstStyle/>
          <a:p>
            <a:pPr algn="ctr"/>
            <a:r>
              <a:rPr sz="1050" b="0" i="0">
                <a:solidFill>
                  <a:srgbClr val="000000"/>
                </a:solidFill>
                <a:latin typeface="Times New Roman"/>
              </a:rPr>
              <a:t>Maintain medicine records</a:t>
            </a:r>
          </a:p>
        </p:txBody>
      </p:sp>
      <p:sp>
        <p:nvSpPr>
          <p:cNvPr id="47" name="TextBox 46"/>
          <p:cNvSpPr txBox="1"/>
          <p:nvPr/>
        </p:nvSpPr>
        <p:spPr>
          <a:xfrm>
            <a:off x="4859499" y="9176556"/>
            <a:ext cx="1670341" cy="177889"/>
          </a:xfrm>
          <a:prstGeom prst="rect">
            <a:avLst/>
          </a:prstGeom>
          <a:noFill/>
        </p:spPr>
        <p:txBody>
          <a:bodyPr wrap="none" lIns="0" tIns="0" rIns="0" bIns="0" anchor="t">
            <a:spAutoFit/>
          </a:bodyPr>
          <a:lstStyle/>
          <a:p>
            <a:pPr algn="l"/>
            <a:r>
              <a:rPr sz="1050" b="0" i="0">
                <a:solidFill>
                  <a:srgbClr val="000000"/>
                </a:solidFill>
                <a:latin typeface="Times New Roman"/>
              </a:rPr>
              <a:t>Validate and persist documents</a:t>
            </a:r>
          </a:p>
        </p:txBody>
      </p:sp>
      <p:sp>
        <p:nvSpPr>
          <p:cNvPr id="48" name="TextBox 47"/>
          <p:cNvSpPr txBox="1"/>
          <p:nvPr/>
        </p:nvSpPr>
        <p:spPr>
          <a:xfrm>
            <a:off x="744700" y="9405156"/>
            <a:ext cx="855707" cy="177889"/>
          </a:xfrm>
          <a:prstGeom prst="rect">
            <a:avLst/>
          </a:prstGeom>
          <a:noFill/>
        </p:spPr>
        <p:txBody>
          <a:bodyPr wrap="none" lIns="0" tIns="0" rIns="0" bIns="0" anchor="t">
            <a:spAutoFit/>
          </a:bodyPr>
          <a:lstStyle/>
          <a:p>
            <a:pPr algn="l"/>
            <a:r>
              <a:rPr sz="1050" b="0" i="0">
                <a:solidFill>
                  <a:srgbClr val="000000"/>
                </a:solidFill>
                <a:latin typeface="Times New Roman"/>
              </a:rPr>
              <a:t>Supplier CRUD</a:t>
            </a:r>
          </a:p>
        </p:txBody>
      </p:sp>
      <p:sp>
        <p:nvSpPr>
          <p:cNvPr id="49" name="TextBox 48"/>
          <p:cNvSpPr txBox="1"/>
          <p:nvPr/>
        </p:nvSpPr>
        <p:spPr>
          <a:xfrm>
            <a:off x="2802100" y="9405156"/>
            <a:ext cx="1370304" cy="177889"/>
          </a:xfrm>
          <a:prstGeom prst="rect">
            <a:avLst/>
          </a:prstGeom>
          <a:noFill/>
        </p:spPr>
        <p:txBody>
          <a:bodyPr wrap="none" lIns="0" tIns="0" rIns="0" bIns="0" anchor="t">
            <a:spAutoFit/>
          </a:bodyPr>
          <a:lstStyle/>
          <a:p>
            <a:pPr algn="ctr"/>
            <a:r>
              <a:rPr sz="1050" b="0" i="0">
                <a:solidFill>
                  <a:srgbClr val="000000"/>
                </a:solidFill>
                <a:latin typeface="Times New Roman"/>
              </a:rPr>
              <a:t>Maintain supplier records</a:t>
            </a:r>
          </a:p>
        </p:txBody>
      </p:sp>
      <p:sp>
        <p:nvSpPr>
          <p:cNvPr id="50" name="TextBox 49"/>
          <p:cNvSpPr txBox="1"/>
          <p:nvPr/>
        </p:nvSpPr>
        <p:spPr>
          <a:xfrm>
            <a:off x="4859499" y="9405156"/>
            <a:ext cx="1451781" cy="177889"/>
          </a:xfrm>
          <a:prstGeom prst="rect">
            <a:avLst/>
          </a:prstGeom>
          <a:noFill/>
        </p:spPr>
        <p:txBody>
          <a:bodyPr wrap="none" lIns="0" tIns="0" rIns="0" bIns="0" anchor="t">
            <a:spAutoFit/>
          </a:bodyPr>
          <a:lstStyle/>
          <a:p>
            <a:pPr algn="l"/>
            <a:r>
              <a:rPr sz="1050" b="0" i="0">
                <a:solidFill>
                  <a:srgbClr val="000000"/>
                </a:solidFill>
                <a:latin typeface="Times New Roman"/>
              </a:rPr>
              <a:t>Manage supplier collection</a:t>
            </a:r>
          </a:p>
        </p:txBody>
      </p:sp>
      <p:sp>
        <p:nvSpPr>
          <p:cNvPr id="51" name="TextBox 50"/>
          <p:cNvSpPr txBox="1"/>
          <p:nvPr/>
        </p:nvSpPr>
        <p:spPr>
          <a:xfrm>
            <a:off x="744700" y="9633756"/>
            <a:ext cx="825836" cy="177889"/>
          </a:xfrm>
          <a:prstGeom prst="rect">
            <a:avLst/>
          </a:prstGeom>
          <a:noFill/>
        </p:spPr>
        <p:txBody>
          <a:bodyPr wrap="none" lIns="0" tIns="0" rIns="0" bIns="0" anchor="t">
            <a:spAutoFit/>
          </a:bodyPr>
          <a:lstStyle/>
          <a:p>
            <a:pPr algn="l"/>
            <a:r>
              <a:rPr sz="1050" b="0" i="0">
                <a:solidFill>
                  <a:srgbClr val="000000"/>
                </a:solidFill>
                <a:latin typeface="Times New Roman"/>
              </a:rPr>
              <a:t>Batch Tracking</a:t>
            </a:r>
          </a:p>
        </p:txBody>
      </p:sp>
      <p:sp>
        <p:nvSpPr>
          <p:cNvPr id="52" name="TextBox 51"/>
          <p:cNvSpPr txBox="1"/>
          <p:nvPr/>
        </p:nvSpPr>
        <p:spPr>
          <a:xfrm>
            <a:off x="2802100" y="9633756"/>
            <a:ext cx="1251756" cy="177889"/>
          </a:xfrm>
          <a:prstGeom prst="rect">
            <a:avLst/>
          </a:prstGeom>
          <a:noFill/>
        </p:spPr>
        <p:txBody>
          <a:bodyPr wrap="none" lIns="0" tIns="0" rIns="0" bIns="0" anchor="t">
            <a:spAutoFit/>
          </a:bodyPr>
          <a:lstStyle/>
          <a:p>
            <a:pPr algn="ctr"/>
            <a:r>
              <a:rPr sz="1050" b="0" i="0">
                <a:solidFill>
                  <a:srgbClr val="000000"/>
                </a:solidFill>
                <a:latin typeface="Times New Roman"/>
              </a:rPr>
              <a:t>View batch/date details</a:t>
            </a:r>
          </a:p>
        </p:txBody>
      </p:sp>
      <p:sp>
        <p:nvSpPr>
          <p:cNvPr id="53" name="TextBox 52"/>
          <p:cNvSpPr txBox="1"/>
          <p:nvPr/>
        </p:nvSpPr>
        <p:spPr>
          <a:xfrm>
            <a:off x="4859499" y="9633756"/>
            <a:ext cx="1170279" cy="177889"/>
          </a:xfrm>
          <a:prstGeom prst="rect">
            <a:avLst/>
          </a:prstGeom>
          <a:noFill/>
        </p:spPr>
        <p:txBody>
          <a:bodyPr wrap="none" lIns="0" tIns="0" rIns="0" bIns="0" anchor="t">
            <a:spAutoFit/>
          </a:bodyPr>
          <a:lstStyle/>
          <a:p>
            <a:pPr algn="l"/>
            <a:r>
              <a:rPr sz="1050" b="0" i="0">
                <a:solidFill>
                  <a:srgbClr val="000000"/>
                </a:solidFill>
                <a:latin typeface="Times New Roman"/>
              </a:rPr>
              <a:t>Store traceability data</a:t>
            </a:r>
          </a:p>
        </p:txBody>
      </p:sp>
      <p:sp>
        <p:nvSpPr>
          <p:cNvPr id="54" name="TextBox 53"/>
          <p:cNvSpPr txBox="1"/>
          <p:nvPr/>
        </p:nvSpPr>
        <p:spPr>
          <a:xfrm>
            <a:off x="744700" y="9862356"/>
            <a:ext cx="533266" cy="177889"/>
          </a:xfrm>
          <a:prstGeom prst="rect">
            <a:avLst/>
          </a:prstGeom>
          <a:noFill/>
        </p:spPr>
        <p:txBody>
          <a:bodyPr wrap="none" lIns="0" tIns="0" rIns="0" bIns="0" anchor="t">
            <a:spAutoFit/>
          </a:bodyPr>
          <a:lstStyle/>
          <a:p>
            <a:pPr algn="l"/>
            <a:r>
              <a:rPr sz="1050" b="0" i="0">
                <a:solidFill>
                  <a:srgbClr val="000000"/>
                </a:solidFill>
                <a:latin typeface="Times New Roman"/>
              </a:rPr>
              <a:t>Purchases</a:t>
            </a:r>
          </a:p>
        </p:txBody>
      </p:sp>
      <p:sp>
        <p:nvSpPr>
          <p:cNvPr id="55" name="TextBox 54"/>
          <p:cNvSpPr txBox="1"/>
          <p:nvPr/>
        </p:nvSpPr>
        <p:spPr>
          <a:xfrm>
            <a:off x="2802100" y="9862356"/>
            <a:ext cx="1237087" cy="177889"/>
          </a:xfrm>
          <a:prstGeom prst="rect">
            <a:avLst/>
          </a:prstGeom>
          <a:noFill/>
        </p:spPr>
        <p:txBody>
          <a:bodyPr wrap="none" lIns="0" tIns="0" rIns="0" bIns="0" anchor="t">
            <a:spAutoFit/>
          </a:bodyPr>
          <a:lstStyle/>
          <a:p>
            <a:pPr algn="ctr"/>
            <a:r>
              <a:rPr sz="1050" b="0" i="0">
                <a:solidFill>
                  <a:srgbClr val="000000"/>
                </a:solidFill>
                <a:latin typeface="Times New Roman"/>
              </a:rPr>
              <a:t>Record incoming stock</a:t>
            </a:r>
          </a:p>
        </p:txBody>
      </p:sp>
      <p:sp>
        <p:nvSpPr>
          <p:cNvPr id="56" name="TextBox 55"/>
          <p:cNvSpPr txBox="1"/>
          <p:nvPr/>
        </p:nvSpPr>
        <p:spPr>
          <a:xfrm>
            <a:off x="4859499" y="9862356"/>
            <a:ext cx="1896104" cy="177889"/>
          </a:xfrm>
          <a:prstGeom prst="rect">
            <a:avLst/>
          </a:prstGeom>
          <a:noFill/>
        </p:spPr>
        <p:txBody>
          <a:bodyPr wrap="none" lIns="0" tIns="0" rIns="0" bIns="0" anchor="t">
            <a:spAutoFit/>
          </a:bodyPr>
          <a:lstStyle/>
          <a:p>
            <a:pPr algn="l"/>
            <a:r>
              <a:rPr sz="1050" b="0" i="0">
                <a:solidFill>
                  <a:srgbClr val="000000"/>
                </a:solidFill>
                <a:latin typeface="Times New Roman"/>
              </a:rPr>
              <a:t>Create transaction and update stock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21</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500438" y="620495"/>
            <a:ext cx="444322" cy="184689"/>
          </a:xfrm>
          <a:prstGeom prst="rect">
            <a:avLst/>
          </a:prstGeom>
          <a:noFill/>
        </p:spPr>
        <p:txBody>
          <a:bodyPr wrap="none" lIns="0" tIns="0" rIns="0" bIns="0" anchor="t">
            <a:spAutoFit/>
          </a:bodyPr>
          <a:lstStyle/>
          <a:p>
            <a:pPr algn="l"/>
            <a:r>
              <a:rPr sz="1050" b="1" i="0">
                <a:solidFill>
                  <a:srgbClr val="000000"/>
                </a:solidFill>
                <a:latin typeface="Times New Roman"/>
              </a:rPr>
              <a:t>Feature</a:t>
            </a:r>
          </a:p>
        </p:txBody>
      </p:sp>
      <p:sp>
        <p:nvSpPr>
          <p:cNvPr id="5" name="TextBox 4"/>
          <p:cNvSpPr txBox="1"/>
          <p:nvPr/>
        </p:nvSpPr>
        <p:spPr>
          <a:xfrm>
            <a:off x="3304207" y="620495"/>
            <a:ext cx="951585" cy="184689"/>
          </a:xfrm>
          <a:prstGeom prst="rect">
            <a:avLst/>
          </a:prstGeom>
          <a:noFill/>
        </p:spPr>
        <p:txBody>
          <a:bodyPr wrap="none" lIns="0" tIns="0" rIns="0" bIns="0" anchor="t">
            <a:spAutoFit/>
          </a:bodyPr>
          <a:lstStyle/>
          <a:p>
            <a:pPr algn="ctr"/>
            <a:r>
              <a:rPr sz="1050" b="1" i="0">
                <a:solidFill>
                  <a:srgbClr val="000000"/>
                </a:solidFill>
                <a:latin typeface="Times New Roman"/>
              </a:rPr>
              <a:t>User Perspective</a:t>
            </a:r>
          </a:p>
        </p:txBody>
      </p:sp>
      <p:sp>
        <p:nvSpPr>
          <p:cNvPr id="6" name="TextBox 5"/>
          <p:cNvSpPr txBox="1"/>
          <p:nvPr/>
        </p:nvSpPr>
        <p:spPr>
          <a:xfrm>
            <a:off x="5246659" y="620495"/>
            <a:ext cx="1181480" cy="184689"/>
          </a:xfrm>
          <a:prstGeom prst="rect">
            <a:avLst/>
          </a:prstGeom>
          <a:noFill/>
        </p:spPr>
        <p:txBody>
          <a:bodyPr wrap="none" lIns="0" tIns="0" rIns="0" bIns="0" anchor="t">
            <a:spAutoFit/>
          </a:bodyPr>
          <a:lstStyle/>
          <a:p>
            <a:pPr algn="l"/>
            <a:r>
              <a:rPr sz="1050" b="1" i="0">
                <a:solidFill>
                  <a:srgbClr val="000000"/>
                </a:solidFill>
                <a:latin typeface="Times New Roman"/>
              </a:rPr>
              <a:t>Backend Perspective</a:t>
            </a:r>
          </a:p>
        </p:txBody>
      </p:sp>
      <p:sp>
        <p:nvSpPr>
          <p:cNvPr id="7" name="TextBox 6"/>
          <p:cNvSpPr txBox="1"/>
          <p:nvPr/>
        </p:nvSpPr>
        <p:spPr>
          <a:xfrm>
            <a:off x="744700" y="847895"/>
            <a:ext cx="281501" cy="177888"/>
          </a:xfrm>
          <a:prstGeom prst="rect">
            <a:avLst/>
          </a:prstGeom>
          <a:noFill/>
        </p:spPr>
        <p:txBody>
          <a:bodyPr wrap="none" lIns="0" tIns="0" rIns="0" bIns="0" anchor="t">
            <a:spAutoFit/>
          </a:bodyPr>
          <a:lstStyle/>
          <a:p>
            <a:pPr algn="l"/>
            <a:r>
              <a:rPr sz="1050" b="0" i="0">
                <a:solidFill>
                  <a:srgbClr val="000000"/>
                </a:solidFill>
                <a:latin typeface="Times New Roman"/>
              </a:rPr>
              <a:t>Sales</a:t>
            </a:r>
          </a:p>
        </p:txBody>
      </p:sp>
      <p:sp>
        <p:nvSpPr>
          <p:cNvPr id="8" name="TextBox 7"/>
          <p:cNvSpPr txBox="1"/>
          <p:nvPr/>
        </p:nvSpPr>
        <p:spPr>
          <a:xfrm>
            <a:off x="2802100" y="847895"/>
            <a:ext cx="1207484" cy="177888"/>
          </a:xfrm>
          <a:prstGeom prst="rect">
            <a:avLst/>
          </a:prstGeom>
          <a:noFill/>
        </p:spPr>
        <p:txBody>
          <a:bodyPr wrap="none" lIns="0" tIns="0" rIns="0" bIns="0" anchor="t">
            <a:spAutoFit/>
          </a:bodyPr>
          <a:lstStyle/>
          <a:p>
            <a:pPr algn="ctr"/>
            <a:r>
              <a:rPr sz="1050" b="0" i="0">
                <a:solidFill>
                  <a:srgbClr val="000000"/>
                </a:solidFill>
                <a:latin typeface="Times New Roman"/>
              </a:rPr>
              <a:t>Record outgoing stock</a:t>
            </a:r>
          </a:p>
        </p:txBody>
      </p:sp>
      <p:sp>
        <p:nvSpPr>
          <p:cNvPr id="9" name="TextBox 8"/>
          <p:cNvSpPr txBox="1"/>
          <p:nvPr/>
        </p:nvSpPr>
        <p:spPr>
          <a:xfrm>
            <a:off x="4859499" y="847895"/>
            <a:ext cx="1851831" cy="177888"/>
          </a:xfrm>
          <a:prstGeom prst="rect">
            <a:avLst/>
          </a:prstGeom>
          <a:noFill/>
        </p:spPr>
        <p:txBody>
          <a:bodyPr wrap="none" lIns="0" tIns="0" rIns="0" bIns="0" anchor="t">
            <a:spAutoFit/>
          </a:bodyPr>
          <a:lstStyle/>
          <a:p>
            <a:pPr algn="l"/>
            <a:r>
              <a:rPr sz="1050" b="0" i="0">
                <a:solidFill>
                  <a:srgbClr val="000000"/>
                </a:solidFill>
                <a:latin typeface="Times New Roman"/>
              </a:rPr>
              <a:t>Validate quantity and update stock</a:t>
            </a:r>
          </a:p>
        </p:txBody>
      </p:sp>
      <p:sp>
        <p:nvSpPr>
          <p:cNvPr id="10" name="TextBox 9"/>
          <p:cNvSpPr txBox="1"/>
          <p:nvPr/>
        </p:nvSpPr>
        <p:spPr>
          <a:xfrm>
            <a:off x="744700" y="1076495"/>
            <a:ext cx="581539" cy="177888"/>
          </a:xfrm>
          <a:prstGeom prst="rect">
            <a:avLst/>
          </a:prstGeom>
          <a:noFill/>
        </p:spPr>
        <p:txBody>
          <a:bodyPr wrap="none" lIns="0" tIns="0" rIns="0" bIns="0" anchor="t">
            <a:spAutoFit/>
          </a:bodyPr>
          <a:lstStyle/>
          <a:p>
            <a:pPr algn="l"/>
            <a:r>
              <a:rPr sz="1050" b="0" i="0">
                <a:solidFill>
                  <a:srgbClr val="000000"/>
                </a:solidFill>
                <a:latin typeface="Times New Roman"/>
              </a:rPr>
              <a:t>Low Stock</a:t>
            </a:r>
          </a:p>
        </p:txBody>
      </p:sp>
      <p:sp>
        <p:nvSpPr>
          <p:cNvPr id="11" name="TextBox 10"/>
          <p:cNvSpPr txBox="1"/>
          <p:nvPr/>
        </p:nvSpPr>
        <p:spPr>
          <a:xfrm>
            <a:off x="2802100" y="1076495"/>
            <a:ext cx="1811293" cy="177888"/>
          </a:xfrm>
          <a:prstGeom prst="rect">
            <a:avLst/>
          </a:prstGeom>
          <a:noFill/>
        </p:spPr>
        <p:txBody>
          <a:bodyPr wrap="none" lIns="0" tIns="0" rIns="0" bIns="0" anchor="t">
            <a:spAutoFit/>
          </a:bodyPr>
          <a:lstStyle/>
          <a:p>
            <a:pPr algn="ctr"/>
            <a:r>
              <a:rPr sz="1050" b="0" i="0">
                <a:solidFill>
                  <a:srgbClr val="000000"/>
                </a:solidFill>
                <a:latin typeface="Times New Roman"/>
              </a:rPr>
              <a:t>Find items needing replenishment</a:t>
            </a:r>
          </a:p>
        </p:txBody>
      </p:sp>
      <p:sp>
        <p:nvSpPr>
          <p:cNvPr id="12" name="TextBox 11"/>
          <p:cNvSpPr txBox="1"/>
          <p:nvPr/>
        </p:nvSpPr>
        <p:spPr>
          <a:xfrm>
            <a:off x="4859499" y="1076495"/>
            <a:ext cx="1825961" cy="177888"/>
          </a:xfrm>
          <a:prstGeom prst="rect">
            <a:avLst/>
          </a:prstGeom>
          <a:noFill/>
        </p:spPr>
        <p:txBody>
          <a:bodyPr wrap="none" lIns="0" tIns="0" rIns="0" bIns="0" anchor="t">
            <a:spAutoFit/>
          </a:bodyPr>
          <a:lstStyle/>
          <a:p>
            <a:pPr algn="l"/>
            <a:r>
              <a:rPr sz="1050" b="0" i="0">
                <a:solidFill>
                  <a:srgbClr val="000000"/>
                </a:solidFill>
                <a:latin typeface="Times New Roman"/>
              </a:rPr>
              <a:t>Query quantities against threshold</a:t>
            </a:r>
          </a:p>
        </p:txBody>
      </p:sp>
      <p:sp>
        <p:nvSpPr>
          <p:cNvPr id="13" name="TextBox 12"/>
          <p:cNvSpPr txBox="1"/>
          <p:nvPr/>
        </p:nvSpPr>
        <p:spPr>
          <a:xfrm>
            <a:off x="744700" y="1305095"/>
            <a:ext cx="655415" cy="177888"/>
          </a:xfrm>
          <a:prstGeom prst="rect">
            <a:avLst/>
          </a:prstGeom>
          <a:noFill/>
        </p:spPr>
        <p:txBody>
          <a:bodyPr wrap="none" lIns="0" tIns="0" rIns="0" bIns="0" anchor="t">
            <a:spAutoFit/>
          </a:bodyPr>
          <a:lstStyle/>
          <a:p>
            <a:pPr algn="l"/>
            <a:r>
              <a:rPr sz="1050" b="0" i="0">
                <a:solidFill>
                  <a:srgbClr val="000000"/>
                </a:solidFill>
                <a:latin typeface="Times New Roman"/>
              </a:rPr>
              <a:t>Near Expiry</a:t>
            </a:r>
          </a:p>
        </p:txBody>
      </p:sp>
      <p:sp>
        <p:nvSpPr>
          <p:cNvPr id="14" name="TextBox 13"/>
          <p:cNvSpPr txBox="1"/>
          <p:nvPr/>
        </p:nvSpPr>
        <p:spPr>
          <a:xfrm>
            <a:off x="2802100" y="1305095"/>
            <a:ext cx="1485118" cy="177888"/>
          </a:xfrm>
          <a:prstGeom prst="rect">
            <a:avLst/>
          </a:prstGeom>
          <a:noFill/>
        </p:spPr>
        <p:txBody>
          <a:bodyPr wrap="none" lIns="0" tIns="0" rIns="0" bIns="0" anchor="t">
            <a:spAutoFit/>
          </a:bodyPr>
          <a:lstStyle/>
          <a:p>
            <a:pPr algn="ctr"/>
            <a:r>
              <a:rPr sz="1050" b="0" i="0">
                <a:solidFill>
                  <a:srgbClr val="000000"/>
                </a:solidFill>
                <a:latin typeface="Times New Roman"/>
              </a:rPr>
              <a:t>Find batches nearing expiry</a:t>
            </a:r>
          </a:p>
        </p:txBody>
      </p:sp>
      <p:sp>
        <p:nvSpPr>
          <p:cNvPr id="15" name="TextBox 14"/>
          <p:cNvSpPr txBox="1"/>
          <p:nvPr/>
        </p:nvSpPr>
        <p:spPr>
          <a:xfrm>
            <a:off x="4859499" y="1305095"/>
            <a:ext cx="1085202" cy="177888"/>
          </a:xfrm>
          <a:prstGeom prst="rect">
            <a:avLst/>
          </a:prstGeom>
          <a:noFill/>
        </p:spPr>
        <p:txBody>
          <a:bodyPr wrap="none" lIns="0" tIns="0" rIns="0" bIns="0" anchor="t">
            <a:spAutoFit/>
          </a:bodyPr>
          <a:lstStyle/>
          <a:p>
            <a:pPr algn="l"/>
            <a:r>
              <a:rPr sz="1050" b="0" i="0">
                <a:solidFill>
                  <a:srgbClr val="000000"/>
                </a:solidFill>
                <a:latin typeface="Times New Roman"/>
              </a:rPr>
              <a:t>Filter by expiry date</a:t>
            </a:r>
          </a:p>
        </p:txBody>
      </p:sp>
      <p:sp>
        <p:nvSpPr>
          <p:cNvPr id="16" name="TextBox 15"/>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Feature Interaction and Operational Flow</a:t>
            </a:r>
          </a:p>
          <a:p>
            <a:pPr algn="l">
              <a:lnSpc>
                <a:spcPct val="100000"/>
              </a:lnSpc>
              <a:spcBef>
                <a:spcPts val="0"/>
              </a:spcBef>
              <a:spcAft>
                <a:spcPts val="200"/>
              </a:spcAft>
            </a:pPr>
            <a:r>
              <a:rPr sz="1050" b="0">
                <a:solidFill>
                  <a:srgbClr val="000000"/>
                </a:solidFill>
                <a:latin typeface="Times New Roman"/>
              </a:rPr>
              <a:t>The feature set works as a connected inventory workflow rather than as independent functions. Medicine and supplier records provide the basic master data. Batch information adds traceability, while purchase and sales operations change the available quantity. Low-stock and near-expiry functions then use the stored information to identify records that require attention.</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For example, a purchase request should first be validated, stored as a transaction, and reflected in the related stock information. A sales request should validate the requested quantity before reducing stock. Monitoring operations should normally remain read-oriented so that checking inventory does not unintentionally modify data. This interaction between features is important for maintaining a consistent inventory record.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64592"/>
            <a:ext cx="5760720" cy="228600"/>
          </a:xfrm>
          <a:prstGeom prst="rect">
            <a:avLst/>
          </a:prstGeom>
          <a:noFill/>
        </p:spPr>
        <p:txBody>
          <a:bodyPr wrap="none">
            <a:spAutoFit/>
          </a:bodyPr>
          <a:lstStyle/>
          <a:p>
            <a:pPr algn="l"/>
            <a:r>
              <a:rPr sz="1000" b="1">
                <a:solidFill>
                  <a:srgbClr val="000000"/>
                </a:solidFill>
                <a:latin typeface="Times New Roman"/>
              </a:rPr>
              <a:t>ENTERPRISE PHARMACEUTICAL STOCK AND INVENTORY MANAGEMENT SYSTEM</a:t>
            </a:r>
          </a:p>
        </p:txBody>
      </p:sp>
      <p:sp>
        <p:nvSpPr>
          <p:cNvPr id="3" name="Rectangle 2"/>
          <p:cNvSpPr/>
          <p:nvPr/>
        </p:nvSpPr>
        <p:spPr>
          <a:xfrm>
            <a:off x="685800" y="10149840"/>
            <a:ext cx="6172200" cy="22860"/>
          </a:xfrm>
          <a:prstGeom prst="rect">
            <a:avLst/>
          </a:prstGeom>
          <a:solidFill>
            <a:srgbClr val="7D4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72200" y="10195560"/>
            <a:ext cx="731520" cy="228600"/>
          </a:xfrm>
          <a:prstGeom prst="rect">
            <a:avLst/>
          </a:prstGeom>
          <a:noFill/>
        </p:spPr>
        <p:txBody>
          <a:bodyPr wrap="none">
            <a:spAutoFit/>
          </a:bodyPr>
          <a:lstStyle/>
          <a:p>
            <a:pPr algn="r"/>
            <a:r>
              <a:rPr sz="900" b="0">
                <a:solidFill>
                  <a:srgbClr val="000000"/>
                </a:solidFill>
                <a:latin typeface="Times New Roman"/>
              </a:rPr>
              <a:t>Page 22</a:t>
            </a:r>
          </a:p>
        </p:txBody>
      </p:sp>
      <p:sp>
        <p:nvSpPr>
          <p:cNvPr id="5" name="TextBox 4"/>
          <p:cNvSpPr txBox="1"/>
          <p:nvPr/>
        </p:nvSpPr>
        <p:spPr>
          <a:xfrm>
            <a:off x="685800" y="502920"/>
            <a:ext cx="6172200" cy="457200"/>
          </a:xfrm>
          <a:prstGeom prst="rect">
            <a:avLst/>
          </a:prstGeom>
          <a:noFill/>
        </p:spPr>
        <p:txBody>
          <a:bodyPr wrap="none">
            <a:spAutoFit/>
          </a:bodyPr>
          <a:lstStyle/>
          <a:p>
            <a:pPr algn="ctr"/>
            <a:r>
              <a:rPr sz="1500" b="1">
                <a:solidFill>
                  <a:srgbClr val="000000"/>
                </a:solidFill>
                <a:latin typeface="Times New Roman"/>
              </a:rPr>
              <a:t>CHAPTER 7 – FEATURES: APPLICATION SCREENSHOT</a:t>
            </a:r>
          </a:p>
        </p:txBody>
      </p:sp>
      <p:pic>
        <p:nvPicPr>
          <p:cNvPr id="6" name="Picture 5" descr="image(20261002-081124).png"/>
          <p:cNvPicPr>
            <a:picLocks noChangeAspect="1"/>
          </p:cNvPicPr>
          <p:nvPr/>
        </p:nvPicPr>
        <p:blipFill>
          <a:blip r:embed="rId2"/>
          <a:stretch>
            <a:fillRect/>
          </a:stretch>
        </p:blipFill>
        <p:spPr>
          <a:xfrm>
            <a:off x="672083" y="3131368"/>
            <a:ext cx="6217920" cy="3932822"/>
          </a:xfrm>
          <a:prstGeom prst="rect">
            <a:avLst/>
          </a:prstGeom>
        </p:spPr>
      </p:pic>
      <p:sp>
        <p:nvSpPr>
          <p:cNvPr id="7" name="TextBox 6"/>
          <p:cNvSpPr txBox="1"/>
          <p:nvPr/>
        </p:nvSpPr>
        <p:spPr>
          <a:xfrm>
            <a:off x="685800" y="9464040"/>
            <a:ext cx="6172200" cy="411480"/>
          </a:xfrm>
          <a:prstGeom prst="rect">
            <a:avLst/>
          </a:prstGeom>
          <a:noFill/>
        </p:spPr>
        <p:txBody>
          <a:bodyPr wrap="none">
            <a:spAutoFit/>
          </a:bodyPr>
          <a:lstStyle/>
          <a:p>
            <a:pPr algn="ctr"/>
            <a:r>
              <a:rPr sz="1000" b="0">
                <a:solidFill>
                  <a:srgbClr val="000000"/>
                </a:solidFill>
                <a:latin typeface="Times New Roman"/>
              </a:rPr>
              <a:t>Figure 7.1 – PharmaPlus Dashboard showing inventory overview, stock value, low-stock and expiry status.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64592"/>
            <a:ext cx="5760720" cy="228600"/>
          </a:xfrm>
          <a:prstGeom prst="rect">
            <a:avLst/>
          </a:prstGeom>
          <a:noFill/>
        </p:spPr>
        <p:txBody>
          <a:bodyPr wrap="none">
            <a:spAutoFit/>
          </a:bodyPr>
          <a:lstStyle/>
          <a:p>
            <a:pPr algn="l"/>
            <a:r>
              <a:rPr sz="1000" b="1">
                <a:solidFill>
                  <a:srgbClr val="000000"/>
                </a:solidFill>
                <a:latin typeface="Times New Roman"/>
              </a:rPr>
              <a:t>ENTERPRISE PHARMACEUTICAL STOCK AND INVENTORY MANAGEMENT SYSTEM</a:t>
            </a:r>
          </a:p>
        </p:txBody>
      </p:sp>
      <p:sp>
        <p:nvSpPr>
          <p:cNvPr id="3" name="Rectangle 2"/>
          <p:cNvSpPr/>
          <p:nvPr/>
        </p:nvSpPr>
        <p:spPr>
          <a:xfrm>
            <a:off x="685800" y="10149840"/>
            <a:ext cx="6172200" cy="22860"/>
          </a:xfrm>
          <a:prstGeom prst="rect">
            <a:avLst/>
          </a:prstGeom>
          <a:solidFill>
            <a:srgbClr val="7D4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72200" y="10195560"/>
            <a:ext cx="731520" cy="228600"/>
          </a:xfrm>
          <a:prstGeom prst="rect">
            <a:avLst/>
          </a:prstGeom>
          <a:noFill/>
        </p:spPr>
        <p:txBody>
          <a:bodyPr wrap="none">
            <a:spAutoFit/>
          </a:bodyPr>
          <a:lstStyle/>
          <a:p>
            <a:pPr algn="r"/>
            <a:r>
              <a:rPr sz="900" b="0">
                <a:solidFill>
                  <a:srgbClr val="000000"/>
                </a:solidFill>
                <a:latin typeface="Times New Roman"/>
              </a:rPr>
              <a:t>Page 23</a:t>
            </a:r>
          </a:p>
        </p:txBody>
      </p:sp>
      <p:sp>
        <p:nvSpPr>
          <p:cNvPr id="5" name="TextBox 4"/>
          <p:cNvSpPr txBox="1"/>
          <p:nvPr/>
        </p:nvSpPr>
        <p:spPr>
          <a:xfrm>
            <a:off x="685800" y="502920"/>
            <a:ext cx="6172200" cy="457200"/>
          </a:xfrm>
          <a:prstGeom prst="rect">
            <a:avLst/>
          </a:prstGeom>
          <a:noFill/>
        </p:spPr>
        <p:txBody>
          <a:bodyPr wrap="none">
            <a:spAutoFit/>
          </a:bodyPr>
          <a:lstStyle/>
          <a:p>
            <a:pPr algn="ctr"/>
            <a:r>
              <a:rPr sz="1500" b="1">
                <a:solidFill>
                  <a:srgbClr val="000000"/>
                </a:solidFill>
                <a:latin typeface="Times New Roman"/>
              </a:rPr>
              <a:t>CHAPTER 7 – FEATURES: APPLICATION SCREENSHOT</a:t>
            </a:r>
          </a:p>
        </p:txBody>
      </p:sp>
      <p:pic>
        <p:nvPicPr>
          <p:cNvPr id="6" name="Picture 5" descr="image(20261002-081143).png"/>
          <p:cNvPicPr>
            <a:picLocks noChangeAspect="1"/>
          </p:cNvPicPr>
          <p:nvPr/>
        </p:nvPicPr>
        <p:blipFill>
          <a:blip r:embed="rId2"/>
          <a:stretch>
            <a:fillRect/>
          </a:stretch>
        </p:blipFill>
        <p:spPr>
          <a:xfrm>
            <a:off x="672083" y="3119992"/>
            <a:ext cx="6217920" cy="3955575"/>
          </a:xfrm>
          <a:prstGeom prst="rect">
            <a:avLst/>
          </a:prstGeom>
        </p:spPr>
      </p:pic>
      <p:sp>
        <p:nvSpPr>
          <p:cNvPr id="7" name="TextBox 6"/>
          <p:cNvSpPr txBox="1"/>
          <p:nvPr/>
        </p:nvSpPr>
        <p:spPr>
          <a:xfrm>
            <a:off x="685800" y="9464040"/>
            <a:ext cx="6172200" cy="411480"/>
          </a:xfrm>
          <a:prstGeom prst="rect">
            <a:avLst/>
          </a:prstGeom>
          <a:noFill/>
        </p:spPr>
        <p:txBody>
          <a:bodyPr wrap="none">
            <a:spAutoFit/>
          </a:bodyPr>
          <a:lstStyle/>
          <a:p>
            <a:pPr algn="ctr"/>
            <a:r>
              <a:rPr sz="1000" b="0">
                <a:solidFill>
                  <a:srgbClr val="000000"/>
                </a:solidFill>
                <a:latin typeface="Times New Roman"/>
              </a:rPr>
              <a:t>Figure 7.2 – Medicine Management screen showing medicine master records, stock and actions.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64592"/>
            <a:ext cx="5760720" cy="228600"/>
          </a:xfrm>
          <a:prstGeom prst="rect">
            <a:avLst/>
          </a:prstGeom>
          <a:noFill/>
        </p:spPr>
        <p:txBody>
          <a:bodyPr wrap="none">
            <a:spAutoFit/>
          </a:bodyPr>
          <a:lstStyle/>
          <a:p>
            <a:pPr algn="l"/>
            <a:r>
              <a:rPr sz="1000" b="1">
                <a:solidFill>
                  <a:srgbClr val="000000"/>
                </a:solidFill>
                <a:latin typeface="Times New Roman"/>
              </a:rPr>
              <a:t>ENTERPRISE PHARMACEUTICAL STOCK AND INVENTORY MANAGEMENT SYSTEM</a:t>
            </a:r>
          </a:p>
        </p:txBody>
      </p:sp>
      <p:sp>
        <p:nvSpPr>
          <p:cNvPr id="3" name="Rectangle 2"/>
          <p:cNvSpPr/>
          <p:nvPr/>
        </p:nvSpPr>
        <p:spPr>
          <a:xfrm>
            <a:off x="685800" y="10149840"/>
            <a:ext cx="6172200" cy="22860"/>
          </a:xfrm>
          <a:prstGeom prst="rect">
            <a:avLst/>
          </a:prstGeom>
          <a:solidFill>
            <a:srgbClr val="7D4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72200" y="10195560"/>
            <a:ext cx="731520" cy="228600"/>
          </a:xfrm>
          <a:prstGeom prst="rect">
            <a:avLst/>
          </a:prstGeom>
          <a:noFill/>
        </p:spPr>
        <p:txBody>
          <a:bodyPr wrap="none">
            <a:spAutoFit/>
          </a:bodyPr>
          <a:lstStyle/>
          <a:p>
            <a:pPr algn="r"/>
            <a:r>
              <a:rPr sz="900" b="0">
                <a:solidFill>
                  <a:srgbClr val="000000"/>
                </a:solidFill>
                <a:latin typeface="Times New Roman"/>
              </a:rPr>
              <a:t>Page 24</a:t>
            </a:r>
          </a:p>
        </p:txBody>
      </p:sp>
      <p:sp>
        <p:nvSpPr>
          <p:cNvPr id="5" name="TextBox 4"/>
          <p:cNvSpPr txBox="1"/>
          <p:nvPr/>
        </p:nvSpPr>
        <p:spPr>
          <a:xfrm>
            <a:off x="685800" y="502920"/>
            <a:ext cx="6172200" cy="457200"/>
          </a:xfrm>
          <a:prstGeom prst="rect">
            <a:avLst/>
          </a:prstGeom>
          <a:noFill/>
        </p:spPr>
        <p:txBody>
          <a:bodyPr wrap="none">
            <a:spAutoFit/>
          </a:bodyPr>
          <a:lstStyle/>
          <a:p>
            <a:pPr algn="ctr"/>
            <a:r>
              <a:rPr sz="1500" b="1">
                <a:solidFill>
                  <a:srgbClr val="000000"/>
                </a:solidFill>
                <a:latin typeface="Times New Roman"/>
              </a:rPr>
              <a:t>CHAPTER 7 – FEATURES: APPLICATION SCREENSHOT</a:t>
            </a:r>
          </a:p>
        </p:txBody>
      </p:sp>
      <p:pic>
        <p:nvPicPr>
          <p:cNvPr id="6" name="Picture 5" descr="image(20261002-081223).png"/>
          <p:cNvPicPr>
            <a:picLocks noChangeAspect="1"/>
          </p:cNvPicPr>
          <p:nvPr/>
        </p:nvPicPr>
        <p:blipFill>
          <a:blip r:embed="rId2"/>
          <a:stretch>
            <a:fillRect/>
          </a:stretch>
        </p:blipFill>
        <p:spPr>
          <a:xfrm>
            <a:off x="672083" y="3119350"/>
            <a:ext cx="6217920" cy="3956858"/>
          </a:xfrm>
          <a:prstGeom prst="rect">
            <a:avLst/>
          </a:prstGeom>
        </p:spPr>
      </p:pic>
      <p:sp>
        <p:nvSpPr>
          <p:cNvPr id="7" name="TextBox 6"/>
          <p:cNvSpPr txBox="1"/>
          <p:nvPr/>
        </p:nvSpPr>
        <p:spPr>
          <a:xfrm>
            <a:off x="685800" y="9464040"/>
            <a:ext cx="6172200" cy="411480"/>
          </a:xfrm>
          <a:prstGeom prst="rect">
            <a:avLst/>
          </a:prstGeom>
          <a:noFill/>
        </p:spPr>
        <p:txBody>
          <a:bodyPr wrap="none">
            <a:spAutoFit/>
          </a:bodyPr>
          <a:lstStyle/>
          <a:p>
            <a:pPr algn="ctr"/>
            <a:r>
              <a:rPr sz="1000" b="0">
                <a:solidFill>
                  <a:srgbClr val="000000"/>
                </a:solidFill>
                <a:latin typeface="Times New Roman"/>
              </a:rPr>
              <a:t>Figure 7.3 – Batches &amp; Stock screen showing batch number, medicine, expiry, quantity and status.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25</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670731" y="579322"/>
            <a:ext cx="2218537" cy="281432"/>
          </a:xfrm>
          <a:prstGeom prst="rect">
            <a:avLst/>
          </a:prstGeom>
          <a:noFill/>
        </p:spPr>
        <p:txBody>
          <a:bodyPr wrap="none" lIns="0" tIns="0" rIns="0" bIns="0" anchor="t">
            <a:spAutoFit/>
          </a:bodyPr>
          <a:lstStyle/>
          <a:p>
            <a:pPr algn="ctr"/>
            <a:r>
              <a:rPr sz="1600" b="1" i="0">
                <a:solidFill>
                  <a:srgbClr val="000000"/>
                </a:solidFill>
                <a:latin typeface="Times New Roman"/>
              </a:rPr>
              <a:t>CHAPTER - 8 TESTING</a:t>
            </a:r>
          </a:p>
        </p:txBody>
      </p:sp>
      <p:sp>
        <p:nvSpPr>
          <p:cNvPr id="5" name="TextBox 4"/>
          <p:cNvSpPr txBox="1"/>
          <p:nvPr/>
        </p:nvSpPr>
        <p:spPr>
          <a:xfrm>
            <a:off x="716280" y="948740"/>
            <a:ext cx="3210356" cy="246252"/>
          </a:xfrm>
          <a:prstGeom prst="rect">
            <a:avLst/>
          </a:prstGeom>
          <a:noFill/>
        </p:spPr>
        <p:txBody>
          <a:bodyPr wrap="none" lIns="0" tIns="0" rIns="0" bIns="0" anchor="t">
            <a:spAutoFit/>
          </a:bodyPr>
          <a:lstStyle/>
          <a:p>
            <a:pPr algn="l"/>
            <a:r>
              <a:rPr sz="1400" b="1" i="0">
                <a:solidFill>
                  <a:srgbClr val="000000"/>
                </a:solidFill>
                <a:latin typeface="Times New Roman"/>
              </a:rPr>
              <a:t>8.1 Postman Testing (Frontend / Backend)</a:t>
            </a:r>
          </a:p>
        </p:txBody>
      </p:sp>
      <p:sp>
        <p:nvSpPr>
          <p:cNvPr id="6" name="TextBox 5"/>
          <p:cNvSpPr txBox="1"/>
          <p:nvPr/>
        </p:nvSpPr>
        <p:spPr>
          <a:xfrm>
            <a:off x="944880" y="1227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Postman provides a repeatable way to test each API without depending on a frontend. A test</a:t>
            </a:r>
          </a:p>
        </p:txBody>
      </p:sp>
      <p:sp>
        <p:nvSpPr>
          <p:cNvPr id="7" name="TextBox 6"/>
          <p:cNvSpPr txBox="1"/>
          <p:nvPr/>
        </p:nvSpPr>
        <p:spPr>
          <a:xfrm>
            <a:off x="716280" y="14056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collection can group medicine, supplier, batch, purchase, sales, and monitoring requests so that the</a:t>
            </a:r>
          </a:p>
        </p:txBody>
      </p:sp>
      <p:sp>
        <p:nvSpPr>
          <p:cNvPr id="8" name="TextBox 7"/>
          <p:cNvSpPr txBox="1"/>
          <p:nvPr/>
        </p:nvSpPr>
        <p:spPr>
          <a:xfrm>
            <a:off x="716280" y="1583486"/>
            <a:ext cx="3139897" cy="203301"/>
          </a:xfrm>
          <a:prstGeom prst="rect">
            <a:avLst/>
          </a:prstGeom>
          <a:noFill/>
        </p:spPr>
        <p:txBody>
          <a:bodyPr wrap="none" lIns="0" tIns="0" rIns="0" bIns="0" anchor="t">
            <a:spAutoFit/>
          </a:bodyPr>
          <a:lstStyle/>
          <a:p>
            <a:pPr algn="l"/>
            <a:r>
              <a:rPr sz="1200" b="0" i="0">
                <a:solidFill>
                  <a:srgbClr val="000000"/>
                </a:solidFill>
                <a:latin typeface="Times New Roman"/>
              </a:rPr>
              <a:t>same workflow can be repeated after code changes.</a:t>
            </a:r>
          </a:p>
        </p:txBody>
      </p:sp>
      <p:sp>
        <p:nvSpPr>
          <p:cNvPr id="9" name="TextBox 8"/>
          <p:cNvSpPr txBox="1"/>
          <p:nvPr/>
        </p:nvSpPr>
        <p:spPr>
          <a:xfrm>
            <a:off x="944880" y="18120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Response validation should consider both HTTP status and response body. Database verification</a:t>
            </a:r>
          </a:p>
        </p:txBody>
      </p:sp>
      <p:sp>
        <p:nvSpPr>
          <p:cNvPr id="10" name="TextBox 9"/>
          <p:cNvSpPr txBox="1"/>
          <p:nvPr/>
        </p:nvSpPr>
        <p:spPr>
          <a:xfrm>
            <a:off x="716280" y="1989886"/>
            <a:ext cx="5629351" cy="203301"/>
          </a:xfrm>
          <a:prstGeom prst="rect">
            <a:avLst/>
          </a:prstGeom>
          <a:noFill/>
        </p:spPr>
        <p:txBody>
          <a:bodyPr wrap="none" lIns="0" tIns="0" rIns="0" bIns="0" anchor="t">
            <a:spAutoFit/>
          </a:bodyPr>
          <a:lstStyle/>
          <a:p>
            <a:pPr algn="ctr"/>
            <a:r>
              <a:rPr sz="1200" b="0" i="0">
                <a:solidFill>
                  <a:srgbClr val="000000"/>
                </a:solidFill>
                <a:latin typeface="Times New Roman"/>
              </a:rPr>
              <a:t>should then confirm that successful write operations produced the expected persistent result.</a:t>
            </a:r>
          </a:p>
        </p:txBody>
      </p:sp>
      <p:sp>
        <p:nvSpPr>
          <p:cNvPr id="11" name="TextBox 10"/>
          <p:cNvSpPr txBox="1"/>
          <p:nvPr/>
        </p:nvSpPr>
        <p:spPr>
          <a:xfrm>
            <a:off x="944880" y="2218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Postman is used as the primary API testing tool because the project is backend-focused. Each</a:t>
            </a:r>
          </a:p>
        </p:txBody>
      </p:sp>
      <p:sp>
        <p:nvSpPr>
          <p:cNvPr id="12" name="TextBox 11"/>
          <p:cNvSpPr txBox="1"/>
          <p:nvPr/>
        </p:nvSpPr>
        <p:spPr>
          <a:xfrm>
            <a:off x="716280" y="2396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REST endpoint can be tested independently by selecting the required HTTP method, entering the</a:t>
            </a:r>
          </a:p>
        </p:txBody>
      </p:sp>
      <p:sp>
        <p:nvSpPr>
          <p:cNvPr id="13" name="TextBox 12"/>
          <p:cNvSpPr txBox="1"/>
          <p:nvPr/>
        </p:nvSpPr>
        <p:spPr>
          <a:xfrm>
            <a:off x="716280" y="2574086"/>
            <a:ext cx="5290718" cy="203301"/>
          </a:xfrm>
          <a:prstGeom prst="rect">
            <a:avLst/>
          </a:prstGeom>
          <a:noFill/>
        </p:spPr>
        <p:txBody>
          <a:bodyPr wrap="none" lIns="0" tIns="0" rIns="0" bIns="0" anchor="t">
            <a:spAutoFit/>
          </a:bodyPr>
          <a:lstStyle/>
          <a:p>
            <a:pPr algn="l"/>
            <a:r>
              <a:rPr sz="1200" b="0" i="0">
                <a:solidFill>
                  <a:srgbClr val="000000"/>
                </a:solidFill>
                <a:latin typeface="Times New Roman"/>
              </a:rPr>
              <a:t>endpoint address, providing request parameters or JSON data, and sending the request.</a:t>
            </a:r>
          </a:p>
        </p:txBody>
      </p:sp>
      <p:sp>
        <p:nvSpPr>
          <p:cNvPr id="14" name="TextBox 13"/>
          <p:cNvSpPr txBox="1"/>
          <p:nvPr/>
        </p:nvSpPr>
        <p:spPr>
          <a:xfrm>
            <a:off x="944880" y="28026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Testing should cover successful requests as well as invalid inputs. For example, a medicine</a:t>
            </a:r>
          </a:p>
        </p:txBody>
      </p:sp>
      <p:sp>
        <p:nvSpPr>
          <p:cNvPr id="15" name="TextBox 14"/>
          <p:cNvSpPr txBox="1"/>
          <p:nvPr/>
        </p:nvSpPr>
        <p:spPr>
          <a:xfrm>
            <a:off x="716280" y="29804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creation request should be tested with complete valid data and with missing or invalid fields. Update</a:t>
            </a:r>
          </a:p>
        </p:txBody>
      </p:sp>
      <p:sp>
        <p:nvSpPr>
          <p:cNvPr id="16" name="TextBox 15"/>
          <p:cNvSpPr txBox="1"/>
          <p:nvPr/>
        </p:nvSpPr>
        <p:spPr>
          <a:xfrm>
            <a:off x="716280" y="3158286"/>
            <a:ext cx="5227472" cy="203301"/>
          </a:xfrm>
          <a:prstGeom prst="rect">
            <a:avLst/>
          </a:prstGeom>
          <a:noFill/>
        </p:spPr>
        <p:txBody>
          <a:bodyPr wrap="none" lIns="0" tIns="0" rIns="0" bIns="0" anchor="t">
            <a:spAutoFit/>
          </a:bodyPr>
          <a:lstStyle/>
          <a:p>
            <a:pPr algn="l"/>
            <a:r>
              <a:rPr sz="1200" b="0" i="0">
                <a:solidFill>
                  <a:srgbClr val="000000"/>
                </a:solidFill>
                <a:latin typeface="Times New Roman"/>
              </a:rPr>
              <a:t>and delete operations should also be tested for both existing and non-existing records.</a:t>
            </a:r>
          </a:p>
        </p:txBody>
      </p:sp>
      <p:sp>
        <p:nvSpPr>
          <p:cNvPr id="17" name="TextBox 16"/>
          <p:cNvSpPr txBox="1"/>
          <p:nvPr/>
        </p:nvSpPr>
        <p:spPr>
          <a:xfrm>
            <a:off x="944880" y="3386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response status code and response body should be checked. After successful create, update,</a:t>
            </a:r>
          </a:p>
        </p:txBody>
      </p:sp>
      <p:sp>
        <p:nvSpPr>
          <p:cNvPr id="18" name="TextBox 17"/>
          <p:cNvSpPr txBox="1"/>
          <p:nvPr/>
        </p:nvSpPr>
        <p:spPr>
          <a:xfrm>
            <a:off x="716280" y="3564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purchase, or sales operations, MongoDB Compass can be used to verify that the expected data was</a:t>
            </a:r>
          </a:p>
        </p:txBody>
      </p:sp>
      <p:sp>
        <p:nvSpPr>
          <p:cNvPr id="19" name="TextBox 18"/>
          <p:cNvSpPr txBox="1"/>
          <p:nvPr/>
        </p:nvSpPr>
        <p:spPr>
          <a:xfrm>
            <a:off x="716280" y="3742486"/>
            <a:ext cx="579882" cy="203301"/>
          </a:xfrm>
          <a:prstGeom prst="rect">
            <a:avLst/>
          </a:prstGeom>
          <a:noFill/>
        </p:spPr>
        <p:txBody>
          <a:bodyPr wrap="none" lIns="0" tIns="0" rIns="0" bIns="0" anchor="t">
            <a:spAutoFit/>
          </a:bodyPr>
          <a:lstStyle/>
          <a:p>
            <a:pPr algn="l"/>
            <a:r>
              <a:rPr sz="1200" b="0" i="0">
                <a:solidFill>
                  <a:srgbClr val="000000"/>
                </a:solidFill>
                <a:latin typeface="Times New Roman"/>
              </a:rPr>
              <a:t>persisted.</a:t>
            </a:r>
          </a:p>
        </p:txBody>
      </p:sp>
      <p:sp>
        <p:nvSpPr>
          <p:cNvPr id="20" name="TextBox 19"/>
          <p:cNvSpPr txBox="1"/>
          <p:nvPr/>
        </p:nvSpPr>
        <p:spPr>
          <a:xfrm>
            <a:off x="1443031" y="4034256"/>
            <a:ext cx="559136" cy="184689"/>
          </a:xfrm>
          <a:prstGeom prst="rect">
            <a:avLst/>
          </a:prstGeom>
          <a:noFill/>
        </p:spPr>
        <p:txBody>
          <a:bodyPr wrap="none" lIns="0" tIns="0" rIns="0" bIns="0" anchor="t">
            <a:spAutoFit/>
          </a:bodyPr>
          <a:lstStyle/>
          <a:p>
            <a:pPr algn="l"/>
            <a:r>
              <a:rPr sz="1050" b="1" i="0">
                <a:solidFill>
                  <a:srgbClr val="000000"/>
                </a:solidFill>
                <a:latin typeface="Times New Roman"/>
              </a:rPr>
              <a:t>Test Area</a:t>
            </a:r>
          </a:p>
        </p:txBody>
      </p:sp>
      <p:sp>
        <p:nvSpPr>
          <p:cNvPr id="21" name="TextBox 20"/>
          <p:cNvSpPr txBox="1"/>
          <p:nvPr/>
        </p:nvSpPr>
        <p:spPr>
          <a:xfrm>
            <a:off x="3329944" y="4034256"/>
            <a:ext cx="900112" cy="184689"/>
          </a:xfrm>
          <a:prstGeom prst="rect">
            <a:avLst/>
          </a:prstGeom>
          <a:noFill/>
        </p:spPr>
        <p:txBody>
          <a:bodyPr wrap="none" lIns="0" tIns="0" rIns="0" bIns="0" anchor="t">
            <a:spAutoFit/>
          </a:bodyPr>
          <a:lstStyle/>
          <a:p>
            <a:pPr algn="ctr"/>
            <a:r>
              <a:rPr sz="1050" b="1" i="0">
                <a:solidFill>
                  <a:srgbClr val="000000"/>
                </a:solidFill>
                <a:latin typeface="Times New Roman"/>
              </a:rPr>
              <a:t>Example Check</a:t>
            </a:r>
          </a:p>
        </p:txBody>
      </p:sp>
      <p:sp>
        <p:nvSpPr>
          <p:cNvPr id="22" name="TextBox 21"/>
          <p:cNvSpPr txBox="1"/>
          <p:nvPr/>
        </p:nvSpPr>
        <p:spPr>
          <a:xfrm>
            <a:off x="5376275" y="4034256"/>
            <a:ext cx="922248" cy="184689"/>
          </a:xfrm>
          <a:prstGeom prst="rect">
            <a:avLst/>
          </a:prstGeom>
          <a:noFill/>
        </p:spPr>
        <p:txBody>
          <a:bodyPr wrap="none" lIns="0" tIns="0" rIns="0" bIns="0" anchor="t">
            <a:spAutoFit/>
          </a:bodyPr>
          <a:lstStyle/>
          <a:p>
            <a:pPr algn="l"/>
            <a:r>
              <a:rPr sz="1050" b="1" i="0">
                <a:solidFill>
                  <a:srgbClr val="000000"/>
                </a:solidFill>
                <a:latin typeface="Times New Roman"/>
              </a:rPr>
              <a:t>Expected Result</a:t>
            </a:r>
          </a:p>
        </p:txBody>
      </p:sp>
      <p:sp>
        <p:nvSpPr>
          <p:cNvPr id="23" name="TextBox 22"/>
          <p:cNvSpPr txBox="1"/>
          <p:nvPr/>
        </p:nvSpPr>
        <p:spPr>
          <a:xfrm>
            <a:off x="744700" y="4261656"/>
            <a:ext cx="885043" cy="177888"/>
          </a:xfrm>
          <a:prstGeom prst="rect">
            <a:avLst/>
          </a:prstGeom>
          <a:noFill/>
        </p:spPr>
        <p:txBody>
          <a:bodyPr wrap="none" lIns="0" tIns="0" rIns="0" bIns="0" anchor="t">
            <a:spAutoFit/>
          </a:bodyPr>
          <a:lstStyle/>
          <a:p>
            <a:pPr algn="l"/>
            <a:r>
              <a:rPr sz="1050" b="0" i="0">
                <a:solidFill>
                  <a:srgbClr val="000000"/>
                </a:solidFill>
                <a:latin typeface="Times New Roman"/>
              </a:rPr>
              <a:t>Create Medicine</a:t>
            </a:r>
          </a:p>
        </p:txBody>
      </p:sp>
      <p:sp>
        <p:nvSpPr>
          <p:cNvPr id="24" name="TextBox 23"/>
          <p:cNvSpPr txBox="1"/>
          <p:nvPr/>
        </p:nvSpPr>
        <p:spPr>
          <a:xfrm>
            <a:off x="2802100" y="4261656"/>
            <a:ext cx="1103737" cy="177888"/>
          </a:xfrm>
          <a:prstGeom prst="rect">
            <a:avLst/>
          </a:prstGeom>
          <a:noFill/>
        </p:spPr>
        <p:txBody>
          <a:bodyPr wrap="none" lIns="0" tIns="0" rIns="0" bIns="0" anchor="t">
            <a:spAutoFit/>
          </a:bodyPr>
          <a:lstStyle/>
          <a:p>
            <a:pPr algn="l"/>
            <a:r>
              <a:rPr sz="1050" b="0" i="0">
                <a:solidFill>
                  <a:srgbClr val="000000"/>
                </a:solidFill>
                <a:latin typeface="Times New Roman"/>
              </a:rPr>
              <a:t>Valid JSON payload</a:t>
            </a:r>
          </a:p>
        </p:txBody>
      </p:sp>
      <p:sp>
        <p:nvSpPr>
          <p:cNvPr id="25" name="TextBox 24"/>
          <p:cNvSpPr txBox="1"/>
          <p:nvPr/>
        </p:nvSpPr>
        <p:spPr>
          <a:xfrm>
            <a:off x="4859499" y="4261656"/>
            <a:ext cx="803433" cy="177888"/>
          </a:xfrm>
          <a:prstGeom prst="rect">
            <a:avLst/>
          </a:prstGeom>
          <a:noFill/>
        </p:spPr>
        <p:txBody>
          <a:bodyPr wrap="none" lIns="0" tIns="0" rIns="0" bIns="0" anchor="t">
            <a:spAutoFit/>
          </a:bodyPr>
          <a:lstStyle/>
          <a:p>
            <a:pPr algn="l"/>
            <a:r>
              <a:rPr sz="1050" b="0" i="0">
                <a:solidFill>
                  <a:srgbClr val="000000"/>
                </a:solidFill>
                <a:latin typeface="Times New Roman"/>
              </a:rPr>
              <a:t>Record created</a:t>
            </a:r>
          </a:p>
        </p:txBody>
      </p:sp>
      <p:sp>
        <p:nvSpPr>
          <p:cNvPr id="26" name="TextBox 25"/>
          <p:cNvSpPr txBox="1"/>
          <p:nvPr/>
        </p:nvSpPr>
        <p:spPr>
          <a:xfrm>
            <a:off x="744700" y="4490256"/>
            <a:ext cx="811034" cy="177888"/>
          </a:xfrm>
          <a:prstGeom prst="rect">
            <a:avLst/>
          </a:prstGeom>
          <a:noFill/>
        </p:spPr>
        <p:txBody>
          <a:bodyPr wrap="none" lIns="0" tIns="0" rIns="0" bIns="0" anchor="t">
            <a:spAutoFit/>
          </a:bodyPr>
          <a:lstStyle/>
          <a:p>
            <a:pPr algn="l"/>
            <a:r>
              <a:rPr sz="1050" b="0" i="0">
                <a:solidFill>
                  <a:srgbClr val="000000"/>
                </a:solidFill>
                <a:latin typeface="Times New Roman"/>
              </a:rPr>
              <a:t>Read Medicine</a:t>
            </a:r>
          </a:p>
        </p:txBody>
      </p:sp>
      <p:sp>
        <p:nvSpPr>
          <p:cNvPr id="27" name="TextBox 26"/>
          <p:cNvSpPr txBox="1"/>
          <p:nvPr/>
        </p:nvSpPr>
        <p:spPr>
          <a:xfrm>
            <a:off x="2802100" y="4490256"/>
            <a:ext cx="1259224" cy="177888"/>
          </a:xfrm>
          <a:prstGeom prst="rect">
            <a:avLst/>
          </a:prstGeom>
          <a:noFill/>
        </p:spPr>
        <p:txBody>
          <a:bodyPr wrap="none" lIns="0" tIns="0" rIns="0" bIns="0" anchor="t">
            <a:spAutoFit/>
          </a:bodyPr>
          <a:lstStyle/>
          <a:p>
            <a:pPr algn="ctr"/>
            <a:r>
              <a:rPr sz="1050" b="0" i="0">
                <a:solidFill>
                  <a:srgbClr val="000000"/>
                </a:solidFill>
                <a:latin typeface="Times New Roman"/>
              </a:rPr>
              <a:t>Request existing record</a:t>
            </a:r>
          </a:p>
        </p:txBody>
      </p:sp>
      <p:sp>
        <p:nvSpPr>
          <p:cNvPr id="28" name="TextBox 27"/>
          <p:cNvSpPr txBox="1"/>
          <p:nvPr/>
        </p:nvSpPr>
        <p:spPr>
          <a:xfrm>
            <a:off x="4859499" y="4490256"/>
            <a:ext cx="1251489" cy="177888"/>
          </a:xfrm>
          <a:prstGeom prst="rect">
            <a:avLst/>
          </a:prstGeom>
          <a:noFill/>
        </p:spPr>
        <p:txBody>
          <a:bodyPr wrap="none" lIns="0" tIns="0" rIns="0" bIns="0" anchor="t">
            <a:spAutoFit/>
          </a:bodyPr>
          <a:lstStyle/>
          <a:p>
            <a:pPr algn="l"/>
            <a:r>
              <a:rPr sz="1050" b="0" i="0">
                <a:solidFill>
                  <a:srgbClr val="000000"/>
                </a:solidFill>
                <a:latin typeface="Times New Roman"/>
              </a:rPr>
              <a:t>Correct record returned</a:t>
            </a:r>
          </a:p>
        </p:txBody>
      </p:sp>
      <p:sp>
        <p:nvSpPr>
          <p:cNvPr id="29" name="TextBox 28"/>
          <p:cNvSpPr txBox="1"/>
          <p:nvPr/>
        </p:nvSpPr>
        <p:spPr>
          <a:xfrm>
            <a:off x="744700" y="4718856"/>
            <a:ext cx="922115" cy="177888"/>
          </a:xfrm>
          <a:prstGeom prst="rect">
            <a:avLst/>
          </a:prstGeom>
          <a:noFill/>
        </p:spPr>
        <p:txBody>
          <a:bodyPr wrap="none" lIns="0" tIns="0" rIns="0" bIns="0" anchor="t">
            <a:spAutoFit/>
          </a:bodyPr>
          <a:lstStyle/>
          <a:p>
            <a:pPr algn="l"/>
            <a:r>
              <a:rPr sz="1050" b="0" i="0">
                <a:solidFill>
                  <a:srgbClr val="000000"/>
                </a:solidFill>
                <a:latin typeface="Times New Roman"/>
              </a:rPr>
              <a:t>Update Medicine</a:t>
            </a:r>
          </a:p>
        </p:txBody>
      </p:sp>
      <p:sp>
        <p:nvSpPr>
          <p:cNvPr id="30" name="TextBox 29"/>
          <p:cNvSpPr txBox="1"/>
          <p:nvPr/>
        </p:nvSpPr>
        <p:spPr>
          <a:xfrm>
            <a:off x="2802100" y="4718856"/>
            <a:ext cx="985189" cy="177888"/>
          </a:xfrm>
          <a:prstGeom prst="rect">
            <a:avLst/>
          </a:prstGeom>
          <a:noFill/>
        </p:spPr>
        <p:txBody>
          <a:bodyPr wrap="none" lIns="0" tIns="0" rIns="0" bIns="0" anchor="t">
            <a:spAutoFit/>
          </a:bodyPr>
          <a:lstStyle/>
          <a:p>
            <a:pPr algn="l"/>
            <a:r>
              <a:rPr sz="1050" b="0" i="0">
                <a:solidFill>
                  <a:srgbClr val="000000"/>
                </a:solidFill>
                <a:latin typeface="Times New Roman"/>
              </a:rPr>
              <a:t>Change valid field</a:t>
            </a:r>
          </a:p>
        </p:txBody>
      </p:sp>
      <p:sp>
        <p:nvSpPr>
          <p:cNvPr id="31" name="TextBox 30"/>
          <p:cNvSpPr txBox="1"/>
          <p:nvPr/>
        </p:nvSpPr>
        <p:spPr>
          <a:xfrm>
            <a:off x="4859499" y="4718856"/>
            <a:ext cx="1547926" cy="177888"/>
          </a:xfrm>
          <a:prstGeom prst="rect">
            <a:avLst/>
          </a:prstGeom>
          <a:noFill/>
        </p:spPr>
        <p:txBody>
          <a:bodyPr wrap="none" lIns="0" tIns="0" rIns="0" bIns="0" anchor="t">
            <a:spAutoFit/>
          </a:bodyPr>
          <a:lstStyle/>
          <a:p>
            <a:pPr algn="l"/>
            <a:r>
              <a:rPr sz="1050" b="0" i="0">
                <a:solidFill>
                  <a:srgbClr val="000000"/>
                </a:solidFill>
                <a:latin typeface="Times New Roman"/>
              </a:rPr>
              <a:t>Updated data returned/stored</a:t>
            </a:r>
          </a:p>
        </p:txBody>
      </p:sp>
      <p:sp>
        <p:nvSpPr>
          <p:cNvPr id="32" name="TextBox 31"/>
          <p:cNvSpPr txBox="1"/>
          <p:nvPr/>
        </p:nvSpPr>
        <p:spPr>
          <a:xfrm>
            <a:off x="744700" y="4947456"/>
            <a:ext cx="885043" cy="177888"/>
          </a:xfrm>
          <a:prstGeom prst="rect">
            <a:avLst/>
          </a:prstGeom>
          <a:noFill/>
        </p:spPr>
        <p:txBody>
          <a:bodyPr wrap="none" lIns="0" tIns="0" rIns="0" bIns="0" anchor="t">
            <a:spAutoFit/>
          </a:bodyPr>
          <a:lstStyle/>
          <a:p>
            <a:pPr algn="l"/>
            <a:r>
              <a:rPr sz="1050" b="0" i="0">
                <a:solidFill>
                  <a:srgbClr val="000000"/>
                </a:solidFill>
                <a:latin typeface="Times New Roman"/>
              </a:rPr>
              <a:t>Delete Medicine</a:t>
            </a:r>
          </a:p>
        </p:txBody>
      </p:sp>
      <p:sp>
        <p:nvSpPr>
          <p:cNvPr id="33" name="TextBox 32"/>
          <p:cNvSpPr txBox="1"/>
          <p:nvPr/>
        </p:nvSpPr>
        <p:spPr>
          <a:xfrm>
            <a:off x="2802100" y="4947456"/>
            <a:ext cx="1266424" cy="177888"/>
          </a:xfrm>
          <a:prstGeom prst="rect">
            <a:avLst/>
          </a:prstGeom>
          <a:noFill/>
        </p:spPr>
        <p:txBody>
          <a:bodyPr wrap="none" lIns="0" tIns="0" rIns="0" bIns="0" anchor="t">
            <a:spAutoFit/>
          </a:bodyPr>
          <a:lstStyle/>
          <a:p>
            <a:pPr algn="ctr"/>
            <a:r>
              <a:rPr sz="1050" b="0" i="0">
                <a:solidFill>
                  <a:srgbClr val="000000"/>
                </a:solidFill>
                <a:latin typeface="Times New Roman"/>
              </a:rPr>
              <a:t>Delete permitted record</a:t>
            </a:r>
          </a:p>
        </p:txBody>
      </p:sp>
      <p:sp>
        <p:nvSpPr>
          <p:cNvPr id="34" name="TextBox 33"/>
          <p:cNvSpPr txBox="1"/>
          <p:nvPr/>
        </p:nvSpPr>
        <p:spPr>
          <a:xfrm>
            <a:off x="4859499" y="4947456"/>
            <a:ext cx="1955800" cy="177888"/>
          </a:xfrm>
          <a:prstGeom prst="rect">
            <a:avLst/>
          </a:prstGeom>
          <a:noFill/>
        </p:spPr>
        <p:txBody>
          <a:bodyPr wrap="none" lIns="0" tIns="0" rIns="0" bIns="0" anchor="t">
            <a:spAutoFit/>
          </a:bodyPr>
          <a:lstStyle/>
          <a:p>
            <a:pPr algn="l"/>
            <a:r>
              <a:rPr sz="1050" b="0" i="0">
                <a:solidFill>
                  <a:srgbClr val="000000"/>
                </a:solidFill>
                <a:latin typeface="Times New Roman"/>
              </a:rPr>
              <a:t>Record removed/marked as intended</a:t>
            </a:r>
          </a:p>
        </p:txBody>
      </p:sp>
      <p:sp>
        <p:nvSpPr>
          <p:cNvPr id="35" name="TextBox 34"/>
          <p:cNvSpPr txBox="1"/>
          <p:nvPr/>
        </p:nvSpPr>
        <p:spPr>
          <a:xfrm>
            <a:off x="744700" y="5176056"/>
            <a:ext cx="692619" cy="177888"/>
          </a:xfrm>
          <a:prstGeom prst="rect">
            <a:avLst/>
          </a:prstGeom>
          <a:noFill/>
        </p:spPr>
        <p:txBody>
          <a:bodyPr wrap="none" lIns="0" tIns="0" rIns="0" bIns="0" anchor="t">
            <a:spAutoFit/>
          </a:bodyPr>
          <a:lstStyle/>
          <a:p>
            <a:pPr algn="l"/>
            <a:r>
              <a:rPr sz="1050" b="0" i="0">
                <a:solidFill>
                  <a:srgbClr val="000000"/>
                </a:solidFill>
                <a:latin typeface="Times New Roman"/>
              </a:rPr>
              <a:t>Invalid Input</a:t>
            </a:r>
          </a:p>
        </p:txBody>
      </p:sp>
      <p:sp>
        <p:nvSpPr>
          <p:cNvPr id="36" name="TextBox 35"/>
          <p:cNvSpPr txBox="1"/>
          <p:nvPr/>
        </p:nvSpPr>
        <p:spPr>
          <a:xfrm>
            <a:off x="2802100" y="5176056"/>
            <a:ext cx="1185214" cy="177888"/>
          </a:xfrm>
          <a:prstGeom prst="rect">
            <a:avLst/>
          </a:prstGeom>
          <a:noFill/>
        </p:spPr>
        <p:txBody>
          <a:bodyPr wrap="none" lIns="0" tIns="0" rIns="0" bIns="0" anchor="t">
            <a:spAutoFit/>
          </a:bodyPr>
          <a:lstStyle/>
          <a:p>
            <a:pPr algn="ctr"/>
            <a:r>
              <a:rPr sz="1050" b="0" i="0">
                <a:solidFill>
                  <a:srgbClr val="000000"/>
                </a:solidFill>
                <a:latin typeface="Times New Roman"/>
              </a:rPr>
              <a:t>Missing required field</a:t>
            </a:r>
          </a:p>
        </p:txBody>
      </p:sp>
      <p:sp>
        <p:nvSpPr>
          <p:cNvPr id="37" name="TextBox 36"/>
          <p:cNvSpPr txBox="1"/>
          <p:nvPr/>
        </p:nvSpPr>
        <p:spPr>
          <a:xfrm>
            <a:off x="4859499" y="5176056"/>
            <a:ext cx="855440" cy="177888"/>
          </a:xfrm>
          <a:prstGeom prst="rect">
            <a:avLst/>
          </a:prstGeom>
          <a:noFill/>
        </p:spPr>
        <p:txBody>
          <a:bodyPr wrap="none" lIns="0" tIns="0" rIns="0" bIns="0" anchor="t">
            <a:spAutoFit/>
          </a:bodyPr>
          <a:lstStyle/>
          <a:p>
            <a:pPr algn="l"/>
            <a:r>
              <a:rPr sz="1050" b="0" i="0">
                <a:solidFill>
                  <a:srgbClr val="000000"/>
                </a:solidFill>
                <a:latin typeface="Times New Roman"/>
              </a:rPr>
              <a:t>Validation error</a:t>
            </a:r>
          </a:p>
        </p:txBody>
      </p:sp>
      <p:sp>
        <p:nvSpPr>
          <p:cNvPr id="38" name="TextBox 37"/>
          <p:cNvSpPr txBox="1"/>
          <p:nvPr/>
        </p:nvSpPr>
        <p:spPr>
          <a:xfrm>
            <a:off x="744700" y="5404656"/>
            <a:ext cx="944384" cy="177888"/>
          </a:xfrm>
          <a:prstGeom prst="rect">
            <a:avLst/>
          </a:prstGeom>
          <a:noFill/>
        </p:spPr>
        <p:txBody>
          <a:bodyPr wrap="none" lIns="0" tIns="0" rIns="0" bIns="0" anchor="t">
            <a:spAutoFit/>
          </a:bodyPr>
          <a:lstStyle/>
          <a:p>
            <a:pPr algn="l"/>
            <a:r>
              <a:rPr sz="1050" b="0" i="0">
                <a:solidFill>
                  <a:srgbClr val="000000"/>
                </a:solidFill>
                <a:latin typeface="Times New Roman"/>
              </a:rPr>
              <a:t>Unknown Record</a:t>
            </a:r>
          </a:p>
        </p:txBody>
      </p:sp>
      <p:sp>
        <p:nvSpPr>
          <p:cNvPr id="39" name="TextBox 38"/>
          <p:cNvSpPr txBox="1"/>
          <p:nvPr/>
        </p:nvSpPr>
        <p:spPr>
          <a:xfrm>
            <a:off x="2802100" y="5404656"/>
            <a:ext cx="1303762" cy="177888"/>
          </a:xfrm>
          <a:prstGeom prst="rect">
            <a:avLst/>
          </a:prstGeom>
          <a:noFill/>
        </p:spPr>
        <p:txBody>
          <a:bodyPr wrap="none" lIns="0" tIns="0" rIns="0" bIns="0" anchor="t">
            <a:spAutoFit/>
          </a:bodyPr>
          <a:lstStyle/>
          <a:p>
            <a:pPr algn="ctr"/>
            <a:r>
              <a:rPr sz="1050" b="0" i="0">
                <a:solidFill>
                  <a:srgbClr val="000000"/>
                </a:solidFill>
                <a:latin typeface="Times New Roman"/>
              </a:rPr>
              <a:t>Request non-existing ID</a:t>
            </a:r>
          </a:p>
        </p:txBody>
      </p:sp>
      <p:sp>
        <p:nvSpPr>
          <p:cNvPr id="40" name="TextBox 39"/>
          <p:cNvSpPr txBox="1"/>
          <p:nvPr/>
        </p:nvSpPr>
        <p:spPr>
          <a:xfrm>
            <a:off x="4859499" y="5404656"/>
            <a:ext cx="1055465" cy="177888"/>
          </a:xfrm>
          <a:prstGeom prst="rect">
            <a:avLst/>
          </a:prstGeom>
          <a:noFill/>
        </p:spPr>
        <p:txBody>
          <a:bodyPr wrap="none" lIns="0" tIns="0" rIns="0" bIns="0" anchor="t">
            <a:spAutoFit/>
          </a:bodyPr>
          <a:lstStyle/>
          <a:p>
            <a:pPr algn="l"/>
            <a:r>
              <a:rPr sz="1050" b="0" i="0">
                <a:solidFill>
                  <a:srgbClr val="000000"/>
                </a:solidFill>
                <a:latin typeface="Times New Roman"/>
              </a:rPr>
              <a:t>Not-found response</a:t>
            </a:r>
          </a:p>
        </p:txBody>
      </p:sp>
      <p:sp>
        <p:nvSpPr>
          <p:cNvPr id="41" name="TextBox 40"/>
          <p:cNvSpPr txBox="1"/>
          <p:nvPr/>
        </p:nvSpPr>
        <p:spPr>
          <a:xfrm>
            <a:off x="744700" y="5633256"/>
            <a:ext cx="670350" cy="177888"/>
          </a:xfrm>
          <a:prstGeom prst="rect">
            <a:avLst/>
          </a:prstGeom>
          <a:noFill/>
        </p:spPr>
        <p:txBody>
          <a:bodyPr wrap="none" lIns="0" tIns="0" rIns="0" bIns="0" anchor="t">
            <a:spAutoFit/>
          </a:bodyPr>
          <a:lstStyle/>
          <a:p>
            <a:pPr algn="l"/>
            <a:r>
              <a:rPr sz="1050" b="0" i="0">
                <a:solidFill>
                  <a:srgbClr val="000000"/>
                </a:solidFill>
                <a:latin typeface="Times New Roman"/>
              </a:rPr>
              <a:t>Stock Query</a:t>
            </a:r>
          </a:p>
        </p:txBody>
      </p:sp>
      <p:sp>
        <p:nvSpPr>
          <p:cNvPr id="42" name="TextBox 41"/>
          <p:cNvSpPr txBox="1"/>
          <p:nvPr/>
        </p:nvSpPr>
        <p:spPr>
          <a:xfrm>
            <a:off x="2802100" y="5633256"/>
            <a:ext cx="1155477" cy="177888"/>
          </a:xfrm>
          <a:prstGeom prst="rect">
            <a:avLst/>
          </a:prstGeom>
          <a:noFill/>
        </p:spPr>
        <p:txBody>
          <a:bodyPr wrap="none" lIns="0" tIns="0" rIns="0" bIns="0" anchor="t">
            <a:spAutoFit/>
          </a:bodyPr>
          <a:lstStyle/>
          <a:p>
            <a:pPr algn="ctr"/>
            <a:r>
              <a:rPr sz="1050" b="0" i="0">
                <a:solidFill>
                  <a:srgbClr val="000000"/>
                </a:solidFill>
                <a:latin typeface="Times New Roman"/>
              </a:rPr>
              <a:t>Request current stock</a:t>
            </a:r>
          </a:p>
        </p:txBody>
      </p:sp>
      <p:sp>
        <p:nvSpPr>
          <p:cNvPr id="43" name="TextBox 42"/>
          <p:cNvSpPr txBox="1"/>
          <p:nvPr/>
        </p:nvSpPr>
        <p:spPr>
          <a:xfrm>
            <a:off x="4859499" y="5633256"/>
            <a:ext cx="1355502" cy="177888"/>
          </a:xfrm>
          <a:prstGeom prst="rect">
            <a:avLst/>
          </a:prstGeom>
          <a:noFill/>
        </p:spPr>
        <p:txBody>
          <a:bodyPr wrap="none" lIns="0" tIns="0" rIns="0" bIns="0" anchor="t">
            <a:spAutoFit/>
          </a:bodyPr>
          <a:lstStyle/>
          <a:p>
            <a:pPr algn="l"/>
            <a:r>
              <a:rPr sz="1050" b="0" i="0">
                <a:solidFill>
                  <a:srgbClr val="000000"/>
                </a:solidFill>
                <a:latin typeface="Times New Roman"/>
              </a:rPr>
              <a:t>Current quantity returned</a:t>
            </a:r>
          </a:p>
        </p:txBody>
      </p:sp>
      <p:sp>
        <p:nvSpPr>
          <p:cNvPr id="44" name="TextBox 43"/>
          <p:cNvSpPr txBox="1"/>
          <p:nvPr/>
        </p:nvSpPr>
        <p:spPr>
          <a:xfrm>
            <a:off x="716280" y="5943904"/>
            <a:ext cx="1733550" cy="246252"/>
          </a:xfrm>
          <a:prstGeom prst="rect">
            <a:avLst/>
          </a:prstGeom>
          <a:noFill/>
        </p:spPr>
        <p:txBody>
          <a:bodyPr wrap="none" lIns="0" tIns="0" rIns="0" bIns="0" anchor="t">
            <a:spAutoFit/>
          </a:bodyPr>
          <a:lstStyle/>
          <a:p>
            <a:pPr algn="l"/>
            <a:r>
              <a:rPr sz="1400" b="1" i="0">
                <a:solidFill>
                  <a:srgbClr val="000000"/>
                </a:solidFill>
                <a:latin typeface="Times New Roman"/>
              </a:rPr>
              <a:t>8.2 Integration Testing</a:t>
            </a:r>
          </a:p>
        </p:txBody>
      </p:sp>
      <p:sp>
        <p:nvSpPr>
          <p:cNvPr id="45" name="TextBox 44"/>
          <p:cNvSpPr txBox="1"/>
          <p:nvPr/>
        </p:nvSpPr>
        <p:spPr>
          <a:xfrm>
            <a:off x="944880" y="6223051"/>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Integration testing checks whether modules work correctly when combined. A purchase test, for</a:t>
            </a:r>
          </a:p>
        </p:txBody>
      </p:sp>
      <p:sp>
        <p:nvSpPr>
          <p:cNvPr id="46" name="TextBox 45"/>
          <p:cNvSpPr txBox="1"/>
          <p:nvPr/>
        </p:nvSpPr>
        <p:spPr>
          <a:xfrm>
            <a:off x="716280" y="6400851"/>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example, should verify the transaction record, associated medicine or batch information, and</a:t>
            </a:r>
          </a:p>
        </p:txBody>
      </p:sp>
      <p:sp>
        <p:nvSpPr>
          <p:cNvPr id="47" name="TextBox 46"/>
          <p:cNvSpPr txBox="1"/>
          <p:nvPr/>
        </p:nvSpPr>
        <p:spPr>
          <a:xfrm>
            <a:off x="716280" y="6578651"/>
            <a:ext cx="1468983" cy="203301"/>
          </a:xfrm>
          <a:prstGeom prst="rect">
            <a:avLst/>
          </a:prstGeom>
          <a:noFill/>
        </p:spPr>
        <p:txBody>
          <a:bodyPr wrap="none" lIns="0" tIns="0" rIns="0" bIns="0" anchor="t">
            <a:spAutoFit/>
          </a:bodyPr>
          <a:lstStyle/>
          <a:p>
            <a:pPr algn="l"/>
            <a:r>
              <a:rPr sz="1200" b="0" i="0">
                <a:solidFill>
                  <a:srgbClr val="000000"/>
                </a:solidFill>
                <a:latin typeface="Times New Roman"/>
              </a:rPr>
              <a:t>resulting stock quantity.</a:t>
            </a:r>
          </a:p>
        </p:txBody>
      </p:sp>
      <p:sp>
        <p:nvSpPr>
          <p:cNvPr id="48" name="TextBox 47"/>
          <p:cNvSpPr txBox="1"/>
          <p:nvPr/>
        </p:nvSpPr>
        <p:spPr>
          <a:xfrm>
            <a:off x="944880" y="6807251"/>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Testing should also consider boundary conditions such as zero quantity, insufficient stock,</a:t>
            </a:r>
          </a:p>
        </p:txBody>
      </p:sp>
      <p:sp>
        <p:nvSpPr>
          <p:cNvPr id="49" name="TextBox 48"/>
          <p:cNvSpPr txBox="1"/>
          <p:nvPr/>
        </p:nvSpPr>
        <p:spPr>
          <a:xfrm>
            <a:off x="716280" y="6985051"/>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invalid dates, missing identifiers, and duplicate requests where those conditions are relevant to the</a:t>
            </a:r>
          </a:p>
        </p:txBody>
      </p:sp>
      <p:sp>
        <p:nvSpPr>
          <p:cNvPr id="50" name="TextBox 49"/>
          <p:cNvSpPr txBox="1"/>
          <p:nvPr/>
        </p:nvSpPr>
        <p:spPr>
          <a:xfrm>
            <a:off x="716280" y="7162851"/>
            <a:ext cx="994867" cy="203301"/>
          </a:xfrm>
          <a:prstGeom prst="rect">
            <a:avLst/>
          </a:prstGeom>
          <a:noFill/>
        </p:spPr>
        <p:txBody>
          <a:bodyPr wrap="none" lIns="0" tIns="0" rIns="0" bIns="0" anchor="t">
            <a:spAutoFit/>
          </a:bodyPr>
          <a:lstStyle/>
          <a:p>
            <a:pPr algn="l"/>
            <a:r>
              <a:rPr sz="1200" b="0" i="0">
                <a:solidFill>
                  <a:srgbClr val="000000"/>
                </a:solidFill>
                <a:latin typeface="Times New Roman"/>
              </a:rPr>
              <a:t>implementation.</a:t>
            </a:r>
          </a:p>
        </p:txBody>
      </p:sp>
      <p:sp>
        <p:nvSpPr>
          <p:cNvPr id="51" name="TextBox 50"/>
          <p:cNvSpPr txBox="1"/>
          <p:nvPr/>
        </p:nvSpPr>
        <p:spPr>
          <a:xfrm>
            <a:off x="944880" y="739145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Integration testing verifies that different modules work correctly together. In this project, the</a:t>
            </a:r>
          </a:p>
        </p:txBody>
      </p:sp>
      <p:sp>
        <p:nvSpPr>
          <p:cNvPr id="52" name="TextBox 51"/>
          <p:cNvSpPr txBox="1"/>
          <p:nvPr/>
        </p:nvSpPr>
        <p:spPr>
          <a:xfrm>
            <a:off x="716280" y="75692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main integration path connects the Express.js API with MongoDB. A successful request should</a:t>
            </a:r>
          </a:p>
        </p:txBody>
      </p:sp>
      <p:sp>
        <p:nvSpPr>
          <p:cNvPr id="53" name="TextBox 52"/>
          <p:cNvSpPr txBox="1"/>
          <p:nvPr/>
        </p:nvSpPr>
        <p:spPr>
          <a:xfrm>
            <a:off x="716280" y="774705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produce the expected database change and the database result should be reflected in the API</a:t>
            </a:r>
          </a:p>
        </p:txBody>
      </p:sp>
      <p:sp>
        <p:nvSpPr>
          <p:cNvPr id="54" name="TextBox 53"/>
          <p:cNvSpPr txBox="1"/>
          <p:nvPr/>
        </p:nvSpPr>
        <p:spPr>
          <a:xfrm>
            <a:off x="716280" y="7924850"/>
            <a:ext cx="571347" cy="203301"/>
          </a:xfrm>
          <a:prstGeom prst="rect">
            <a:avLst/>
          </a:prstGeom>
          <a:noFill/>
        </p:spPr>
        <p:txBody>
          <a:bodyPr wrap="none" lIns="0" tIns="0" rIns="0" bIns="0" anchor="t">
            <a:spAutoFit/>
          </a:bodyPr>
          <a:lstStyle/>
          <a:p>
            <a:pPr algn="l"/>
            <a:r>
              <a:rPr sz="1200" b="0" i="0">
                <a:solidFill>
                  <a:srgbClr val="000000"/>
                </a:solidFill>
                <a:latin typeface="Times New Roman"/>
              </a:rPr>
              <a:t>response.</a:t>
            </a:r>
          </a:p>
        </p:txBody>
      </p:sp>
      <p:sp>
        <p:nvSpPr>
          <p:cNvPr id="55" name="TextBox 54"/>
          <p:cNvSpPr txBox="1"/>
          <p:nvPr/>
        </p:nvSpPr>
        <p:spPr>
          <a:xfrm>
            <a:off x="944880" y="815345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Purchase and sales flows are especially important integration scenarios because they affect</a:t>
            </a:r>
          </a:p>
        </p:txBody>
      </p:sp>
      <p:sp>
        <p:nvSpPr>
          <p:cNvPr id="56" name="TextBox 55"/>
          <p:cNvSpPr txBox="1"/>
          <p:nvPr/>
        </p:nvSpPr>
        <p:spPr>
          <a:xfrm>
            <a:off x="716280" y="83312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inventory quantities. The test should confirm that transaction data and stock information remain</a:t>
            </a:r>
          </a:p>
        </p:txBody>
      </p:sp>
      <p:sp>
        <p:nvSpPr>
          <p:cNvPr id="57" name="TextBox 56"/>
          <p:cNvSpPr txBox="1"/>
          <p:nvPr/>
        </p:nvSpPr>
        <p:spPr>
          <a:xfrm>
            <a:off x="716280" y="8509050"/>
            <a:ext cx="1803044" cy="203301"/>
          </a:xfrm>
          <a:prstGeom prst="rect">
            <a:avLst/>
          </a:prstGeom>
          <a:noFill/>
        </p:spPr>
        <p:txBody>
          <a:bodyPr wrap="none" lIns="0" tIns="0" rIns="0" bIns="0" anchor="t">
            <a:spAutoFit/>
          </a:bodyPr>
          <a:lstStyle/>
          <a:p>
            <a:pPr algn="l"/>
            <a:r>
              <a:rPr sz="1200" b="0" i="0">
                <a:solidFill>
                  <a:srgbClr val="000000"/>
                </a:solidFill>
                <a:latin typeface="Times New Roman"/>
              </a:rPr>
              <a:t>consistent after the operation.</a:t>
            </a:r>
          </a:p>
        </p:txBody>
      </p:sp>
      <p:sp>
        <p:nvSpPr>
          <p:cNvPr id="58" name="TextBox 57"/>
          <p:cNvSpPr txBox="1"/>
          <p:nvPr/>
        </p:nvSpPr>
        <p:spPr>
          <a:xfrm>
            <a:off x="944880" y="873765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Expiry and low-stock monitoring should also be tested against known sample records. By</a:t>
            </a:r>
          </a:p>
        </p:txBody>
      </p:sp>
      <p:sp>
        <p:nvSpPr>
          <p:cNvPr id="59" name="TextBox 58"/>
          <p:cNvSpPr txBox="1"/>
          <p:nvPr/>
        </p:nvSpPr>
        <p:spPr>
          <a:xfrm>
            <a:off x="716280" y="89154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creating records with different quantities and expiry dates, the team can verify whether the</a:t>
            </a:r>
          </a:p>
        </p:txBody>
      </p:sp>
      <p:sp>
        <p:nvSpPr>
          <p:cNvPr id="60" name="TextBox 59"/>
          <p:cNvSpPr txBox="1"/>
          <p:nvPr/>
        </p:nvSpPr>
        <p:spPr>
          <a:xfrm>
            <a:off x="716280" y="9093250"/>
            <a:ext cx="2979877" cy="203301"/>
          </a:xfrm>
          <a:prstGeom prst="rect">
            <a:avLst/>
          </a:prstGeom>
          <a:noFill/>
        </p:spPr>
        <p:txBody>
          <a:bodyPr wrap="none" lIns="0" tIns="0" rIns="0" bIns="0" anchor="t">
            <a:spAutoFit/>
          </a:bodyPr>
          <a:lstStyle/>
          <a:p>
            <a:pPr algn="l"/>
            <a:r>
              <a:rPr sz="1200" b="0" i="0">
                <a:solidFill>
                  <a:srgbClr val="000000"/>
                </a:solidFill>
                <a:latin typeface="Times New Roman"/>
              </a:rPr>
              <a:t>monitoring queries identify the intended records.</a:t>
            </a:r>
          </a:p>
        </p:txBody>
      </p:sp>
      <p:sp>
        <p:nvSpPr>
          <p:cNvPr id="61" name="TextBox 60"/>
          <p:cNvSpPr txBox="1"/>
          <p:nvPr/>
        </p:nvSpPr>
        <p:spPr>
          <a:xfrm>
            <a:off x="716280" y="9360204"/>
            <a:ext cx="1980514" cy="246253"/>
          </a:xfrm>
          <a:prstGeom prst="rect">
            <a:avLst/>
          </a:prstGeom>
          <a:noFill/>
        </p:spPr>
        <p:txBody>
          <a:bodyPr wrap="none" lIns="0" tIns="0" rIns="0" bIns="0" anchor="t">
            <a:spAutoFit/>
          </a:bodyPr>
          <a:lstStyle/>
          <a:p>
            <a:pPr algn="l"/>
            <a:r>
              <a:rPr sz="1400" b="1" i="0">
                <a:solidFill>
                  <a:srgbClr val="000000"/>
                </a:solidFill>
                <a:latin typeface="Times New Roman"/>
              </a:rPr>
              <a:t>8.3 Tools Used for Testing</a:t>
            </a:r>
          </a:p>
        </p:txBody>
      </p:sp>
      <p:sp>
        <p:nvSpPr>
          <p:cNvPr id="62" name="TextBox 61"/>
          <p:cNvSpPr txBox="1"/>
          <p:nvPr/>
        </p:nvSpPr>
        <p:spPr>
          <a:xfrm>
            <a:off x="944880" y="9639351"/>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combination of Postman and MongoDB Compass gives the team independent evidence</a:t>
            </a:r>
          </a:p>
        </p:txBody>
      </p:sp>
      <p:sp>
        <p:nvSpPr>
          <p:cNvPr id="63" name="TextBox 62"/>
          <p:cNvSpPr txBox="1"/>
          <p:nvPr/>
        </p:nvSpPr>
        <p:spPr>
          <a:xfrm>
            <a:off x="716280" y="9817151"/>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from two layers. Postman confirms what the API returns, while Compass confirms what the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26</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716280" y="580186"/>
            <a:ext cx="5472532" cy="203301"/>
          </a:xfrm>
          <a:prstGeom prst="rect">
            <a:avLst/>
          </a:prstGeom>
          <a:noFill/>
        </p:spPr>
        <p:txBody>
          <a:bodyPr wrap="none" lIns="0" tIns="0" rIns="0" bIns="0" anchor="t">
            <a:spAutoFit/>
          </a:bodyPr>
          <a:lstStyle/>
          <a:p>
            <a:pPr algn="ctr"/>
            <a:r>
              <a:rPr sz="1200" b="0" i="0">
                <a:solidFill>
                  <a:srgbClr val="000000"/>
                </a:solidFill>
                <a:latin typeface="Times New Roman"/>
              </a:rPr>
              <a:t>database contains. Server logs provide a third source for diagnosing unexpected behavior.</a:t>
            </a:r>
          </a:p>
        </p:txBody>
      </p:sp>
      <p:sp>
        <p:nvSpPr>
          <p:cNvPr id="5" name="TextBox 4"/>
          <p:cNvSpPr txBox="1"/>
          <p:nvPr/>
        </p:nvSpPr>
        <p:spPr>
          <a:xfrm>
            <a:off x="944880" y="8087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Postman provides API-level testing and is suitable for manually checking request and response</a:t>
            </a:r>
          </a:p>
        </p:txBody>
      </p:sp>
      <p:sp>
        <p:nvSpPr>
          <p:cNvPr id="6" name="TextBox 5"/>
          <p:cNvSpPr txBox="1"/>
          <p:nvPr/>
        </p:nvSpPr>
        <p:spPr>
          <a:xfrm>
            <a:off x="716280" y="9865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behavior. MongoDB Compass is used to inspect the database after API operations. Visual Studio</a:t>
            </a:r>
          </a:p>
        </p:txBody>
      </p:sp>
      <p:sp>
        <p:nvSpPr>
          <p:cNvPr id="7" name="TextBox 6"/>
          <p:cNvSpPr txBox="1"/>
          <p:nvPr/>
        </p:nvSpPr>
        <p:spPr>
          <a:xfrm>
            <a:off x="716280" y="1164386"/>
            <a:ext cx="4020617" cy="203301"/>
          </a:xfrm>
          <a:prstGeom prst="rect">
            <a:avLst/>
          </a:prstGeom>
          <a:noFill/>
        </p:spPr>
        <p:txBody>
          <a:bodyPr wrap="none" lIns="0" tIns="0" rIns="0" bIns="0" anchor="t">
            <a:spAutoFit/>
          </a:bodyPr>
          <a:lstStyle/>
          <a:p>
            <a:pPr algn="l"/>
            <a:r>
              <a:rPr sz="1200" b="0" i="0">
                <a:solidFill>
                  <a:srgbClr val="000000"/>
                </a:solidFill>
                <a:latin typeface="Times New Roman"/>
              </a:rPr>
              <a:t>Code can be used to observe server logs and debug backend code.</a:t>
            </a:r>
          </a:p>
        </p:txBody>
      </p:sp>
      <p:sp>
        <p:nvSpPr>
          <p:cNvPr id="8" name="TextBox 7"/>
          <p:cNvSpPr txBox="1"/>
          <p:nvPr/>
        </p:nvSpPr>
        <p:spPr>
          <a:xfrm>
            <a:off x="944880" y="13929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Testing can be organized into functional, validation, integration, and error-handling categories.</a:t>
            </a:r>
          </a:p>
        </p:txBody>
      </p:sp>
      <p:sp>
        <p:nvSpPr>
          <p:cNvPr id="9" name="TextBox 8"/>
          <p:cNvSpPr txBox="1"/>
          <p:nvPr/>
        </p:nvSpPr>
        <p:spPr>
          <a:xfrm>
            <a:off x="716280" y="15707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The purpose is not only to confirm that successful operations work but also to ensure that incorrect</a:t>
            </a:r>
          </a:p>
        </p:txBody>
      </p:sp>
      <p:sp>
        <p:nvSpPr>
          <p:cNvPr id="10" name="TextBox 9"/>
          <p:cNvSpPr txBox="1"/>
          <p:nvPr/>
        </p:nvSpPr>
        <p:spPr>
          <a:xfrm>
            <a:off x="716280" y="1748586"/>
            <a:ext cx="2518562" cy="203301"/>
          </a:xfrm>
          <a:prstGeom prst="rect">
            <a:avLst/>
          </a:prstGeom>
          <a:noFill/>
        </p:spPr>
        <p:txBody>
          <a:bodyPr wrap="none" lIns="0" tIns="0" rIns="0" bIns="0" anchor="t">
            <a:spAutoFit/>
          </a:bodyPr>
          <a:lstStyle/>
          <a:p>
            <a:pPr algn="l"/>
            <a:r>
              <a:rPr sz="1200" b="0" i="0">
                <a:solidFill>
                  <a:srgbClr val="000000"/>
                </a:solidFill>
                <a:latin typeface="Times New Roman"/>
              </a:rPr>
              <a:t>input does not corrupt the inventory data.</a:t>
            </a:r>
          </a:p>
        </p:txBody>
      </p:sp>
      <p:sp>
        <p:nvSpPr>
          <p:cNvPr id="11" name="TextBox 10"/>
          <p:cNvSpPr txBox="1"/>
          <p:nvPr/>
        </p:nvSpPr>
        <p:spPr>
          <a:xfrm>
            <a:off x="716280" y="1977186"/>
            <a:ext cx="3532784" cy="203301"/>
          </a:xfrm>
          <a:prstGeom prst="rect">
            <a:avLst/>
          </a:prstGeom>
          <a:noFill/>
        </p:spPr>
        <p:txBody>
          <a:bodyPr wrap="none" lIns="0" tIns="0" rIns="0" bIns="0" anchor="t">
            <a:spAutoFit/>
          </a:bodyPr>
          <a:lstStyle/>
          <a:p>
            <a:pPr algn="l"/>
            <a:r>
              <a:rPr sz="1200" b="0" i="0">
                <a:solidFill>
                  <a:srgbClr val="000000"/>
                </a:solidFill>
                <a:latin typeface="Times New Roman"/>
              </a:rPr>
              <a:t>• Postman – REST API requests and response verification</a:t>
            </a:r>
          </a:p>
        </p:txBody>
      </p:sp>
      <p:sp>
        <p:nvSpPr>
          <p:cNvPr id="12" name="TextBox 11"/>
          <p:cNvSpPr txBox="1"/>
          <p:nvPr/>
        </p:nvSpPr>
        <p:spPr>
          <a:xfrm>
            <a:off x="716280" y="2205786"/>
            <a:ext cx="3075584" cy="203301"/>
          </a:xfrm>
          <a:prstGeom prst="rect">
            <a:avLst/>
          </a:prstGeom>
          <a:noFill/>
        </p:spPr>
        <p:txBody>
          <a:bodyPr wrap="none" lIns="0" tIns="0" rIns="0" bIns="0" anchor="t">
            <a:spAutoFit/>
          </a:bodyPr>
          <a:lstStyle/>
          <a:p>
            <a:pPr algn="l"/>
            <a:r>
              <a:rPr sz="1200" b="0" i="0">
                <a:solidFill>
                  <a:srgbClr val="000000"/>
                </a:solidFill>
                <a:latin typeface="Times New Roman"/>
              </a:rPr>
              <a:t>• MongoDB Compass – database state verification</a:t>
            </a:r>
          </a:p>
        </p:txBody>
      </p:sp>
      <p:sp>
        <p:nvSpPr>
          <p:cNvPr id="13" name="TextBox 12"/>
          <p:cNvSpPr txBox="1"/>
          <p:nvPr/>
        </p:nvSpPr>
        <p:spPr>
          <a:xfrm>
            <a:off x="716280" y="2434386"/>
            <a:ext cx="3236823" cy="203301"/>
          </a:xfrm>
          <a:prstGeom prst="rect">
            <a:avLst/>
          </a:prstGeom>
          <a:noFill/>
        </p:spPr>
        <p:txBody>
          <a:bodyPr wrap="none" lIns="0" tIns="0" rIns="0" bIns="0" anchor="t">
            <a:spAutoFit/>
          </a:bodyPr>
          <a:lstStyle/>
          <a:p>
            <a:pPr algn="l"/>
            <a:r>
              <a:rPr sz="1200" b="0" i="0">
                <a:solidFill>
                  <a:srgbClr val="000000"/>
                </a:solidFill>
                <a:latin typeface="Times New Roman"/>
              </a:rPr>
              <a:t>• Visual Studio Code – debugging and log inspection</a:t>
            </a:r>
          </a:p>
        </p:txBody>
      </p:sp>
      <p:sp>
        <p:nvSpPr>
          <p:cNvPr id="14" name="TextBox 13"/>
          <p:cNvSpPr txBox="1"/>
          <p:nvPr/>
        </p:nvSpPr>
        <p:spPr>
          <a:xfrm>
            <a:off x="716280" y="2662986"/>
            <a:ext cx="4429658" cy="203301"/>
          </a:xfrm>
          <a:prstGeom prst="rect">
            <a:avLst/>
          </a:prstGeom>
          <a:noFill/>
        </p:spPr>
        <p:txBody>
          <a:bodyPr wrap="none" lIns="0" tIns="0" rIns="0" bIns="0" anchor="t">
            <a:spAutoFit/>
          </a:bodyPr>
          <a:lstStyle/>
          <a:p>
            <a:pPr algn="l"/>
            <a:r>
              <a:rPr sz="1200" b="0" i="0">
                <a:solidFill>
                  <a:srgbClr val="000000"/>
                </a:solidFill>
                <a:latin typeface="Times New Roman"/>
              </a:rPr>
              <a:t>• Browser / API client – client-side request verification where applicable</a:t>
            </a:r>
          </a:p>
        </p:txBody>
      </p:sp>
      <p:sp>
        <p:nvSpPr>
          <p:cNvPr id="15" name="TextBox 14"/>
          <p:cNvSpPr txBox="1"/>
          <p:nvPr/>
        </p:nvSpPr>
        <p:spPr>
          <a:xfrm>
            <a:off x="716280" y="2929940"/>
            <a:ext cx="2000250" cy="246252"/>
          </a:xfrm>
          <a:prstGeom prst="rect">
            <a:avLst/>
          </a:prstGeom>
          <a:noFill/>
        </p:spPr>
        <p:txBody>
          <a:bodyPr wrap="none" lIns="0" tIns="0" rIns="0" bIns="0" anchor="t">
            <a:spAutoFit/>
          </a:bodyPr>
          <a:lstStyle/>
          <a:p>
            <a:pPr algn="l"/>
            <a:r>
              <a:rPr sz="1400" b="1" i="0">
                <a:solidFill>
                  <a:srgbClr val="000000"/>
                </a:solidFill>
                <a:latin typeface="Times New Roman"/>
              </a:rPr>
              <a:t>8.4 Test Cases and Results</a:t>
            </a:r>
          </a:p>
        </p:txBody>
      </p:sp>
      <p:sp>
        <p:nvSpPr>
          <p:cNvPr id="16" name="TextBox 15"/>
          <p:cNvSpPr txBox="1"/>
          <p:nvPr/>
        </p:nvSpPr>
        <p:spPr>
          <a:xfrm>
            <a:off x="944880" y="32090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Test cases should be executed after the final implementation is stable. The report should record</a:t>
            </a:r>
          </a:p>
        </p:txBody>
      </p:sp>
      <p:sp>
        <p:nvSpPr>
          <p:cNvPr id="17" name="TextBox 16"/>
          <p:cNvSpPr txBox="1"/>
          <p:nvPr/>
        </p:nvSpPr>
        <p:spPr>
          <a:xfrm>
            <a:off x="716280" y="33868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the actual observed status rather than assuming that every case passed. Evidence can include</a:t>
            </a:r>
          </a:p>
        </p:txBody>
      </p:sp>
      <p:sp>
        <p:nvSpPr>
          <p:cNvPr id="18" name="TextBox 17"/>
          <p:cNvSpPr txBox="1"/>
          <p:nvPr/>
        </p:nvSpPr>
        <p:spPr>
          <a:xfrm>
            <a:off x="716280" y="3564686"/>
            <a:ext cx="3948989" cy="203301"/>
          </a:xfrm>
          <a:prstGeom prst="rect">
            <a:avLst/>
          </a:prstGeom>
          <a:noFill/>
        </p:spPr>
        <p:txBody>
          <a:bodyPr wrap="none" lIns="0" tIns="0" rIns="0" bIns="0" anchor="t">
            <a:spAutoFit/>
          </a:bodyPr>
          <a:lstStyle/>
          <a:p>
            <a:pPr algn="l"/>
            <a:r>
              <a:rPr sz="1200" b="0" i="0">
                <a:solidFill>
                  <a:srgbClr val="000000"/>
                </a:solidFill>
                <a:latin typeface="Times New Roman"/>
              </a:rPr>
              <a:t>Postman screenshots, response bodies, and database screenshots.</a:t>
            </a:r>
          </a:p>
        </p:txBody>
      </p:sp>
      <p:sp>
        <p:nvSpPr>
          <p:cNvPr id="19" name="TextBox 18"/>
          <p:cNvSpPr txBox="1"/>
          <p:nvPr/>
        </p:nvSpPr>
        <p:spPr>
          <a:xfrm>
            <a:off x="944880" y="3793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following test cases provide a documentation format for recording the expected behavior of</a:t>
            </a:r>
          </a:p>
        </p:txBody>
      </p:sp>
      <p:sp>
        <p:nvSpPr>
          <p:cNvPr id="20" name="TextBox 19"/>
          <p:cNvSpPr txBox="1"/>
          <p:nvPr/>
        </p:nvSpPr>
        <p:spPr>
          <a:xfrm>
            <a:off x="716280" y="39710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the implemented system. Actual execution results should be retained with the project review</a:t>
            </a:r>
          </a:p>
        </p:txBody>
      </p:sp>
      <p:sp>
        <p:nvSpPr>
          <p:cNvPr id="21" name="TextBox 20"/>
          <p:cNvSpPr txBox="1"/>
          <p:nvPr/>
        </p:nvSpPr>
        <p:spPr>
          <a:xfrm>
            <a:off x="716280" y="4148886"/>
            <a:ext cx="579729" cy="203301"/>
          </a:xfrm>
          <a:prstGeom prst="rect">
            <a:avLst/>
          </a:prstGeom>
          <a:noFill/>
        </p:spPr>
        <p:txBody>
          <a:bodyPr wrap="none" lIns="0" tIns="0" rIns="0" bIns="0" anchor="t">
            <a:spAutoFit/>
          </a:bodyPr>
          <a:lstStyle/>
          <a:p>
            <a:pPr algn="l"/>
            <a:r>
              <a:rPr sz="1200" b="0" i="0">
                <a:solidFill>
                  <a:srgbClr val="000000"/>
                </a:solidFill>
                <a:latin typeface="Times New Roman"/>
              </a:rPr>
              <a:t>evidence.</a:t>
            </a:r>
          </a:p>
        </p:txBody>
      </p:sp>
      <p:sp>
        <p:nvSpPr>
          <p:cNvPr id="22" name="TextBox 21"/>
          <p:cNvSpPr txBox="1"/>
          <p:nvPr/>
        </p:nvSpPr>
        <p:spPr>
          <a:xfrm>
            <a:off x="1127763" y="4440656"/>
            <a:ext cx="366712" cy="184689"/>
          </a:xfrm>
          <a:prstGeom prst="rect">
            <a:avLst/>
          </a:prstGeom>
          <a:noFill/>
        </p:spPr>
        <p:txBody>
          <a:bodyPr wrap="none" lIns="0" tIns="0" rIns="0" bIns="0" anchor="t">
            <a:spAutoFit/>
          </a:bodyPr>
          <a:lstStyle/>
          <a:p>
            <a:pPr algn="l"/>
            <a:r>
              <a:rPr sz="1050" b="1" i="0">
                <a:solidFill>
                  <a:srgbClr val="000000"/>
                </a:solidFill>
                <a:latin typeface="Times New Roman"/>
              </a:rPr>
              <a:t>TC ID</a:t>
            </a:r>
          </a:p>
        </p:txBody>
      </p:sp>
      <p:sp>
        <p:nvSpPr>
          <p:cNvPr id="23" name="TextBox 22"/>
          <p:cNvSpPr txBox="1"/>
          <p:nvPr/>
        </p:nvSpPr>
        <p:spPr>
          <a:xfrm>
            <a:off x="2269658" y="4440656"/>
            <a:ext cx="551802" cy="184689"/>
          </a:xfrm>
          <a:prstGeom prst="rect">
            <a:avLst/>
          </a:prstGeom>
          <a:noFill/>
        </p:spPr>
        <p:txBody>
          <a:bodyPr wrap="none" lIns="0" tIns="0" rIns="0" bIns="0" anchor="t">
            <a:spAutoFit/>
          </a:bodyPr>
          <a:lstStyle/>
          <a:p>
            <a:pPr algn="l"/>
            <a:r>
              <a:rPr sz="1050" b="1" i="0">
                <a:solidFill>
                  <a:srgbClr val="000000"/>
                </a:solidFill>
                <a:latin typeface="Times New Roman"/>
              </a:rPr>
              <a:t>Test Case</a:t>
            </a:r>
          </a:p>
        </p:txBody>
      </p:sp>
      <p:sp>
        <p:nvSpPr>
          <p:cNvPr id="24" name="TextBox 23"/>
          <p:cNvSpPr txBox="1"/>
          <p:nvPr/>
        </p:nvSpPr>
        <p:spPr>
          <a:xfrm>
            <a:off x="3283471" y="4440656"/>
            <a:ext cx="993057" cy="184689"/>
          </a:xfrm>
          <a:prstGeom prst="rect">
            <a:avLst/>
          </a:prstGeom>
          <a:noFill/>
        </p:spPr>
        <p:txBody>
          <a:bodyPr wrap="none" lIns="0" tIns="0" rIns="0" bIns="0" anchor="t">
            <a:spAutoFit/>
          </a:bodyPr>
          <a:lstStyle/>
          <a:p>
            <a:pPr algn="ctr"/>
            <a:r>
              <a:rPr sz="1050" b="1" i="0">
                <a:solidFill>
                  <a:srgbClr val="000000"/>
                </a:solidFill>
                <a:latin typeface="Times New Roman"/>
              </a:rPr>
              <a:t>Input / Condition</a:t>
            </a:r>
          </a:p>
        </p:txBody>
      </p:sp>
      <p:sp>
        <p:nvSpPr>
          <p:cNvPr id="25" name="TextBox 24"/>
          <p:cNvSpPr txBox="1"/>
          <p:nvPr/>
        </p:nvSpPr>
        <p:spPr>
          <a:xfrm>
            <a:off x="4553315" y="4440656"/>
            <a:ext cx="922248" cy="184689"/>
          </a:xfrm>
          <a:prstGeom prst="rect">
            <a:avLst/>
          </a:prstGeom>
          <a:noFill/>
        </p:spPr>
        <p:txBody>
          <a:bodyPr wrap="none" lIns="0" tIns="0" rIns="0" bIns="0" anchor="t">
            <a:spAutoFit/>
          </a:bodyPr>
          <a:lstStyle/>
          <a:p>
            <a:pPr algn="l"/>
            <a:r>
              <a:rPr sz="1050" b="1" i="0">
                <a:solidFill>
                  <a:srgbClr val="000000"/>
                </a:solidFill>
                <a:latin typeface="Times New Roman"/>
              </a:rPr>
              <a:t>Expected Result</a:t>
            </a:r>
          </a:p>
        </p:txBody>
      </p:sp>
      <p:sp>
        <p:nvSpPr>
          <p:cNvPr id="26" name="TextBox 25"/>
          <p:cNvSpPr txBox="1"/>
          <p:nvPr/>
        </p:nvSpPr>
        <p:spPr>
          <a:xfrm>
            <a:off x="6071057" y="4440656"/>
            <a:ext cx="355644" cy="184689"/>
          </a:xfrm>
          <a:prstGeom prst="rect">
            <a:avLst/>
          </a:prstGeom>
          <a:noFill/>
        </p:spPr>
        <p:txBody>
          <a:bodyPr wrap="none" lIns="0" tIns="0" rIns="0" bIns="0" anchor="t">
            <a:spAutoFit/>
          </a:bodyPr>
          <a:lstStyle/>
          <a:p>
            <a:pPr algn="l"/>
            <a:r>
              <a:rPr sz="1050" b="1" i="0">
                <a:solidFill>
                  <a:srgbClr val="000000"/>
                </a:solidFill>
                <a:latin typeface="Times New Roman"/>
              </a:rPr>
              <a:t>Status</a:t>
            </a:r>
          </a:p>
        </p:txBody>
      </p:sp>
      <p:sp>
        <p:nvSpPr>
          <p:cNvPr id="27" name="TextBox 26"/>
          <p:cNvSpPr txBox="1"/>
          <p:nvPr/>
        </p:nvSpPr>
        <p:spPr>
          <a:xfrm>
            <a:off x="744700" y="4744256"/>
            <a:ext cx="303771" cy="177888"/>
          </a:xfrm>
          <a:prstGeom prst="rect">
            <a:avLst/>
          </a:prstGeom>
          <a:noFill/>
        </p:spPr>
        <p:txBody>
          <a:bodyPr wrap="none" lIns="0" tIns="0" rIns="0" bIns="0" anchor="t">
            <a:spAutoFit/>
          </a:bodyPr>
          <a:lstStyle/>
          <a:p>
            <a:pPr algn="l"/>
            <a:r>
              <a:rPr sz="1050" b="0" i="0">
                <a:solidFill>
                  <a:srgbClr val="000000"/>
                </a:solidFill>
                <a:latin typeface="Times New Roman"/>
              </a:rPr>
              <a:t>TC01</a:t>
            </a:r>
          </a:p>
        </p:txBody>
      </p:sp>
      <p:sp>
        <p:nvSpPr>
          <p:cNvPr id="28" name="TextBox 27"/>
          <p:cNvSpPr txBox="1"/>
          <p:nvPr/>
        </p:nvSpPr>
        <p:spPr>
          <a:xfrm>
            <a:off x="1979140" y="4744256"/>
            <a:ext cx="870242" cy="177888"/>
          </a:xfrm>
          <a:prstGeom prst="rect">
            <a:avLst/>
          </a:prstGeom>
          <a:noFill/>
        </p:spPr>
        <p:txBody>
          <a:bodyPr wrap="none" lIns="0" tIns="0" rIns="0" bIns="0" anchor="t">
            <a:spAutoFit/>
          </a:bodyPr>
          <a:lstStyle/>
          <a:p>
            <a:pPr algn="l"/>
            <a:r>
              <a:rPr sz="1050" b="0" i="0">
                <a:solidFill>
                  <a:srgbClr val="000000"/>
                </a:solidFill>
                <a:latin typeface="Times New Roman"/>
              </a:rPr>
              <a:t>Create medicine</a:t>
            </a:r>
          </a:p>
        </p:txBody>
      </p:sp>
      <p:sp>
        <p:nvSpPr>
          <p:cNvPr id="29" name="TextBox 28"/>
          <p:cNvSpPr txBox="1"/>
          <p:nvPr/>
        </p:nvSpPr>
        <p:spPr>
          <a:xfrm>
            <a:off x="3213580" y="4744256"/>
            <a:ext cx="1074000" cy="177888"/>
          </a:xfrm>
          <a:prstGeom prst="rect">
            <a:avLst/>
          </a:prstGeom>
          <a:noFill/>
        </p:spPr>
        <p:txBody>
          <a:bodyPr wrap="none" lIns="0" tIns="0" rIns="0" bIns="0" anchor="t">
            <a:spAutoFit/>
          </a:bodyPr>
          <a:lstStyle/>
          <a:p>
            <a:pPr algn="ctr"/>
            <a:r>
              <a:rPr sz="1050" b="0" i="0">
                <a:solidFill>
                  <a:srgbClr val="000000"/>
                </a:solidFill>
                <a:latin typeface="Times New Roman"/>
              </a:rPr>
              <a:t>Valid medicine data</a:t>
            </a:r>
          </a:p>
        </p:txBody>
      </p:sp>
      <p:sp>
        <p:nvSpPr>
          <p:cNvPr id="30" name="TextBox 29"/>
          <p:cNvSpPr txBox="1"/>
          <p:nvPr/>
        </p:nvSpPr>
        <p:spPr>
          <a:xfrm>
            <a:off x="4448019" y="4668056"/>
            <a:ext cx="877576" cy="177888"/>
          </a:xfrm>
          <a:prstGeom prst="rect">
            <a:avLst/>
          </a:prstGeom>
          <a:noFill/>
        </p:spPr>
        <p:txBody>
          <a:bodyPr wrap="none" lIns="0" tIns="0" rIns="0" bIns="0" anchor="t">
            <a:spAutoFit/>
          </a:bodyPr>
          <a:lstStyle/>
          <a:p>
            <a:pPr algn="l"/>
            <a:r>
              <a:rPr sz="1050" b="0" i="0">
                <a:solidFill>
                  <a:srgbClr val="000000"/>
                </a:solidFill>
                <a:latin typeface="Times New Roman"/>
              </a:rPr>
              <a:t>Medicine record</a:t>
            </a:r>
          </a:p>
        </p:txBody>
      </p:sp>
      <p:sp>
        <p:nvSpPr>
          <p:cNvPr id="31" name="TextBox 30"/>
          <p:cNvSpPr txBox="1"/>
          <p:nvPr/>
        </p:nvSpPr>
        <p:spPr>
          <a:xfrm>
            <a:off x="4448019" y="4820456"/>
            <a:ext cx="384981" cy="177888"/>
          </a:xfrm>
          <a:prstGeom prst="rect">
            <a:avLst/>
          </a:prstGeom>
          <a:noFill/>
        </p:spPr>
        <p:txBody>
          <a:bodyPr wrap="none" lIns="0" tIns="0" rIns="0" bIns="0" anchor="t">
            <a:spAutoFit/>
          </a:bodyPr>
          <a:lstStyle/>
          <a:p>
            <a:pPr algn="l"/>
            <a:r>
              <a:rPr sz="1050" b="0" i="0">
                <a:solidFill>
                  <a:srgbClr val="000000"/>
                </a:solidFill>
                <a:latin typeface="Times New Roman"/>
              </a:rPr>
              <a:t>created</a:t>
            </a:r>
          </a:p>
        </p:txBody>
      </p:sp>
      <p:sp>
        <p:nvSpPr>
          <p:cNvPr id="32" name="TextBox 31"/>
          <p:cNvSpPr txBox="1"/>
          <p:nvPr/>
        </p:nvSpPr>
        <p:spPr>
          <a:xfrm>
            <a:off x="5682459" y="4744256"/>
            <a:ext cx="659282" cy="177888"/>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33" name="TextBox 32"/>
          <p:cNvSpPr txBox="1"/>
          <p:nvPr/>
        </p:nvSpPr>
        <p:spPr>
          <a:xfrm>
            <a:off x="744700" y="5125256"/>
            <a:ext cx="303771" cy="177888"/>
          </a:xfrm>
          <a:prstGeom prst="rect">
            <a:avLst/>
          </a:prstGeom>
          <a:noFill/>
        </p:spPr>
        <p:txBody>
          <a:bodyPr wrap="none" lIns="0" tIns="0" rIns="0" bIns="0" anchor="t">
            <a:spAutoFit/>
          </a:bodyPr>
          <a:lstStyle/>
          <a:p>
            <a:pPr algn="l"/>
            <a:r>
              <a:rPr sz="1050" b="0" i="0">
                <a:solidFill>
                  <a:srgbClr val="000000"/>
                </a:solidFill>
                <a:latin typeface="Times New Roman"/>
              </a:rPr>
              <a:t>TC02</a:t>
            </a:r>
          </a:p>
        </p:txBody>
      </p:sp>
      <p:sp>
        <p:nvSpPr>
          <p:cNvPr id="34" name="TextBox 33"/>
          <p:cNvSpPr txBox="1"/>
          <p:nvPr/>
        </p:nvSpPr>
        <p:spPr>
          <a:xfrm>
            <a:off x="1979140" y="5125256"/>
            <a:ext cx="811034" cy="177888"/>
          </a:xfrm>
          <a:prstGeom prst="rect">
            <a:avLst/>
          </a:prstGeom>
          <a:noFill/>
        </p:spPr>
        <p:txBody>
          <a:bodyPr wrap="none" lIns="0" tIns="0" rIns="0" bIns="0" anchor="t">
            <a:spAutoFit/>
          </a:bodyPr>
          <a:lstStyle/>
          <a:p>
            <a:pPr algn="l"/>
            <a:r>
              <a:rPr sz="1050" b="0" i="0">
                <a:solidFill>
                  <a:srgbClr val="000000"/>
                </a:solidFill>
                <a:latin typeface="Times New Roman"/>
              </a:rPr>
              <a:t>Create supplier</a:t>
            </a:r>
          </a:p>
        </p:txBody>
      </p:sp>
      <p:sp>
        <p:nvSpPr>
          <p:cNvPr id="35" name="TextBox 34"/>
          <p:cNvSpPr txBox="1"/>
          <p:nvPr/>
        </p:nvSpPr>
        <p:spPr>
          <a:xfrm>
            <a:off x="3213580" y="5125256"/>
            <a:ext cx="1014793" cy="177888"/>
          </a:xfrm>
          <a:prstGeom prst="rect">
            <a:avLst/>
          </a:prstGeom>
          <a:noFill/>
        </p:spPr>
        <p:txBody>
          <a:bodyPr wrap="none" lIns="0" tIns="0" rIns="0" bIns="0" anchor="t">
            <a:spAutoFit/>
          </a:bodyPr>
          <a:lstStyle/>
          <a:p>
            <a:pPr algn="ctr"/>
            <a:r>
              <a:rPr sz="1050" b="0" i="0">
                <a:solidFill>
                  <a:srgbClr val="000000"/>
                </a:solidFill>
                <a:latin typeface="Times New Roman"/>
              </a:rPr>
              <a:t>Valid supplier data</a:t>
            </a:r>
          </a:p>
        </p:txBody>
      </p:sp>
      <p:sp>
        <p:nvSpPr>
          <p:cNvPr id="36" name="TextBox 35"/>
          <p:cNvSpPr txBox="1"/>
          <p:nvPr/>
        </p:nvSpPr>
        <p:spPr>
          <a:xfrm>
            <a:off x="4448019" y="5049056"/>
            <a:ext cx="825836" cy="177888"/>
          </a:xfrm>
          <a:prstGeom prst="rect">
            <a:avLst/>
          </a:prstGeom>
          <a:noFill/>
        </p:spPr>
        <p:txBody>
          <a:bodyPr wrap="none" lIns="0" tIns="0" rIns="0" bIns="0" anchor="t">
            <a:spAutoFit/>
          </a:bodyPr>
          <a:lstStyle/>
          <a:p>
            <a:pPr algn="l"/>
            <a:r>
              <a:rPr sz="1050" b="0" i="0">
                <a:solidFill>
                  <a:srgbClr val="000000"/>
                </a:solidFill>
                <a:latin typeface="Times New Roman"/>
              </a:rPr>
              <a:t>Supplier record</a:t>
            </a:r>
          </a:p>
        </p:txBody>
      </p:sp>
      <p:sp>
        <p:nvSpPr>
          <p:cNvPr id="37" name="TextBox 36"/>
          <p:cNvSpPr txBox="1"/>
          <p:nvPr/>
        </p:nvSpPr>
        <p:spPr>
          <a:xfrm>
            <a:off x="4448019" y="5201456"/>
            <a:ext cx="384981" cy="177888"/>
          </a:xfrm>
          <a:prstGeom prst="rect">
            <a:avLst/>
          </a:prstGeom>
          <a:noFill/>
        </p:spPr>
        <p:txBody>
          <a:bodyPr wrap="none" lIns="0" tIns="0" rIns="0" bIns="0" anchor="t">
            <a:spAutoFit/>
          </a:bodyPr>
          <a:lstStyle/>
          <a:p>
            <a:pPr algn="l"/>
            <a:r>
              <a:rPr sz="1050" b="0" i="0">
                <a:solidFill>
                  <a:srgbClr val="000000"/>
                </a:solidFill>
                <a:latin typeface="Times New Roman"/>
              </a:rPr>
              <a:t>created</a:t>
            </a:r>
          </a:p>
        </p:txBody>
      </p:sp>
      <p:sp>
        <p:nvSpPr>
          <p:cNvPr id="38" name="TextBox 37"/>
          <p:cNvSpPr txBox="1"/>
          <p:nvPr/>
        </p:nvSpPr>
        <p:spPr>
          <a:xfrm>
            <a:off x="5682459" y="5125256"/>
            <a:ext cx="659282" cy="177888"/>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39" name="TextBox 38"/>
          <p:cNvSpPr txBox="1"/>
          <p:nvPr/>
        </p:nvSpPr>
        <p:spPr>
          <a:xfrm>
            <a:off x="744700" y="5506256"/>
            <a:ext cx="303771" cy="177888"/>
          </a:xfrm>
          <a:prstGeom prst="rect">
            <a:avLst/>
          </a:prstGeom>
          <a:noFill/>
        </p:spPr>
        <p:txBody>
          <a:bodyPr wrap="none" lIns="0" tIns="0" rIns="0" bIns="0" anchor="t">
            <a:spAutoFit/>
          </a:bodyPr>
          <a:lstStyle/>
          <a:p>
            <a:pPr algn="l"/>
            <a:r>
              <a:rPr sz="1050" b="0" i="0">
                <a:solidFill>
                  <a:srgbClr val="000000"/>
                </a:solidFill>
                <a:latin typeface="Times New Roman"/>
              </a:rPr>
              <a:t>TC03</a:t>
            </a:r>
          </a:p>
        </p:txBody>
      </p:sp>
      <p:sp>
        <p:nvSpPr>
          <p:cNvPr id="40" name="TextBox 39"/>
          <p:cNvSpPr txBox="1"/>
          <p:nvPr/>
        </p:nvSpPr>
        <p:spPr>
          <a:xfrm>
            <a:off x="1979140" y="5506256"/>
            <a:ext cx="907313" cy="177888"/>
          </a:xfrm>
          <a:prstGeom prst="rect">
            <a:avLst/>
          </a:prstGeom>
          <a:noFill/>
        </p:spPr>
        <p:txBody>
          <a:bodyPr wrap="none" lIns="0" tIns="0" rIns="0" bIns="0" anchor="t">
            <a:spAutoFit/>
          </a:bodyPr>
          <a:lstStyle/>
          <a:p>
            <a:pPr algn="l"/>
            <a:r>
              <a:rPr sz="1050" b="0" i="0">
                <a:solidFill>
                  <a:srgbClr val="000000"/>
                </a:solidFill>
                <a:latin typeface="Times New Roman"/>
              </a:rPr>
              <a:t>Update medicine</a:t>
            </a:r>
          </a:p>
        </p:txBody>
      </p:sp>
      <p:sp>
        <p:nvSpPr>
          <p:cNvPr id="41" name="TextBox 40"/>
          <p:cNvSpPr txBox="1"/>
          <p:nvPr/>
        </p:nvSpPr>
        <p:spPr>
          <a:xfrm>
            <a:off x="3213580" y="5430056"/>
            <a:ext cx="966787" cy="177888"/>
          </a:xfrm>
          <a:prstGeom prst="rect">
            <a:avLst/>
          </a:prstGeom>
          <a:noFill/>
        </p:spPr>
        <p:txBody>
          <a:bodyPr wrap="none" lIns="0" tIns="0" rIns="0" bIns="0" anchor="t">
            <a:spAutoFit/>
          </a:bodyPr>
          <a:lstStyle/>
          <a:p>
            <a:pPr algn="ctr"/>
            <a:r>
              <a:rPr sz="1050" b="0" i="0">
                <a:solidFill>
                  <a:srgbClr val="000000"/>
                </a:solidFill>
                <a:latin typeface="Times New Roman"/>
              </a:rPr>
              <a:t>Existing medicine</a:t>
            </a:r>
          </a:p>
        </p:txBody>
      </p:sp>
      <p:sp>
        <p:nvSpPr>
          <p:cNvPr id="42" name="TextBox 41"/>
          <p:cNvSpPr txBox="1"/>
          <p:nvPr/>
        </p:nvSpPr>
        <p:spPr>
          <a:xfrm>
            <a:off x="3213580" y="5582456"/>
            <a:ext cx="140684" cy="177888"/>
          </a:xfrm>
          <a:prstGeom prst="rect">
            <a:avLst/>
          </a:prstGeom>
          <a:noFill/>
        </p:spPr>
        <p:txBody>
          <a:bodyPr wrap="none" lIns="0" tIns="0" rIns="0" bIns="0" anchor="t">
            <a:spAutoFit/>
          </a:bodyPr>
          <a:lstStyle/>
          <a:p>
            <a:pPr algn="l"/>
            <a:r>
              <a:rPr sz="1050" b="0" i="0">
                <a:solidFill>
                  <a:srgbClr val="000000"/>
                </a:solidFill>
                <a:latin typeface="Times New Roman"/>
              </a:rPr>
              <a:t>ID</a:t>
            </a:r>
          </a:p>
        </p:txBody>
      </p:sp>
      <p:sp>
        <p:nvSpPr>
          <p:cNvPr id="43" name="TextBox 42"/>
          <p:cNvSpPr txBox="1"/>
          <p:nvPr/>
        </p:nvSpPr>
        <p:spPr>
          <a:xfrm>
            <a:off x="4448019" y="5430056"/>
            <a:ext cx="825703" cy="177888"/>
          </a:xfrm>
          <a:prstGeom prst="rect">
            <a:avLst/>
          </a:prstGeom>
          <a:noFill/>
        </p:spPr>
        <p:txBody>
          <a:bodyPr wrap="none" lIns="0" tIns="0" rIns="0" bIns="0" anchor="t">
            <a:spAutoFit/>
          </a:bodyPr>
          <a:lstStyle/>
          <a:p>
            <a:pPr algn="l"/>
            <a:r>
              <a:rPr sz="1050" b="0" i="0">
                <a:solidFill>
                  <a:srgbClr val="000000"/>
                </a:solidFill>
                <a:latin typeface="Times New Roman"/>
              </a:rPr>
              <a:t>Updated record</a:t>
            </a:r>
          </a:p>
        </p:txBody>
      </p:sp>
      <p:sp>
        <p:nvSpPr>
          <p:cNvPr id="44" name="TextBox 43"/>
          <p:cNvSpPr txBox="1"/>
          <p:nvPr/>
        </p:nvSpPr>
        <p:spPr>
          <a:xfrm>
            <a:off x="4448019" y="5582456"/>
            <a:ext cx="444322" cy="177888"/>
          </a:xfrm>
          <a:prstGeom prst="rect">
            <a:avLst/>
          </a:prstGeom>
          <a:noFill/>
        </p:spPr>
        <p:txBody>
          <a:bodyPr wrap="none" lIns="0" tIns="0" rIns="0" bIns="0" anchor="t">
            <a:spAutoFit/>
          </a:bodyPr>
          <a:lstStyle/>
          <a:p>
            <a:pPr algn="l"/>
            <a:r>
              <a:rPr sz="1050" b="0" i="0">
                <a:solidFill>
                  <a:srgbClr val="000000"/>
                </a:solidFill>
                <a:latin typeface="Times New Roman"/>
              </a:rPr>
              <a:t>returned</a:t>
            </a:r>
          </a:p>
        </p:txBody>
      </p:sp>
      <p:sp>
        <p:nvSpPr>
          <p:cNvPr id="45" name="TextBox 44"/>
          <p:cNvSpPr txBox="1"/>
          <p:nvPr/>
        </p:nvSpPr>
        <p:spPr>
          <a:xfrm>
            <a:off x="5682459" y="5506256"/>
            <a:ext cx="659282" cy="177888"/>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46" name="TextBox 45"/>
          <p:cNvSpPr txBox="1"/>
          <p:nvPr/>
        </p:nvSpPr>
        <p:spPr>
          <a:xfrm>
            <a:off x="744700" y="5887256"/>
            <a:ext cx="303771" cy="177888"/>
          </a:xfrm>
          <a:prstGeom prst="rect">
            <a:avLst/>
          </a:prstGeom>
          <a:noFill/>
        </p:spPr>
        <p:txBody>
          <a:bodyPr wrap="none" lIns="0" tIns="0" rIns="0" bIns="0" anchor="t">
            <a:spAutoFit/>
          </a:bodyPr>
          <a:lstStyle/>
          <a:p>
            <a:pPr algn="l"/>
            <a:r>
              <a:rPr sz="1050" b="0" i="0">
                <a:solidFill>
                  <a:srgbClr val="000000"/>
                </a:solidFill>
                <a:latin typeface="Times New Roman"/>
              </a:rPr>
              <a:t>TC04</a:t>
            </a:r>
          </a:p>
        </p:txBody>
      </p:sp>
      <p:sp>
        <p:nvSpPr>
          <p:cNvPr id="47" name="TextBox 46"/>
          <p:cNvSpPr txBox="1"/>
          <p:nvPr/>
        </p:nvSpPr>
        <p:spPr>
          <a:xfrm>
            <a:off x="1979140" y="5887256"/>
            <a:ext cx="899979" cy="177888"/>
          </a:xfrm>
          <a:prstGeom prst="rect">
            <a:avLst/>
          </a:prstGeom>
          <a:noFill/>
        </p:spPr>
        <p:txBody>
          <a:bodyPr wrap="none" lIns="0" tIns="0" rIns="0" bIns="0" anchor="t">
            <a:spAutoFit/>
          </a:bodyPr>
          <a:lstStyle/>
          <a:p>
            <a:pPr algn="l"/>
            <a:r>
              <a:rPr sz="1050" b="0" i="0">
                <a:solidFill>
                  <a:srgbClr val="000000"/>
                </a:solidFill>
                <a:latin typeface="Times New Roman"/>
              </a:rPr>
              <a:t>Invalid medicine</a:t>
            </a:r>
          </a:p>
        </p:txBody>
      </p:sp>
      <p:sp>
        <p:nvSpPr>
          <p:cNvPr id="48" name="TextBox 47"/>
          <p:cNvSpPr txBox="1"/>
          <p:nvPr/>
        </p:nvSpPr>
        <p:spPr>
          <a:xfrm>
            <a:off x="3213580" y="5811056"/>
            <a:ext cx="907446" cy="177888"/>
          </a:xfrm>
          <a:prstGeom prst="rect">
            <a:avLst/>
          </a:prstGeom>
          <a:noFill/>
        </p:spPr>
        <p:txBody>
          <a:bodyPr wrap="none" lIns="0" tIns="0" rIns="0" bIns="0" anchor="t">
            <a:spAutoFit/>
          </a:bodyPr>
          <a:lstStyle/>
          <a:p>
            <a:pPr algn="ctr"/>
            <a:r>
              <a:rPr sz="1050" b="0" i="0">
                <a:solidFill>
                  <a:srgbClr val="000000"/>
                </a:solidFill>
                <a:latin typeface="Times New Roman"/>
              </a:rPr>
              <a:t>Missing required</a:t>
            </a:r>
          </a:p>
        </p:txBody>
      </p:sp>
      <p:sp>
        <p:nvSpPr>
          <p:cNvPr id="49" name="TextBox 48"/>
          <p:cNvSpPr txBox="1"/>
          <p:nvPr/>
        </p:nvSpPr>
        <p:spPr>
          <a:xfrm>
            <a:off x="3213580" y="5963456"/>
            <a:ext cx="244430" cy="177888"/>
          </a:xfrm>
          <a:prstGeom prst="rect">
            <a:avLst/>
          </a:prstGeom>
          <a:noFill/>
        </p:spPr>
        <p:txBody>
          <a:bodyPr wrap="none" lIns="0" tIns="0" rIns="0" bIns="0" anchor="t">
            <a:spAutoFit/>
          </a:bodyPr>
          <a:lstStyle/>
          <a:p>
            <a:pPr algn="l"/>
            <a:r>
              <a:rPr sz="1050" b="0" i="0">
                <a:solidFill>
                  <a:srgbClr val="000000"/>
                </a:solidFill>
                <a:latin typeface="Times New Roman"/>
              </a:rPr>
              <a:t>field</a:t>
            </a:r>
          </a:p>
        </p:txBody>
      </p:sp>
      <p:sp>
        <p:nvSpPr>
          <p:cNvPr id="50" name="TextBox 49"/>
          <p:cNvSpPr txBox="1"/>
          <p:nvPr/>
        </p:nvSpPr>
        <p:spPr>
          <a:xfrm>
            <a:off x="4448019" y="5887256"/>
            <a:ext cx="855440" cy="177888"/>
          </a:xfrm>
          <a:prstGeom prst="rect">
            <a:avLst/>
          </a:prstGeom>
          <a:noFill/>
        </p:spPr>
        <p:txBody>
          <a:bodyPr wrap="none" lIns="0" tIns="0" rIns="0" bIns="0" anchor="t">
            <a:spAutoFit/>
          </a:bodyPr>
          <a:lstStyle/>
          <a:p>
            <a:pPr algn="l"/>
            <a:r>
              <a:rPr sz="1050" b="0" i="0">
                <a:solidFill>
                  <a:srgbClr val="000000"/>
                </a:solidFill>
                <a:latin typeface="Times New Roman"/>
              </a:rPr>
              <a:t>Validation error</a:t>
            </a:r>
          </a:p>
        </p:txBody>
      </p:sp>
      <p:sp>
        <p:nvSpPr>
          <p:cNvPr id="51" name="TextBox 50"/>
          <p:cNvSpPr txBox="1"/>
          <p:nvPr/>
        </p:nvSpPr>
        <p:spPr>
          <a:xfrm>
            <a:off x="5682459" y="5887256"/>
            <a:ext cx="659282" cy="177888"/>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52" name="TextBox 51"/>
          <p:cNvSpPr txBox="1"/>
          <p:nvPr/>
        </p:nvSpPr>
        <p:spPr>
          <a:xfrm>
            <a:off x="744700" y="6268256"/>
            <a:ext cx="303771" cy="177888"/>
          </a:xfrm>
          <a:prstGeom prst="rect">
            <a:avLst/>
          </a:prstGeom>
          <a:noFill/>
        </p:spPr>
        <p:txBody>
          <a:bodyPr wrap="none" lIns="0" tIns="0" rIns="0" bIns="0" anchor="t">
            <a:spAutoFit/>
          </a:bodyPr>
          <a:lstStyle/>
          <a:p>
            <a:pPr algn="l"/>
            <a:r>
              <a:rPr sz="1050" b="0" i="0">
                <a:solidFill>
                  <a:srgbClr val="000000"/>
                </a:solidFill>
                <a:latin typeface="Times New Roman"/>
              </a:rPr>
              <a:t>TC05</a:t>
            </a:r>
          </a:p>
        </p:txBody>
      </p:sp>
      <p:sp>
        <p:nvSpPr>
          <p:cNvPr id="53" name="TextBox 52"/>
          <p:cNvSpPr txBox="1"/>
          <p:nvPr/>
        </p:nvSpPr>
        <p:spPr>
          <a:xfrm>
            <a:off x="1979140" y="6268256"/>
            <a:ext cx="855306" cy="177888"/>
          </a:xfrm>
          <a:prstGeom prst="rect">
            <a:avLst/>
          </a:prstGeom>
          <a:noFill/>
        </p:spPr>
        <p:txBody>
          <a:bodyPr wrap="none" lIns="0" tIns="0" rIns="0" bIns="0" anchor="t">
            <a:spAutoFit/>
          </a:bodyPr>
          <a:lstStyle/>
          <a:p>
            <a:pPr algn="l"/>
            <a:r>
              <a:rPr sz="1050" b="0" i="0">
                <a:solidFill>
                  <a:srgbClr val="000000"/>
                </a:solidFill>
                <a:latin typeface="Times New Roman"/>
              </a:rPr>
              <a:t>Create purchase</a:t>
            </a:r>
          </a:p>
        </p:txBody>
      </p:sp>
      <p:sp>
        <p:nvSpPr>
          <p:cNvPr id="54" name="TextBox 53"/>
          <p:cNvSpPr txBox="1"/>
          <p:nvPr/>
        </p:nvSpPr>
        <p:spPr>
          <a:xfrm>
            <a:off x="3213580" y="6268256"/>
            <a:ext cx="1059065" cy="177888"/>
          </a:xfrm>
          <a:prstGeom prst="rect">
            <a:avLst/>
          </a:prstGeom>
          <a:noFill/>
        </p:spPr>
        <p:txBody>
          <a:bodyPr wrap="none" lIns="0" tIns="0" rIns="0" bIns="0" anchor="t">
            <a:spAutoFit/>
          </a:bodyPr>
          <a:lstStyle/>
          <a:p>
            <a:pPr algn="ctr"/>
            <a:r>
              <a:rPr sz="1050" b="0" i="0">
                <a:solidFill>
                  <a:srgbClr val="000000"/>
                </a:solidFill>
                <a:latin typeface="Times New Roman"/>
              </a:rPr>
              <a:t>Valid purchase data</a:t>
            </a:r>
          </a:p>
        </p:txBody>
      </p:sp>
      <p:sp>
        <p:nvSpPr>
          <p:cNvPr id="55" name="TextBox 54"/>
          <p:cNvSpPr txBox="1"/>
          <p:nvPr/>
        </p:nvSpPr>
        <p:spPr>
          <a:xfrm>
            <a:off x="4448019" y="6192056"/>
            <a:ext cx="1066533" cy="177888"/>
          </a:xfrm>
          <a:prstGeom prst="rect">
            <a:avLst/>
          </a:prstGeom>
          <a:noFill/>
        </p:spPr>
        <p:txBody>
          <a:bodyPr wrap="none" lIns="0" tIns="0" rIns="0" bIns="0" anchor="t">
            <a:spAutoFit/>
          </a:bodyPr>
          <a:lstStyle/>
          <a:p>
            <a:pPr algn="l"/>
            <a:r>
              <a:rPr sz="1050" b="0" i="0">
                <a:solidFill>
                  <a:srgbClr val="000000"/>
                </a:solidFill>
                <a:latin typeface="Times New Roman"/>
              </a:rPr>
              <a:t>Purchase stored and</a:t>
            </a:r>
          </a:p>
        </p:txBody>
      </p:sp>
      <p:sp>
        <p:nvSpPr>
          <p:cNvPr id="56" name="TextBox 55"/>
          <p:cNvSpPr txBox="1"/>
          <p:nvPr/>
        </p:nvSpPr>
        <p:spPr>
          <a:xfrm>
            <a:off x="4448019" y="6344456"/>
            <a:ext cx="737025" cy="177888"/>
          </a:xfrm>
          <a:prstGeom prst="rect">
            <a:avLst/>
          </a:prstGeom>
          <a:noFill/>
        </p:spPr>
        <p:txBody>
          <a:bodyPr wrap="none" lIns="0" tIns="0" rIns="0" bIns="0" anchor="t">
            <a:spAutoFit/>
          </a:bodyPr>
          <a:lstStyle/>
          <a:p>
            <a:pPr algn="l"/>
            <a:r>
              <a:rPr sz="1050" b="0" i="0">
                <a:solidFill>
                  <a:srgbClr val="000000"/>
                </a:solidFill>
                <a:latin typeface="Times New Roman"/>
              </a:rPr>
              <a:t>stock updated</a:t>
            </a:r>
          </a:p>
        </p:txBody>
      </p:sp>
      <p:sp>
        <p:nvSpPr>
          <p:cNvPr id="57" name="TextBox 56"/>
          <p:cNvSpPr txBox="1"/>
          <p:nvPr/>
        </p:nvSpPr>
        <p:spPr>
          <a:xfrm>
            <a:off x="5682459" y="6268256"/>
            <a:ext cx="659282" cy="177888"/>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58" name="TextBox 57"/>
          <p:cNvSpPr txBox="1"/>
          <p:nvPr/>
        </p:nvSpPr>
        <p:spPr>
          <a:xfrm>
            <a:off x="744700" y="6649256"/>
            <a:ext cx="303771" cy="177889"/>
          </a:xfrm>
          <a:prstGeom prst="rect">
            <a:avLst/>
          </a:prstGeom>
          <a:noFill/>
        </p:spPr>
        <p:txBody>
          <a:bodyPr wrap="none" lIns="0" tIns="0" rIns="0" bIns="0" anchor="t">
            <a:spAutoFit/>
          </a:bodyPr>
          <a:lstStyle/>
          <a:p>
            <a:pPr algn="l"/>
            <a:r>
              <a:rPr sz="1050" b="0" i="0">
                <a:solidFill>
                  <a:srgbClr val="000000"/>
                </a:solidFill>
                <a:latin typeface="Times New Roman"/>
              </a:rPr>
              <a:t>TC06</a:t>
            </a:r>
          </a:p>
        </p:txBody>
      </p:sp>
      <p:sp>
        <p:nvSpPr>
          <p:cNvPr id="59" name="TextBox 58"/>
          <p:cNvSpPr txBox="1"/>
          <p:nvPr/>
        </p:nvSpPr>
        <p:spPr>
          <a:xfrm>
            <a:off x="1979140" y="6649256"/>
            <a:ext cx="588740" cy="177889"/>
          </a:xfrm>
          <a:prstGeom prst="rect">
            <a:avLst/>
          </a:prstGeom>
          <a:noFill/>
        </p:spPr>
        <p:txBody>
          <a:bodyPr wrap="none" lIns="0" tIns="0" rIns="0" bIns="0" anchor="t">
            <a:spAutoFit/>
          </a:bodyPr>
          <a:lstStyle/>
          <a:p>
            <a:pPr algn="l"/>
            <a:r>
              <a:rPr sz="1050" b="0" i="0">
                <a:solidFill>
                  <a:srgbClr val="000000"/>
                </a:solidFill>
                <a:latin typeface="Times New Roman"/>
              </a:rPr>
              <a:t>Create sale</a:t>
            </a:r>
          </a:p>
        </p:txBody>
      </p:sp>
      <p:sp>
        <p:nvSpPr>
          <p:cNvPr id="60" name="TextBox 59"/>
          <p:cNvSpPr txBox="1"/>
          <p:nvPr/>
        </p:nvSpPr>
        <p:spPr>
          <a:xfrm>
            <a:off x="3213580" y="6649256"/>
            <a:ext cx="840771" cy="177889"/>
          </a:xfrm>
          <a:prstGeom prst="rect">
            <a:avLst/>
          </a:prstGeom>
          <a:noFill/>
        </p:spPr>
        <p:txBody>
          <a:bodyPr wrap="none" lIns="0" tIns="0" rIns="0" bIns="0" anchor="t">
            <a:spAutoFit/>
          </a:bodyPr>
          <a:lstStyle/>
          <a:p>
            <a:pPr algn="ctr"/>
            <a:r>
              <a:rPr sz="1050" b="0" i="0">
                <a:solidFill>
                  <a:srgbClr val="000000"/>
                </a:solidFill>
                <a:latin typeface="Times New Roman"/>
              </a:rPr>
              <a:t>Sufficient stock</a:t>
            </a:r>
          </a:p>
        </p:txBody>
      </p:sp>
      <p:sp>
        <p:nvSpPr>
          <p:cNvPr id="61" name="TextBox 60"/>
          <p:cNvSpPr txBox="1"/>
          <p:nvPr/>
        </p:nvSpPr>
        <p:spPr>
          <a:xfrm>
            <a:off x="4448019" y="6573056"/>
            <a:ext cx="1129607" cy="177889"/>
          </a:xfrm>
          <a:prstGeom prst="rect">
            <a:avLst/>
          </a:prstGeom>
          <a:noFill/>
        </p:spPr>
        <p:txBody>
          <a:bodyPr wrap="none" lIns="0" tIns="0" rIns="0" bIns="0" anchor="t">
            <a:spAutoFit/>
          </a:bodyPr>
          <a:lstStyle/>
          <a:p>
            <a:pPr algn="l"/>
            <a:r>
              <a:rPr sz="1050" b="0" i="0">
                <a:solidFill>
                  <a:srgbClr val="000000"/>
                </a:solidFill>
                <a:latin typeface="Times New Roman"/>
              </a:rPr>
              <a:t>Sale stored and stock</a:t>
            </a:r>
          </a:p>
        </p:txBody>
      </p:sp>
      <p:sp>
        <p:nvSpPr>
          <p:cNvPr id="62" name="TextBox 61"/>
          <p:cNvSpPr txBox="1"/>
          <p:nvPr/>
        </p:nvSpPr>
        <p:spPr>
          <a:xfrm>
            <a:off x="4448019" y="6725456"/>
            <a:ext cx="422052" cy="177889"/>
          </a:xfrm>
          <a:prstGeom prst="rect">
            <a:avLst/>
          </a:prstGeom>
          <a:noFill/>
        </p:spPr>
        <p:txBody>
          <a:bodyPr wrap="none" lIns="0" tIns="0" rIns="0" bIns="0" anchor="t">
            <a:spAutoFit/>
          </a:bodyPr>
          <a:lstStyle/>
          <a:p>
            <a:pPr algn="l"/>
            <a:r>
              <a:rPr sz="1050" b="0" i="0">
                <a:solidFill>
                  <a:srgbClr val="000000"/>
                </a:solidFill>
                <a:latin typeface="Times New Roman"/>
              </a:rPr>
              <a:t>reduced</a:t>
            </a:r>
          </a:p>
        </p:txBody>
      </p:sp>
      <p:sp>
        <p:nvSpPr>
          <p:cNvPr id="63" name="TextBox 62"/>
          <p:cNvSpPr txBox="1"/>
          <p:nvPr/>
        </p:nvSpPr>
        <p:spPr>
          <a:xfrm>
            <a:off x="5682459" y="6649256"/>
            <a:ext cx="659282" cy="177889"/>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64" name="TextBox 63"/>
          <p:cNvSpPr txBox="1"/>
          <p:nvPr/>
        </p:nvSpPr>
        <p:spPr>
          <a:xfrm>
            <a:off x="744700" y="7030256"/>
            <a:ext cx="303771" cy="177889"/>
          </a:xfrm>
          <a:prstGeom prst="rect">
            <a:avLst/>
          </a:prstGeom>
          <a:noFill/>
        </p:spPr>
        <p:txBody>
          <a:bodyPr wrap="none" lIns="0" tIns="0" rIns="0" bIns="0" anchor="t">
            <a:spAutoFit/>
          </a:bodyPr>
          <a:lstStyle/>
          <a:p>
            <a:pPr algn="l"/>
            <a:r>
              <a:rPr sz="1050" b="0" i="0">
                <a:solidFill>
                  <a:srgbClr val="000000"/>
                </a:solidFill>
                <a:latin typeface="Times New Roman"/>
              </a:rPr>
              <a:t>TC07</a:t>
            </a:r>
          </a:p>
        </p:txBody>
      </p:sp>
      <p:sp>
        <p:nvSpPr>
          <p:cNvPr id="65" name="TextBox 64"/>
          <p:cNvSpPr txBox="1"/>
          <p:nvPr/>
        </p:nvSpPr>
        <p:spPr>
          <a:xfrm>
            <a:off x="1979140" y="7030256"/>
            <a:ext cx="907313" cy="177889"/>
          </a:xfrm>
          <a:prstGeom prst="rect">
            <a:avLst/>
          </a:prstGeom>
          <a:noFill/>
        </p:spPr>
        <p:txBody>
          <a:bodyPr wrap="none" lIns="0" tIns="0" rIns="0" bIns="0" anchor="t">
            <a:spAutoFit/>
          </a:bodyPr>
          <a:lstStyle/>
          <a:p>
            <a:pPr algn="l"/>
            <a:r>
              <a:rPr sz="1050" b="0" i="0">
                <a:solidFill>
                  <a:srgbClr val="000000"/>
                </a:solidFill>
                <a:latin typeface="Times New Roman"/>
              </a:rPr>
              <a:t>Low-stock query</a:t>
            </a:r>
          </a:p>
        </p:txBody>
      </p:sp>
      <p:sp>
        <p:nvSpPr>
          <p:cNvPr id="66" name="TextBox 65"/>
          <p:cNvSpPr txBox="1"/>
          <p:nvPr/>
        </p:nvSpPr>
        <p:spPr>
          <a:xfrm>
            <a:off x="3213580" y="6954056"/>
            <a:ext cx="825969" cy="177889"/>
          </a:xfrm>
          <a:prstGeom prst="rect">
            <a:avLst/>
          </a:prstGeom>
          <a:noFill/>
        </p:spPr>
        <p:txBody>
          <a:bodyPr wrap="none" lIns="0" tIns="0" rIns="0" bIns="0" anchor="t">
            <a:spAutoFit/>
          </a:bodyPr>
          <a:lstStyle/>
          <a:p>
            <a:pPr algn="ctr"/>
            <a:r>
              <a:rPr sz="1050" b="0" i="0">
                <a:solidFill>
                  <a:srgbClr val="000000"/>
                </a:solidFill>
                <a:latin typeface="Times New Roman"/>
              </a:rPr>
              <a:t>Quantity below</a:t>
            </a:r>
          </a:p>
        </p:txBody>
      </p:sp>
      <p:sp>
        <p:nvSpPr>
          <p:cNvPr id="67" name="TextBox 66"/>
          <p:cNvSpPr txBox="1"/>
          <p:nvPr/>
        </p:nvSpPr>
        <p:spPr>
          <a:xfrm>
            <a:off x="3213580" y="7106456"/>
            <a:ext cx="496328" cy="177889"/>
          </a:xfrm>
          <a:prstGeom prst="rect">
            <a:avLst/>
          </a:prstGeom>
          <a:noFill/>
        </p:spPr>
        <p:txBody>
          <a:bodyPr wrap="none" lIns="0" tIns="0" rIns="0" bIns="0" anchor="t">
            <a:spAutoFit/>
          </a:bodyPr>
          <a:lstStyle/>
          <a:p>
            <a:pPr algn="ctr"/>
            <a:r>
              <a:rPr sz="1050" b="0" i="0">
                <a:solidFill>
                  <a:srgbClr val="000000"/>
                </a:solidFill>
                <a:latin typeface="Times New Roman"/>
              </a:rPr>
              <a:t>threshold</a:t>
            </a:r>
          </a:p>
        </p:txBody>
      </p:sp>
      <p:sp>
        <p:nvSpPr>
          <p:cNvPr id="68" name="TextBox 67"/>
          <p:cNvSpPr txBox="1"/>
          <p:nvPr/>
        </p:nvSpPr>
        <p:spPr>
          <a:xfrm>
            <a:off x="4448019" y="7030256"/>
            <a:ext cx="1048130" cy="177889"/>
          </a:xfrm>
          <a:prstGeom prst="rect">
            <a:avLst/>
          </a:prstGeom>
          <a:noFill/>
        </p:spPr>
        <p:txBody>
          <a:bodyPr wrap="none" lIns="0" tIns="0" rIns="0" bIns="0" anchor="t">
            <a:spAutoFit/>
          </a:bodyPr>
          <a:lstStyle/>
          <a:p>
            <a:pPr algn="l"/>
            <a:r>
              <a:rPr sz="1050" b="0" i="0">
                <a:solidFill>
                  <a:srgbClr val="000000"/>
                </a:solidFill>
                <a:latin typeface="Times New Roman"/>
              </a:rPr>
              <a:t>Medicine identified</a:t>
            </a:r>
          </a:p>
        </p:txBody>
      </p:sp>
      <p:sp>
        <p:nvSpPr>
          <p:cNvPr id="69" name="TextBox 68"/>
          <p:cNvSpPr txBox="1"/>
          <p:nvPr/>
        </p:nvSpPr>
        <p:spPr>
          <a:xfrm>
            <a:off x="5682459" y="7030256"/>
            <a:ext cx="659282" cy="177889"/>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70" name="TextBox 69"/>
          <p:cNvSpPr txBox="1"/>
          <p:nvPr/>
        </p:nvSpPr>
        <p:spPr>
          <a:xfrm>
            <a:off x="744700" y="7411256"/>
            <a:ext cx="303771" cy="177889"/>
          </a:xfrm>
          <a:prstGeom prst="rect">
            <a:avLst/>
          </a:prstGeom>
          <a:noFill/>
        </p:spPr>
        <p:txBody>
          <a:bodyPr wrap="none" lIns="0" tIns="0" rIns="0" bIns="0" anchor="t">
            <a:spAutoFit/>
          </a:bodyPr>
          <a:lstStyle/>
          <a:p>
            <a:pPr algn="l"/>
            <a:r>
              <a:rPr sz="1050" b="0" i="0">
                <a:solidFill>
                  <a:srgbClr val="000000"/>
                </a:solidFill>
                <a:latin typeface="Times New Roman"/>
              </a:rPr>
              <a:t>TC08</a:t>
            </a:r>
          </a:p>
        </p:txBody>
      </p:sp>
      <p:sp>
        <p:nvSpPr>
          <p:cNvPr id="71" name="TextBox 70"/>
          <p:cNvSpPr txBox="1"/>
          <p:nvPr/>
        </p:nvSpPr>
        <p:spPr>
          <a:xfrm>
            <a:off x="1979140" y="7411256"/>
            <a:ext cx="981189" cy="177889"/>
          </a:xfrm>
          <a:prstGeom prst="rect">
            <a:avLst/>
          </a:prstGeom>
          <a:noFill/>
        </p:spPr>
        <p:txBody>
          <a:bodyPr wrap="none" lIns="0" tIns="0" rIns="0" bIns="0" anchor="t">
            <a:spAutoFit/>
          </a:bodyPr>
          <a:lstStyle/>
          <a:p>
            <a:pPr algn="l"/>
            <a:r>
              <a:rPr sz="1050" b="0" i="0">
                <a:solidFill>
                  <a:srgbClr val="000000"/>
                </a:solidFill>
                <a:latin typeface="Times New Roman"/>
              </a:rPr>
              <a:t>Near-expiry query</a:t>
            </a:r>
          </a:p>
        </p:txBody>
      </p:sp>
      <p:sp>
        <p:nvSpPr>
          <p:cNvPr id="72" name="TextBox 71"/>
          <p:cNvSpPr txBox="1"/>
          <p:nvPr/>
        </p:nvSpPr>
        <p:spPr>
          <a:xfrm>
            <a:off x="3213580" y="7335056"/>
            <a:ext cx="737158" cy="177889"/>
          </a:xfrm>
          <a:prstGeom prst="rect">
            <a:avLst/>
          </a:prstGeom>
          <a:noFill/>
        </p:spPr>
        <p:txBody>
          <a:bodyPr wrap="none" lIns="0" tIns="0" rIns="0" bIns="0" anchor="t">
            <a:spAutoFit/>
          </a:bodyPr>
          <a:lstStyle/>
          <a:p>
            <a:pPr algn="ctr"/>
            <a:r>
              <a:rPr sz="1050" b="0" i="0">
                <a:solidFill>
                  <a:srgbClr val="000000"/>
                </a:solidFill>
                <a:latin typeface="Times New Roman"/>
              </a:rPr>
              <a:t>Expiry within</a:t>
            </a:r>
          </a:p>
        </p:txBody>
      </p:sp>
      <p:sp>
        <p:nvSpPr>
          <p:cNvPr id="73" name="TextBox 72"/>
          <p:cNvSpPr txBox="1"/>
          <p:nvPr/>
        </p:nvSpPr>
        <p:spPr>
          <a:xfrm>
            <a:off x="3213580" y="7487456"/>
            <a:ext cx="1040663" cy="177889"/>
          </a:xfrm>
          <a:prstGeom prst="rect">
            <a:avLst/>
          </a:prstGeom>
          <a:noFill/>
        </p:spPr>
        <p:txBody>
          <a:bodyPr wrap="none" lIns="0" tIns="0" rIns="0" bIns="0" anchor="t">
            <a:spAutoFit/>
          </a:bodyPr>
          <a:lstStyle/>
          <a:p>
            <a:pPr algn="ctr"/>
            <a:r>
              <a:rPr sz="1050" b="0" i="0">
                <a:solidFill>
                  <a:srgbClr val="000000"/>
                </a:solidFill>
                <a:latin typeface="Times New Roman"/>
              </a:rPr>
              <a:t>configured window</a:t>
            </a:r>
          </a:p>
        </p:txBody>
      </p:sp>
      <p:sp>
        <p:nvSpPr>
          <p:cNvPr id="74" name="TextBox 73"/>
          <p:cNvSpPr txBox="1"/>
          <p:nvPr/>
        </p:nvSpPr>
        <p:spPr>
          <a:xfrm>
            <a:off x="4448019" y="7411256"/>
            <a:ext cx="855573" cy="177889"/>
          </a:xfrm>
          <a:prstGeom prst="rect">
            <a:avLst/>
          </a:prstGeom>
          <a:noFill/>
        </p:spPr>
        <p:txBody>
          <a:bodyPr wrap="none" lIns="0" tIns="0" rIns="0" bIns="0" anchor="t">
            <a:spAutoFit/>
          </a:bodyPr>
          <a:lstStyle/>
          <a:p>
            <a:pPr algn="l"/>
            <a:r>
              <a:rPr sz="1050" b="0" i="0">
                <a:solidFill>
                  <a:srgbClr val="000000"/>
                </a:solidFill>
                <a:latin typeface="Times New Roman"/>
              </a:rPr>
              <a:t>Batch identified</a:t>
            </a:r>
          </a:p>
        </p:txBody>
      </p:sp>
      <p:sp>
        <p:nvSpPr>
          <p:cNvPr id="75" name="TextBox 74"/>
          <p:cNvSpPr txBox="1"/>
          <p:nvPr/>
        </p:nvSpPr>
        <p:spPr>
          <a:xfrm>
            <a:off x="5682459" y="7411256"/>
            <a:ext cx="659282" cy="177889"/>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76" name="TextBox 75"/>
          <p:cNvSpPr txBox="1"/>
          <p:nvPr/>
        </p:nvSpPr>
        <p:spPr>
          <a:xfrm>
            <a:off x="744700" y="7792256"/>
            <a:ext cx="303771" cy="177889"/>
          </a:xfrm>
          <a:prstGeom prst="rect">
            <a:avLst/>
          </a:prstGeom>
          <a:noFill/>
        </p:spPr>
        <p:txBody>
          <a:bodyPr wrap="none" lIns="0" tIns="0" rIns="0" bIns="0" anchor="t">
            <a:spAutoFit/>
          </a:bodyPr>
          <a:lstStyle/>
          <a:p>
            <a:pPr algn="l"/>
            <a:r>
              <a:rPr sz="1050" b="0" i="0">
                <a:solidFill>
                  <a:srgbClr val="000000"/>
                </a:solidFill>
                <a:latin typeface="Times New Roman"/>
              </a:rPr>
              <a:t>TC09</a:t>
            </a:r>
          </a:p>
        </p:txBody>
      </p:sp>
      <p:sp>
        <p:nvSpPr>
          <p:cNvPr id="77" name="TextBox 76"/>
          <p:cNvSpPr txBox="1"/>
          <p:nvPr/>
        </p:nvSpPr>
        <p:spPr>
          <a:xfrm>
            <a:off x="1979140" y="7792256"/>
            <a:ext cx="899845" cy="177889"/>
          </a:xfrm>
          <a:prstGeom prst="rect">
            <a:avLst/>
          </a:prstGeom>
          <a:noFill/>
        </p:spPr>
        <p:txBody>
          <a:bodyPr wrap="none" lIns="0" tIns="0" rIns="0" bIns="0" anchor="t">
            <a:spAutoFit/>
          </a:bodyPr>
          <a:lstStyle/>
          <a:p>
            <a:pPr algn="l"/>
            <a:r>
              <a:rPr sz="1050" b="0" i="0">
                <a:solidFill>
                  <a:srgbClr val="000000"/>
                </a:solidFill>
                <a:latin typeface="Times New Roman"/>
              </a:rPr>
              <a:t>Unknown record</a:t>
            </a:r>
          </a:p>
        </p:txBody>
      </p:sp>
      <p:sp>
        <p:nvSpPr>
          <p:cNvPr id="78" name="TextBox 77"/>
          <p:cNvSpPr txBox="1"/>
          <p:nvPr/>
        </p:nvSpPr>
        <p:spPr>
          <a:xfrm>
            <a:off x="3213580" y="7716056"/>
            <a:ext cx="1081602" cy="177889"/>
          </a:xfrm>
          <a:prstGeom prst="rect">
            <a:avLst/>
          </a:prstGeom>
          <a:noFill/>
        </p:spPr>
        <p:txBody>
          <a:bodyPr wrap="none" lIns="0" tIns="0" rIns="0" bIns="0" anchor="t">
            <a:spAutoFit/>
          </a:bodyPr>
          <a:lstStyle/>
          <a:p>
            <a:pPr algn="ctr"/>
            <a:r>
              <a:rPr sz="1050" b="0" i="0">
                <a:solidFill>
                  <a:srgbClr val="000000"/>
                </a:solidFill>
                <a:latin typeface="Times New Roman"/>
              </a:rPr>
              <a:t>Invalid/non-existing</a:t>
            </a:r>
          </a:p>
        </p:txBody>
      </p:sp>
      <p:sp>
        <p:nvSpPr>
          <p:cNvPr id="79" name="TextBox 78"/>
          <p:cNvSpPr txBox="1"/>
          <p:nvPr/>
        </p:nvSpPr>
        <p:spPr>
          <a:xfrm>
            <a:off x="3213580" y="7868456"/>
            <a:ext cx="140684" cy="177889"/>
          </a:xfrm>
          <a:prstGeom prst="rect">
            <a:avLst/>
          </a:prstGeom>
          <a:noFill/>
        </p:spPr>
        <p:txBody>
          <a:bodyPr wrap="none" lIns="0" tIns="0" rIns="0" bIns="0" anchor="t">
            <a:spAutoFit/>
          </a:bodyPr>
          <a:lstStyle/>
          <a:p>
            <a:pPr algn="l"/>
            <a:r>
              <a:rPr sz="1050" b="0" i="0">
                <a:solidFill>
                  <a:srgbClr val="000000"/>
                </a:solidFill>
                <a:latin typeface="Times New Roman"/>
              </a:rPr>
              <a:t>ID</a:t>
            </a:r>
          </a:p>
        </p:txBody>
      </p:sp>
      <p:sp>
        <p:nvSpPr>
          <p:cNvPr id="80" name="TextBox 79"/>
          <p:cNvSpPr txBox="1"/>
          <p:nvPr/>
        </p:nvSpPr>
        <p:spPr>
          <a:xfrm>
            <a:off x="4448019" y="7792256"/>
            <a:ext cx="1055465" cy="177889"/>
          </a:xfrm>
          <a:prstGeom prst="rect">
            <a:avLst/>
          </a:prstGeom>
          <a:noFill/>
        </p:spPr>
        <p:txBody>
          <a:bodyPr wrap="none" lIns="0" tIns="0" rIns="0" bIns="0" anchor="t">
            <a:spAutoFit/>
          </a:bodyPr>
          <a:lstStyle/>
          <a:p>
            <a:pPr algn="l"/>
            <a:r>
              <a:rPr sz="1050" b="0" i="0">
                <a:solidFill>
                  <a:srgbClr val="000000"/>
                </a:solidFill>
                <a:latin typeface="Times New Roman"/>
              </a:rPr>
              <a:t>Not-found response</a:t>
            </a:r>
          </a:p>
        </p:txBody>
      </p:sp>
      <p:sp>
        <p:nvSpPr>
          <p:cNvPr id="81" name="TextBox 80"/>
          <p:cNvSpPr txBox="1"/>
          <p:nvPr/>
        </p:nvSpPr>
        <p:spPr>
          <a:xfrm>
            <a:off x="5682459" y="7792256"/>
            <a:ext cx="659282" cy="177889"/>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82" name="TextBox 81"/>
          <p:cNvSpPr txBox="1"/>
          <p:nvPr/>
        </p:nvSpPr>
        <p:spPr>
          <a:xfrm>
            <a:off x="744700" y="8173256"/>
            <a:ext cx="303771" cy="177889"/>
          </a:xfrm>
          <a:prstGeom prst="rect">
            <a:avLst/>
          </a:prstGeom>
          <a:noFill/>
        </p:spPr>
        <p:txBody>
          <a:bodyPr wrap="none" lIns="0" tIns="0" rIns="0" bIns="0" anchor="t">
            <a:spAutoFit/>
          </a:bodyPr>
          <a:lstStyle/>
          <a:p>
            <a:pPr algn="l"/>
            <a:r>
              <a:rPr sz="1050" b="0" i="0">
                <a:solidFill>
                  <a:srgbClr val="000000"/>
                </a:solidFill>
                <a:latin typeface="Times New Roman"/>
              </a:rPr>
              <a:t>TC10</a:t>
            </a:r>
          </a:p>
        </p:txBody>
      </p:sp>
      <p:sp>
        <p:nvSpPr>
          <p:cNvPr id="83" name="TextBox 82"/>
          <p:cNvSpPr txBox="1"/>
          <p:nvPr/>
        </p:nvSpPr>
        <p:spPr>
          <a:xfrm>
            <a:off x="1979140" y="8173256"/>
            <a:ext cx="1085069" cy="177889"/>
          </a:xfrm>
          <a:prstGeom prst="rect">
            <a:avLst/>
          </a:prstGeom>
          <a:noFill/>
        </p:spPr>
        <p:txBody>
          <a:bodyPr wrap="none" lIns="0" tIns="0" rIns="0" bIns="0" anchor="t">
            <a:spAutoFit/>
          </a:bodyPr>
          <a:lstStyle/>
          <a:p>
            <a:pPr algn="l"/>
            <a:r>
              <a:rPr sz="1050" b="0" i="0">
                <a:solidFill>
                  <a:srgbClr val="000000"/>
                </a:solidFill>
                <a:latin typeface="Times New Roman"/>
              </a:rPr>
              <a:t>Unauthorized action</a:t>
            </a:r>
          </a:p>
        </p:txBody>
      </p:sp>
      <p:sp>
        <p:nvSpPr>
          <p:cNvPr id="84" name="TextBox 83"/>
          <p:cNvSpPr txBox="1"/>
          <p:nvPr/>
        </p:nvSpPr>
        <p:spPr>
          <a:xfrm>
            <a:off x="3213580" y="8097056"/>
            <a:ext cx="837304" cy="177889"/>
          </a:xfrm>
          <a:prstGeom prst="rect">
            <a:avLst/>
          </a:prstGeom>
          <a:noFill/>
        </p:spPr>
        <p:txBody>
          <a:bodyPr wrap="none" lIns="0" tIns="0" rIns="0" bIns="0" anchor="t">
            <a:spAutoFit/>
          </a:bodyPr>
          <a:lstStyle/>
          <a:p>
            <a:pPr algn="ctr"/>
            <a:r>
              <a:rPr sz="1050" b="0" i="0">
                <a:solidFill>
                  <a:srgbClr val="000000"/>
                </a:solidFill>
                <a:latin typeface="Times New Roman"/>
              </a:rPr>
              <a:t>Missing/invalid</a:t>
            </a:r>
          </a:p>
        </p:txBody>
      </p:sp>
      <p:sp>
        <p:nvSpPr>
          <p:cNvPr id="85" name="TextBox 84"/>
          <p:cNvSpPr txBox="1"/>
          <p:nvPr/>
        </p:nvSpPr>
        <p:spPr>
          <a:xfrm>
            <a:off x="3213580" y="8249456"/>
            <a:ext cx="703687" cy="177889"/>
          </a:xfrm>
          <a:prstGeom prst="rect">
            <a:avLst/>
          </a:prstGeom>
          <a:noFill/>
        </p:spPr>
        <p:txBody>
          <a:bodyPr wrap="none" lIns="0" tIns="0" rIns="0" bIns="0" anchor="t">
            <a:spAutoFit/>
          </a:bodyPr>
          <a:lstStyle/>
          <a:p>
            <a:pPr algn="ctr"/>
            <a:r>
              <a:rPr sz="1050" b="0" i="0">
                <a:solidFill>
                  <a:srgbClr val="000000"/>
                </a:solidFill>
                <a:latin typeface="Times New Roman"/>
              </a:rPr>
              <a:t>authorization</a:t>
            </a:r>
          </a:p>
        </p:txBody>
      </p:sp>
      <p:sp>
        <p:nvSpPr>
          <p:cNvPr id="86" name="TextBox 85"/>
          <p:cNvSpPr txBox="1"/>
          <p:nvPr/>
        </p:nvSpPr>
        <p:spPr>
          <a:xfrm>
            <a:off x="4448019" y="8173256"/>
            <a:ext cx="766495" cy="177889"/>
          </a:xfrm>
          <a:prstGeom prst="rect">
            <a:avLst/>
          </a:prstGeom>
          <a:noFill/>
        </p:spPr>
        <p:txBody>
          <a:bodyPr wrap="none" lIns="0" tIns="0" rIns="0" bIns="0" anchor="t">
            <a:spAutoFit/>
          </a:bodyPr>
          <a:lstStyle/>
          <a:p>
            <a:pPr algn="l"/>
            <a:r>
              <a:rPr sz="1050" b="0" i="0">
                <a:solidFill>
                  <a:srgbClr val="000000"/>
                </a:solidFill>
                <a:latin typeface="Times New Roman"/>
              </a:rPr>
              <a:t>Access denied</a:t>
            </a:r>
          </a:p>
        </p:txBody>
      </p:sp>
      <p:sp>
        <p:nvSpPr>
          <p:cNvPr id="87" name="TextBox 86"/>
          <p:cNvSpPr txBox="1"/>
          <p:nvPr/>
        </p:nvSpPr>
        <p:spPr>
          <a:xfrm>
            <a:off x="5682459" y="8173256"/>
            <a:ext cx="659282" cy="177889"/>
          </a:xfrm>
          <a:prstGeom prst="rect">
            <a:avLst/>
          </a:prstGeom>
          <a:noFill/>
        </p:spPr>
        <p:txBody>
          <a:bodyPr wrap="none" lIns="0" tIns="0" rIns="0" bIns="0" anchor="t">
            <a:spAutoFit/>
          </a:bodyPr>
          <a:lstStyle/>
          <a:p>
            <a:pPr algn="l"/>
            <a:r>
              <a:rPr sz="1050" b="0" i="0">
                <a:solidFill>
                  <a:srgbClr val="000000"/>
                </a:solidFill>
                <a:latin typeface="Times New Roman"/>
              </a:rPr>
              <a:t>Pass/Record</a:t>
            </a:r>
          </a:p>
        </p:txBody>
      </p:sp>
      <p:sp>
        <p:nvSpPr>
          <p:cNvPr id="88" name="TextBox 87"/>
          <p:cNvSpPr txBox="1"/>
          <p:nvPr/>
        </p:nvSpPr>
        <p:spPr>
          <a:xfrm>
            <a:off x="944880" y="847095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“Pass/Record” notation is intentionally provided so that the team can enter the exact result</a:t>
            </a:r>
          </a:p>
        </p:txBody>
      </p:sp>
      <p:sp>
        <p:nvSpPr>
          <p:cNvPr id="89" name="TextBox 88"/>
          <p:cNvSpPr txBox="1"/>
          <p:nvPr/>
        </p:nvSpPr>
        <p:spPr>
          <a:xfrm>
            <a:off x="716280" y="864875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observed during their final testing session rather than claiming a result that was not measured in this</a:t>
            </a:r>
          </a:p>
        </p:txBody>
      </p:sp>
      <p:sp>
        <p:nvSpPr>
          <p:cNvPr id="90" name="TextBox 89"/>
          <p:cNvSpPr txBox="1"/>
          <p:nvPr/>
        </p:nvSpPr>
        <p:spPr>
          <a:xfrm>
            <a:off x="716280" y="8826550"/>
            <a:ext cx="402031" cy="203301"/>
          </a:xfrm>
          <a:prstGeom prst="rect">
            <a:avLst/>
          </a:prstGeom>
          <a:noFill/>
        </p:spPr>
        <p:txBody>
          <a:bodyPr wrap="none" lIns="0" tIns="0" rIns="0" bIns="0" anchor="t">
            <a:spAutoFit/>
          </a:bodyPr>
          <a:lstStyle/>
          <a:p>
            <a:pPr algn="l"/>
            <a:r>
              <a:rPr sz="1200" b="0" i="0">
                <a:solidFill>
                  <a:srgbClr val="000000"/>
                </a:solidFill>
                <a:latin typeface="Times New Roman"/>
              </a:rPr>
              <a:t>report.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27</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394277" y="579322"/>
            <a:ext cx="2771444" cy="281432"/>
          </a:xfrm>
          <a:prstGeom prst="rect">
            <a:avLst/>
          </a:prstGeom>
          <a:noFill/>
        </p:spPr>
        <p:txBody>
          <a:bodyPr wrap="none" lIns="0" tIns="0" rIns="0" bIns="0" anchor="t">
            <a:spAutoFit/>
          </a:bodyPr>
          <a:lstStyle/>
          <a:p>
            <a:pPr algn="ctr"/>
            <a:r>
              <a:rPr sz="1600" b="1" i="0">
                <a:solidFill>
                  <a:srgbClr val="000000"/>
                </a:solidFill>
                <a:latin typeface="Times New Roman"/>
              </a:rPr>
              <a:t>CHAPTER - 9 DEPLOYMENT</a:t>
            </a:r>
          </a:p>
        </p:txBody>
      </p:sp>
      <p:sp>
        <p:nvSpPr>
          <p:cNvPr id="5" name="TextBox 4"/>
          <p:cNvSpPr txBox="1"/>
          <p:nvPr/>
        </p:nvSpPr>
        <p:spPr>
          <a:xfrm>
            <a:off x="716280" y="948740"/>
            <a:ext cx="1442135" cy="246252"/>
          </a:xfrm>
          <a:prstGeom prst="rect">
            <a:avLst/>
          </a:prstGeom>
          <a:noFill/>
        </p:spPr>
        <p:txBody>
          <a:bodyPr wrap="none" lIns="0" tIns="0" rIns="0" bIns="0" anchor="t">
            <a:spAutoFit/>
          </a:bodyPr>
          <a:lstStyle/>
          <a:p>
            <a:pPr algn="l"/>
            <a:r>
              <a:rPr sz="1400" b="1" i="0">
                <a:solidFill>
                  <a:srgbClr val="000000"/>
                </a:solidFill>
                <a:latin typeface="Times New Roman"/>
              </a:rPr>
              <a:t>9.1 Steps to Deploy</a:t>
            </a:r>
          </a:p>
        </p:txBody>
      </p:sp>
      <p:sp>
        <p:nvSpPr>
          <p:cNvPr id="6" name="TextBox 5"/>
          <p:cNvSpPr txBox="1"/>
          <p:nvPr/>
        </p:nvSpPr>
        <p:spPr>
          <a:xfrm>
            <a:off x="944880" y="1227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Deployment should be performed in a controlled sequence: prepare the runtime, install</a:t>
            </a:r>
          </a:p>
        </p:txBody>
      </p:sp>
      <p:sp>
        <p:nvSpPr>
          <p:cNvPr id="7" name="TextBox 6"/>
          <p:cNvSpPr txBox="1"/>
          <p:nvPr/>
        </p:nvSpPr>
        <p:spPr>
          <a:xfrm>
            <a:off x="716280" y="1405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dependencies, configure the database, configure environment variables, start the server, and verify</a:t>
            </a:r>
          </a:p>
        </p:txBody>
      </p:sp>
      <p:sp>
        <p:nvSpPr>
          <p:cNvPr id="8" name="TextBox 7"/>
          <p:cNvSpPr txBox="1"/>
          <p:nvPr/>
        </p:nvSpPr>
        <p:spPr>
          <a:xfrm>
            <a:off x="716280" y="15834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the API. This sequence reduces the chance of confusing an environment problem with an application</a:t>
            </a:r>
          </a:p>
        </p:txBody>
      </p:sp>
      <p:sp>
        <p:nvSpPr>
          <p:cNvPr id="9" name="TextBox 8"/>
          <p:cNvSpPr txBox="1"/>
          <p:nvPr/>
        </p:nvSpPr>
        <p:spPr>
          <a:xfrm>
            <a:off x="716280" y="1761286"/>
            <a:ext cx="546049" cy="203301"/>
          </a:xfrm>
          <a:prstGeom prst="rect">
            <a:avLst/>
          </a:prstGeom>
          <a:noFill/>
        </p:spPr>
        <p:txBody>
          <a:bodyPr wrap="none" lIns="0" tIns="0" rIns="0" bIns="0" anchor="t">
            <a:spAutoFit/>
          </a:bodyPr>
          <a:lstStyle/>
          <a:p>
            <a:pPr algn="l"/>
            <a:r>
              <a:rPr sz="1200" b="0" i="0">
                <a:solidFill>
                  <a:srgbClr val="000000"/>
                </a:solidFill>
                <a:latin typeface="Times New Roman"/>
              </a:rPr>
              <a:t>problem.</a:t>
            </a:r>
          </a:p>
        </p:txBody>
      </p:sp>
      <p:sp>
        <p:nvSpPr>
          <p:cNvPr id="10" name="TextBox 9"/>
          <p:cNvSpPr txBox="1"/>
          <p:nvPr/>
        </p:nvSpPr>
        <p:spPr>
          <a:xfrm>
            <a:off x="944880" y="19898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A final smoke test should cover at least one read operation, one create or update operation, one</a:t>
            </a:r>
          </a:p>
        </p:txBody>
      </p:sp>
      <p:sp>
        <p:nvSpPr>
          <p:cNvPr id="11" name="TextBox 10"/>
          <p:cNvSpPr txBox="1"/>
          <p:nvPr/>
        </p:nvSpPr>
        <p:spPr>
          <a:xfrm>
            <a:off x="716280" y="2167686"/>
            <a:ext cx="3466642" cy="203301"/>
          </a:xfrm>
          <a:prstGeom prst="rect">
            <a:avLst/>
          </a:prstGeom>
          <a:noFill/>
        </p:spPr>
        <p:txBody>
          <a:bodyPr wrap="none" lIns="0" tIns="0" rIns="0" bIns="0" anchor="t">
            <a:spAutoFit/>
          </a:bodyPr>
          <a:lstStyle/>
          <a:p>
            <a:pPr algn="l"/>
            <a:r>
              <a:rPr sz="1200" b="0" i="0">
                <a:solidFill>
                  <a:srgbClr val="000000"/>
                </a:solidFill>
                <a:latin typeface="Times New Roman"/>
              </a:rPr>
              <a:t>stock-changing operation, and one monitoring operation.</a:t>
            </a:r>
          </a:p>
        </p:txBody>
      </p:sp>
      <p:sp>
        <p:nvSpPr>
          <p:cNvPr id="12" name="TextBox 11"/>
          <p:cNvSpPr txBox="1"/>
          <p:nvPr/>
        </p:nvSpPr>
        <p:spPr>
          <a:xfrm>
            <a:off x="944880" y="23962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Deployment begins by preparing the Node.js project and installing the required npm</a:t>
            </a:r>
          </a:p>
        </p:txBody>
      </p:sp>
      <p:sp>
        <p:nvSpPr>
          <p:cNvPr id="13" name="TextBox 12"/>
          <p:cNvSpPr txBox="1"/>
          <p:nvPr/>
        </p:nvSpPr>
        <p:spPr>
          <a:xfrm>
            <a:off x="716280" y="25740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dependencies. The project source should be copied to the target machine or retrieved from the</a:t>
            </a:r>
          </a:p>
        </p:txBody>
      </p:sp>
      <p:sp>
        <p:nvSpPr>
          <p:cNvPr id="14" name="TextBox 13"/>
          <p:cNvSpPr txBox="1"/>
          <p:nvPr/>
        </p:nvSpPr>
        <p:spPr>
          <a:xfrm>
            <a:off x="716280" y="27518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version-control repository. The database connection configuration must then be provided through</a:t>
            </a:r>
          </a:p>
        </p:txBody>
      </p:sp>
      <p:sp>
        <p:nvSpPr>
          <p:cNvPr id="15" name="TextBox 14"/>
          <p:cNvSpPr txBox="1"/>
          <p:nvPr/>
        </p:nvSpPr>
        <p:spPr>
          <a:xfrm>
            <a:off x="716280" y="2929686"/>
            <a:ext cx="3170225" cy="203301"/>
          </a:xfrm>
          <a:prstGeom prst="rect">
            <a:avLst/>
          </a:prstGeom>
          <a:noFill/>
        </p:spPr>
        <p:txBody>
          <a:bodyPr wrap="none" lIns="0" tIns="0" rIns="0" bIns="0" anchor="t">
            <a:spAutoFit/>
          </a:bodyPr>
          <a:lstStyle/>
          <a:p>
            <a:pPr algn="l"/>
            <a:r>
              <a:rPr sz="1200" b="0" i="0">
                <a:solidFill>
                  <a:srgbClr val="000000"/>
                </a:solidFill>
                <a:latin typeface="Times New Roman"/>
              </a:rPr>
              <a:t>the environment configuration used by the backend.</a:t>
            </a:r>
          </a:p>
        </p:txBody>
      </p:sp>
      <p:sp>
        <p:nvSpPr>
          <p:cNvPr id="16" name="TextBox 15"/>
          <p:cNvSpPr txBox="1"/>
          <p:nvPr/>
        </p:nvSpPr>
        <p:spPr>
          <a:xfrm>
            <a:off x="944880" y="31582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next step is to start the Node.js server using the project’s configured npm script or Node.js</a:t>
            </a:r>
          </a:p>
        </p:txBody>
      </p:sp>
      <p:sp>
        <p:nvSpPr>
          <p:cNvPr id="17" name="TextBox 16"/>
          <p:cNvSpPr txBox="1"/>
          <p:nvPr/>
        </p:nvSpPr>
        <p:spPr>
          <a:xfrm>
            <a:off x="716280" y="3336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entry point. The server should be checked for startup errors and the API base address should be</a:t>
            </a:r>
          </a:p>
        </p:txBody>
      </p:sp>
      <p:sp>
        <p:nvSpPr>
          <p:cNvPr id="18" name="TextBox 17"/>
          <p:cNvSpPr txBox="1"/>
          <p:nvPr/>
        </p:nvSpPr>
        <p:spPr>
          <a:xfrm>
            <a:off x="716280" y="3513886"/>
            <a:ext cx="1443532" cy="203301"/>
          </a:xfrm>
          <a:prstGeom prst="rect">
            <a:avLst/>
          </a:prstGeom>
          <a:noFill/>
        </p:spPr>
        <p:txBody>
          <a:bodyPr wrap="none" lIns="0" tIns="0" rIns="0" bIns="0" anchor="t">
            <a:spAutoFit/>
          </a:bodyPr>
          <a:lstStyle/>
          <a:p>
            <a:pPr algn="l"/>
            <a:r>
              <a:rPr sz="1200" b="0" i="0">
                <a:solidFill>
                  <a:srgbClr val="000000"/>
                </a:solidFill>
                <a:latin typeface="Times New Roman"/>
              </a:rPr>
              <a:t>verified using Postman.</a:t>
            </a:r>
          </a:p>
        </p:txBody>
      </p:sp>
      <p:sp>
        <p:nvSpPr>
          <p:cNvPr id="19" name="TextBox 18"/>
          <p:cNvSpPr txBox="1"/>
          <p:nvPr/>
        </p:nvSpPr>
        <p:spPr>
          <a:xfrm>
            <a:off x="944880" y="37424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Once the backend is running, the core APIs should be tested again in the deployment</a:t>
            </a:r>
          </a:p>
        </p:txBody>
      </p:sp>
      <p:sp>
        <p:nvSpPr>
          <p:cNvPr id="20" name="TextBox 19"/>
          <p:cNvSpPr txBox="1"/>
          <p:nvPr/>
        </p:nvSpPr>
        <p:spPr>
          <a:xfrm>
            <a:off x="716280" y="39202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environment. Database connectivity, CRUD operations, purchase and sales flows, and monitoring</a:t>
            </a:r>
          </a:p>
        </p:txBody>
      </p:sp>
      <p:sp>
        <p:nvSpPr>
          <p:cNvPr id="21" name="TextBox 20"/>
          <p:cNvSpPr txBox="1"/>
          <p:nvPr/>
        </p:nvSpPr>
        <p:spPr>
          <a:xfrm>
            <a:off x="716280" y="4098086"/>
            <a:ext cx="4401617" cy="203301"/>
          </a:xfrm>
          <a:prstGeom prst="rect">
            <a:avLst/>
          </a:prstGeom>
          <a:noFill/>
        </p:spPr>
        <p:txBody>
          <a:bodyPr wrap="none" lIns="0" tIns="0" rIns="0" bIns="0" anchor="t">
            <a:spAutoFit/>
          </a:bodyPr>
          <a:lstStyle/>
          <a:p>
            <a:pPr algn="l"/>
            <a:r>
              <a:rPr sz="1200" b="0" i="0">
                <a:solidFill>
                  <a:srgbClr val="000000"/>
                </a:solidFill>
                <a:latin typeface="Times New Roman"/>
              </a:rPr>
              <a:t>queries should be verified before the system is considered ready for use.</a:t>
            </a:r>
          </a:p>
        </p:txBody>
      </p:sp>
      <p:sp>
        <p:nvSpPr>
          <p:cNvPr id="22" name="TextBox 21"/>
          <p:cNvSpPr txBox="1"/>
          <p:nvPr/>
        </p:nvSpPr>
        <p:spPr>
          <a:xfrm>
            <a:off x="716280" y="4326686"/>
            <a:ext cx="2135733" cy="203301"/>
          </a:xfrm>
          <a:prstGeom prst="rect">
            <a:avLst/>
          </a:prstGeom>
          <a:noFill/>
        </p:spPr>
        <p:txBody>
          <a:bodyPr wrap="none" lIns="0" tIns="0" rIns="0" bIns="0" anchor="t">
            <a:spAutoFit/>
          </a:bodyPr>
          <a:lstStyle/>
          <a:p>
            <a:pPr algn="l"/>
            <a:r>
              <a:rPr sz="1200" b="0" i="0">
                <a:solidFill>
                  <a:srgbClr val="000000"/>
                </a:solidFill>
                <a:latin typeface="Times New Roman"/>
              </a:rPr>
              <a:t>• Prepare the Node.js environment.</a:t>
            </a:r>
          </a:p>
        </p:txBody>
      </p:sp>
      <p:sp>
        <p:nvSpPr>
          <p:cNvPr id="23" name="TextBox 22"/>
          <p:cNvSpPr txBox="1"/>
          <p:nvPr/>
        </p:nvSpPr>
        <p:spPr>
          <a:xfrm>
            <a:off x="716280" y="4555286"/>
            <a:ext cx="2114550" cy="203301"/>
          </a:xfrm>
          <a:prstGeom prst="rect">
            <a:avLst/>
          </a:prstGeom>
          <a:noFill/>
        </p:spPr>
        <p:txBody>
          <a:bodyPr wrap="none" lIns="0" tIns="0" rIns="0" bIns="0" anchor="t">
            <a:spAutoFit/>
          </a:bodyPr>
          <a:lstStyle/>
          <a:p>
            <a:pPr algn="l"/>
            <a:r>
              <a:rPr sz="1200" b="0" i="0">
                <a:solidFill>
                  <a:srgbClr val="000000"/>
                </a:solidFill>
                <a:latin typeface="Times New Roman"/>
              </a:rPr>
              <a:t>• Copy or clone the project source.</a:t>
            </a:r>
          </a:p>
        </p:txBody>
      </p:sp>
      <p:sp>
        <p:nvSpPr>
          <p:cNvPr id="24" name="TextBox 23"/>
          <p:cNvSpPr txBox="1"/>
          <p:nvPr/>
        </p:nvSpPr>
        <p:spPr>
          <a:xfrm>
            <a:off x="716280" y="4783886"/>
            <a:ext cx="2047036" cy="203301"/>
          </a:xfrm>
          <a:prstGeom prst="rect">
            <a:avLst/>
          </a:prstGeom>
          <a:noFill/>
        </p:spPr>
        <p:txBody>
          <a:bodyPr wrap="none" lIns="0" tIns="0" rIns="0" bIns="0" anchor="t">
            <a:spAutoFit/>
          </a:bodyPr>
          <a:lstStyle/>
          <a:p>
            <a:pPr algn="l"/>
            <a:r>
              <a:rPr sz="1200" b="0" i="0">
                <a:solidFill>
                  <a:srgbClr val="000000"/>
                </a:solidFill>
                <a:latin typeface="Times New Roman"/>
              </a:rPr>
              <a:t>• Install dependencies using npm.</a:t>
            </a:r>
          </a:p>
        </p:txBody>
      </p:sp>
      <p:sp>
        <p:nvSpPr>
          <p:cNvPr id="25" name="TextBox 24"/>
          <p:cNvSpPr txBox="1"/>
          <p:nvPr/>
        </p:nvSpPr>
        <p:spPr>
          <a:xfrm>
            <a:off x="716280" y="5012486"/>
            <a:ext cx="2914650" cy="203301"/>
          </a:xfrm>
          <a:prstGeom prst="rect">
            <a:avLst/>
          </a:prstGeom>
          <a:noFill/>
        </p:spPr>
        <p:txBody>
          <a:bodyPr wrap="none" lIns="0" tIns="0" rIns="0" bIns="0" anchor="t">
            <a:spAutoFit/>
          </a:bodyPr>
          <a:lstStyle/>
          <a:p>
            <a:pPr algn="l"/>
            <a:r>
              <a:rPr sz="1200" b="0" i="0">
                <a:solidFill>
                  <a:srgbClr val="000000"/>
                </a:solidFill>
                <a:latin typeface="Times New Roman"/>
              </a:rPr>
              <a:t>• Configure the MongoDB connection securely.</a:t>
            </a:r>
          </a:p>
        </p:txBody>
      </p:sp>
      <p:sp>
        <p:nvSpPr>
          <p:cNvPr id="26" name="TextBox 25"/>
          <p:cNvSpPr txBox="1"/>
          <p:nvPr/>
        </p:nvSpPr>
        <p:spPr>
          <a:xfrm>
            <a:off x="716280" y="5241086"/>
            <a:ext cx="2266950" cy="203301"/>
          </a:xfrm>
          <a:prstGeom prst="rect">
            <a:avLst/>
          </a:prstGeom>
          <a:noFill/>
        </p:spPr>
        <p:txBody>
          <a:bodyPr wrap="none" lIns="0" tIns="0" rIns="0" bIns="0" anchor="t">
            <a:spAutoFit/>
          </a:bodyPr>
          <a:lstStyle/>
          <a:p>
            <a:pPr algn="l"/>
            <a:r>
              <a:rPr sz="1200" b="0" i="0">
                <a:solidFill>
                  <a:srgbClr val="000000"/>
                </a:solidFill>
                <a:latin typeface="Times New Roman"/>
              </a:rPr>
              <a:t>• Set required environment variables.</a:t>
            </a:r>
          </a:p>
        </p:txBody>
      </p:sp>
      <p:sp>
        <p:nvSpPr>
          <p:cNvPr id="27" name="TextBox 26"/>
          <p:cNvSpPr txBox="1"/>
          <p:nvPr/>
        </p:nvSpPr>
        <p:spPr>
          <a:xfrm>
            <a:off x="716280" y="5469686"/>
            <a:ext cx="1712519" cy="203301"/>
          </a:xfrm>
          <a:prstGeom prst="rect">
            <a:avLst/>
          </a:prstGeom>
          <a:noFill/>
        </p:spPr>
        <p:txBody>
          <a:bodyPr wrap="none" lIns="0" tIns="0" rIns="0" bIns="0" anchor="t">
            <a:spAutoFit/>
          </a:bodyPr>
          <a:lstStyle/>
          <a:p>
            <a:pPr algn="l"/>
            <a:r>
              <a:rPr sz="1200" b="0" i="0">
                <a:solidFill>
                  <a:srgbClr val="000000"/>
                </a:solidFill>
                <a:latin typeface="Times New Roman"/>
              </a:rPr>
              <a:t>• Start the Express.js server.</a:t>
            </a:r>
          </a:p>
        </p:txBody>
      </p:sp>
      <p:sp>
        <p:nvSpPr>
          <p:cNvPr id="28" name="TextBox 27"/>
          <p:cNvSpPr txBox="1"/>
          <p:nvPr/>
        </p:nvSpPr>
        <p:spPr>
          <a:xfrm>
            <a:off x="716280" y="5698286"/>
            <a:ext cx="1966722" cy="203301"/>
          </a:xfrm>
          <a:prstGeom prst="rect">
            <a:avLst/>
          </a:prstGeom>
          <a:noFill/>
        </p:spPr>
        <p:txBody>
          <a:bodyPr wrap="none" lIns="0" tIns="0" rIns="0" bIns="0" anchor="t">
            <a:spAutoFit/>
          </a:bodyPr>
          <a:lstStyle/>
          <a:p>
            <a:pPr algn="l"/>
            <a:r>
              <a:rPr sz="1200" b="0" i="0">
                <a:solidFill>
                  <a:srgbClr val="000000"/>
                </a:solidFill>
                <a:latin typeface="Times New Roman"/>
              </a:rPr>
              <a:t>• Verify the API using Postman.</a:t>
            </a:r>
          </a:p>
        </p:txBody>
      </p:sp>
      <p:sp>
        <p:nvSpPr>
          <p:cNvPr id="29" name="TextBox 28"/>
          <p:cNvSpPr txBox="1"/>
          <p:nvPr/>
        </p:nvSpPr>
        <p:spPr>
          <a:xfrm>
            <a:off x="716280" y="5926886"/>
            <a:ext cx="5192115" cy="203301"/>
          </a:xfrm>
          <a:prstGeom prst="rect">
            <a:avLst/>
          </a:prstGeom>
          <a:noFill/>
        </p:spPr>
        <p:txBody>
          <a:bodyPr wrap="none" lIns="0" tIns="0" rIns="0" bIns="0" anchor="t">
            <a:spAutoFit/>
          </a:bodyPr>
          <a:lstStyle/>
          <a:p>
            <a:pPr algn="l"/>
            <a:r>
              <a:rPr sz="1200" b="0" i="0">
                <a:solidFill>
                  <a:srgbClr val="000000"/>
                </a:solidFill>
                <a:latin typeface="Times New Roman"/>
              </a:rPr>
              <a:t>• Inspect MongoDB data using MongoDB Compass or the configured database tools.</a:t>
            </a:r>
          </a:p>
        </p:txBody>
      </p:sp>
      <p:sp>
        <p:nvSpPr>
          <p:cNvPr id="30" name="TextBox 29"/>
          <p:cNvSpPr txBox="1"/>
          <p:nvPr/>
        </p:nvSpPr>
        <p:spPr>
          <a:xfrm>
            <a:off x="716280" y="6155486"/>
            <a:ext cx="4502048" cy="203301"/>
          </a:xfrm>
          <a:prstGeom prst="rect">
            <a:avLst/>
          </a:prstGeom>
          <a:noFill/>
        </p:spPr>
        <p:txBody>
          <a:bodyPr wrap="none" lIns="0" tIns="0" rIns="0" bIns="0" anchor="t">
            <a:spAutoFit/>
          </a:bodyPr>
          <a:lstStyle/>
          <a:p>
            <a:pPr algn="l"/>
            <a:r>
              <a:rPr sz="1200" b="0" i="0">
                <a:solidFill>
                  <a:srgbClr val="000000"/>
                </a:solidFill>
                <a:latin typeface="Times New Roman"/>
              </a:rPr>
              <a:t>• Repeat key functional and security tests in the deployment environment.</a:t>
            </a:r>
          </a:p>
        </p:txBody>
      </p:sp>
      <p:sp>
        <p:nvSpPr>
          <p:cNvPr id="31" name="TextBox 30"/>
          <p:cNvSpPr txBox="1"/>
          <p:nvPr/>
        </p:nvSpPr>
        <p:spPr>
          <a:xfrm>
            <a:off x="716280" y="6422440"/>
            <a:ext cx="2395499" cy="246252"/>
          </a:xfrm>
          <a:prstGeom prst="rect">
            <a:avLst/>
          </a:prstGeom>
          <a:noFill/>
        </p:spPr>
        <p:txBody>
          <a:bodyPr wrap="none" lIns="0" tIns="0" rIns="0" bIns="0" anchor="t">
            <a:spAutoFit/>
          </a:bodyPr>
          <a:lstStyle/>
          <a:p>
            <a:pPr algn="l"/>
            <a:r>
              <a:rPr sz="1400" b="1" i="0">
                <a:solidFill>
                  <a:srgbClr val="000000"/>
                </a:solidFill>
                <a:latin typeface="Times New Roman"/>
              </a:rPr>
              <a:t>9.2 Environment Configuration</a:t>
            </a:r>
          </a:p>
        </p:txBody>
      </p:sp>
      <p:sp>
        <p:nvSpPr>
          <p:cNvPr id="32" name="TextBox 31"/>
          <p:cNvSpPr txBox="1"/>
          <p:nvPr/>
        </p:nvSpPr>
        <p:spPr>
          <a:xfrm>
            <a:off x="944880" y="67015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Environment configuration is especially important because database connection strings and</a:t>
            </a:r>
          </a:p>
        </p:txBody>
      </p:sp>
      <p:sp>
        <p:nvSpPr>
          <p:cNvPr id="33" name="TextBox 32"/>
          <p:cNvSpPr txBox="1"/>
          <p:nvPr/>
        </p:nvSpPr>
        <p:spPr>
          <a:xfrm>
            <a:off x="716280" y="68793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authentication secrets vary between machines. A sample environment file can document required</a:t>
            </a:r>
          </a:p>
        </p:txBody>
      </p:sp>
      <p:sp>
        <p:nvSpPr>
          <p:cNvPr id="34" name="TextBox 33"/>
          <p:cNvSpPr txBox="1"/>
          <p:nvPr/>
        </p:nvSpPr>
        <p:spPr>
          <a:xfrm>
            <a:off x="716280" y="7057186"/>
            <a:ext cx="3149041" cy="203301"/>
          </a:xfrm>
          <a:prstGeom prst="rect">
            <a:avLst/>
          </a:prstGeom>
          <a:noFill/>
        </p:spPr>
        <p:txBody>
          <a:bodyPr wrap="none" lIns="0" tIns="0" rIns="0" bIns="0" anchor="t">
            <a:spAutoFit/>
          </a:bodyPr>
          <a:lstStyle/>
          <a:p>
            <a:pPr algn="l"/>
            <a:r>
              <a:rPr sz="1200" b="0" i="0">
                <a:solidFill>
                  <a:srgbClr val="000000"/>
                </a:solidFill>
                <a:latin typeface="Times New Roman"/>
              </a:rPr>
              <a:t>variable names without exposing actual credentials.</a:t>
            </a:r>
          </a:p>
        </p:txBody>
      </p:sp>
      <p:sp>
        <p:nvSpPr>
          <p:cNvPr id="35" name="TextBox 34"/>
          <p:cNvSpPr txBox="1"/>
          <p:nvPr/>
        </p:nvSpPr>
        <p:spPr>
          <a:xfrm>
            <a:off x="944880" y="72857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production configuration should use stronger access restrictions and should not reuse</a:t>
            </a:r>
          </a:p>
        </p:txBody>
      </p:sp>
      <p:sp>
        <p:nvSpPr>
          <p:cNvPr id="36" name="TextBox 35"/>
          <p:cNvSpPr txBox="1"/>
          <p:nvPr/>
        </p:nvSpPr>
        <p:spPr>
          <a:xfrm>
            <a:off x="716280" y="7463586"/>
            <a:ext cx="1278178" cy="203301"/>
          </a:xfrm>
          <a:prstGeom prst="rect">
            <a:avLst/>
          </a:prstGeom>
          <a:noFill/>
        </p:spPr>
        <p:txBody>
          <a:bodyPr wrap="none" lIns="0" tIns="0" rIns="0" bIns="0" anchor="t">
            <a:spAutoFit/>
          </a:bodyPr>
          <a:lstStyle/>
          <a:p>
            <a:pPr algn="l"/>
            <a:r>
              <a:rPr sz="1200" b="0" i="0">
                <a:solidFill>
                  <a:srgbClr val="000000"/>
                </a:solidFill>
                <a:latin typeface="Times New Roman"/>
              </a:rPr>
              <a:t>development secrets.</a:t>
            </a:r>
          </a:p>
        </p:txBody>
      </p:sp>
      <p:sp>
        <p:nvSpPr>
          <p:cNvPr id="37" name="TextBox 36"/>
          <p:cNvSpPr txBox="1"/>
          <p:nvPr/>
        </p:nvSpPr>
        <p:spPr>
          <a:xfrm>
            <a:off x="944880" y="76921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Environment configuration separates sensitive and environment-specific values from the</a:t>
            </a:r>
          </a:p>
        </p:txBody>
      </p:sp>
      <p:sp>
        <p:nvSpPr>
          <p:cNvPr id="38" name="TextBox 37"/>
          <p:cNvSpPr txBox="1"/>
          <p:nvPr/>
        </p:nvSpPr>
        <p:spPr>
          <a:xfrm>
            <a:off x="716280" y="78699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application source code. The MongoDB connection string, server port, and authentication secrets</a:t>
            </a:r>
          </a:p>
        </p:txBody>
      </p:sp>
      <p:sp>
        <p:nvSpPr>
          <p:cNvPr id="39" name="TextBox 38"/>
          <p:cNvSpPr txBox="1"/>
          <p:nvPr/>
        </p:nvSpPr>
        <p:spPr>
          <a:xfrm>
            <a:off x="716280" y="8047786"/>
            <a:ext cx="5756453" cy="203301"/>
          </a:xfrm>
          <a:prstGeom prst="rect">
            <a:avLst/>
          </a:prstGeom>
          <a:noFill/>
        </p:spPr>
        <p:txBody>
          <a:bodyPr wrap="none" lIns="0" tIns="0" rIns="0" bIns="0" anchor="t">
            <a:spAutoFit/>
          </a:bodyPr>
          <a:lstStyle/>
          <a:p>
            <a:pPr algn="ctr"/>
            <a:r>
              <a:rPr sz="1200" b="0" i="0">
                <a:solidFill>
                  <a:srgbClr val="000000"/>
                </a:solidFill>
                <a:latin typeface="Times New Roman"/>
              </a:rPr>
              <a:t>should be supplied through environment variables rather than hard-coded into JavaScript files.</a:t>
            </a:r>
          </a:p>
        </p:txBody>
      </p:sp>
      <p:sp>
        <p:nvSpPr>
          <p:cNvPr id="40" name="TextBox 39"/>
          <p:cNvSpPr txBox="1"/>
          <p:nvPr/>
        </p:nvSpPr>
        <p:spPr>
          <a:xfrm>
            <a:off x="944880" y="82763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A typical development environment may contain variables for the database connection and</a:t>
            </a:r>
          </a:p>
        </p:txBody>
      </p:sp>
      <p:sp>
        <p:nvSpPr>
          <p:cNvPr id="41" name="TextBox 40"/>
          <p:cNvSpPr txBox="1"/>
          <p:nvPr/>
        </p:nvSpPr>
        <p:spPr>
          <a:xfrm>
            <a:off x="716280" y="8454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application port. Production environments should use stronger secrets, restricted database access,</a:t>
            </a:r>
          </a:p>
        </p:txBody>
      </p:sp>
      <p:sp>
        <p:nvSpPr>
          <p:cNvPr id="42" name="TextBox 41"/>
          <p:cNvSpPr txBox="1"/>
          <p:nvPr/>
        </p:nvSpPr>
        <p:spPr>
          <a:xfrm>
            <a:off x="716280" y="8631986"/>
            <a:ext cx="2971647" cy="203301"/>
          </a:xfrm>
          <a:prstGeom prst="rect">
            <a:avLst/>
          </a:prstGeom>
          <a:noFill/>
        </p:spPr>
        <p:txBody>
          <a:bodyPr wrap="none" lIns="0" tIns="0" rIns="0" bIns="0" anchor="t">
            <a:spAutoFit/>
          </a:bodyPr>
          <a:lstStyle/>
          <a:p>
            <a:pPr algn="l"/>
            <a:r>
              <a:rPr sz="1200" b="0" i="0">
                <a:solidFill>
                  <a:srgbClr val="000000"/>
                </a:solidFill>
                <a:latin typeface="Times New Roman"/>
              </a:rPr>
              <a:t>and appropriate logging and monitoring settings.</a:t>
            </a:r>
          </a:p>
        </p:txBody>
      </p:sp>
      <p:sp>
        <p:nvSpPr>
          <p:cNvPr id="43" name="TextBox 42"/>
          <p:cNvSpPr txBox="1"/>
          <p:nvPr/>
        </p:nvSpPr>
        <p:spPr>
          <a:xfrm>
            <a:off x="944880" y="88605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environment configuration should never be committed to a public source-control repository</a:t>
            </a:r>
          </a:p>
        </p:txBody>
      </p:sp>
      <p:sp>
        <p:nvSpPr>
          <p:cNvPr id="44" name="TextBox 43"/>
          <p:cNvSpPr txBox="1"/>
          <p:nvPr/>
        </p:nvSpPr>
        <p:spPr>
          <a:xfrm>
            <a:off x="716280" y="9038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when it contains credentials or private connection information. A sample configuration file can</a:t>
            </a:r>
          </a:p>
        </p:txBody>
      </p:sp>
      <p:sp>
        <p:nvSpPr>
          <p:cNvPr id="45" name="TextBox 44"/>
          <p:cNvSpPr txBox="1"/>
          <p:nvPr/>
        </p:nvSpPr>
        <p:spPr>
          <a:xfrm>
            <a:off x="716280" y="9216186"/>
            <a:ext cx="4287621" cy="203301"/>
          </a:xfrm>
          <a:prstGeom prst="rect">
            <a:avLst/>
          </a:prstGeom>
          <a:noFill/>
        </p:spPr>
        <p:txBody>
          <a:bodyPr wrap="none" lIns="0" tIns="0" rIns="0" bIns="0" anchor="t">
            <a:spAutoFit/>
          </a:bodyPr>
          <a:lstStyle/>
          <a:p>
            <a:pPr algn="l"/>
            <a:r>
              <a:rPr sz="1200" b="0" i="0">
                <a:solidFill>
                  <a:srgbClr val="000000"/>
                </a:solidFill>
                <a:latin typeface="Times New Roman"/>
              </a:rPr>
              <a:t>document the required variable names without exposing actual values.</a:t>
            </a:r>
          </a:p>
        </p:txBody>
      </p:sp>
      <p:sp>
        <p:nvSpPr>
          <p:cNvPr id="46" name="TextBox 45"/>
          <p:cNvSpPr txBox="1"/>
          <p:nvPr/>
        </p:nvSpPr>
        <p:spPr>
          <a:xfrm>
            <a:off x="1833166" y="9507956"/>
            <a:ext cx="807567" cy="184689"/>
          </a:xfrm>
          <a:prstGeom prst="rect">
            <a:avLst/>
          </a:prstGeom>
          <a:noFill/>
        </p:spPr>
        <p:txBody>
          <a:bodyPr wrap="none" lIns="0" tIns="0" rIns="0" bIns="0" anchor="t">
            <a:spAutoFit/>
          </a:bodyPr>
          <a:lstStyle/>
          <a:p>
            <a:pPr algn="l"/>
            <a:r>
              <a:rPr sz="1050" b="1" i="0">
                <a:solidFill>
                  <a:srgbClr val="000000"/>
                </a:solidFill>
                <a:latin typeface="Times New Roman"/>
              </a:rPr>
              <a:t>Configuration</a:t>
            </a:r>
          </a:p>
        </p:txBody>
      </p:sp>
      <p:sp>
        <p:nvSpPr>
          <p:cNvPr id="47" name="TextBox 46"/>
          <p:cNvSpPr txBox="1"/>
          <p:nvPr/>
        </p:nvSpPr>
        <p:spPr>
          <a:xfrm>
            <a:off x="5089687" y="9507956"/>
            <a:ext cx="466724" cy="184689"/>
          </a:xfrm>
          <a:prstGeom prst="rect">
            <a:avLst/>
          </a:prstGeom>
          <a:noFill/>
        </p:spPr>
        <p:txBody>
          <a:bodyPr wrap="none" lIns="0" tIns="0" rIns="0" bIns="0" anchor="t">
            <a:spAutoFit/>
          </a:bodyPr>
          <a:lstStyle/>
          <a:p>
            <a:pPr algn="l"/>
            <a:r>
              <a:rPr sz="1050" b="1" i="0">
                <a:solidFill>
                  <a:srgbClr val="000000"/>
                </a:solidFill>
                <a:latin typeface="Times New Roman"/>
              </a:rPr>
              <a:t>Purpose</a:t>
            </a:r>
          </a:p>
        </p:txBody>
      </p:sp>
      <p:sp>
        <p:nvSpPr>
          <p:cNvPr id="48" name="TextBox 47"/>
          <p:cNvSpPr txBox="1"/>
          <p:nvPr/>
        </p:nvSpPr>
        <p:spPr>
          <a:xfrm>
            <a:off x="744700" y="9735356"/>
            <a:ext cx="340842" cy="177889"/>
          </a:xfrm>
          <a:prstGeom prst="rect">
            <a:avLst/>
          </a:prstGeom>
          <a:noFill/>
        </p:spPr>
        <p:txBody>
          <a:bodyPr wrap="none" lIns="0" tIns="0" rIns="0" bIns="0" anchor="t">
            <a:spAutoFit/>
          </a:bodyPr>
          <a:lstStyle/>
          <a:p>
            <a:pPr algn="l"/>
            <a:r>
              <a:rPr sz="1050" b="0" i="0">
                <a:solidFill>
                  <a:srgbClr val="000000"/>
                </a:solidFill>
                <a:latin typeface="Times New Roman"/>
              </a:rPr>
              <a:t>PORT</a:t>
            </a:r>
          </a:p>
        </p:txBody>
      </p:sp>
      <p:sp>
        <p:nvSpPr>
          <p:cNvPr id="49" name="TextBox 48"/>
          <p:cNvSpPr txBox="1"/>
          <p:nvPr/>
        </p:nvSpPr>
        <p:spPr>
          <a:xfrm>
            <a:off x="3830799" y="9735356"/>
            <a:ext cx="2122265" cy="177889"/>
          </a:xfrm>
          <a:prstGeom prst="rect">
            <a:avLst/>
          </a:prstGeom>
          <a:noFill/>
        </p:spPr>
        <p:txBody>
          <a:bodyPr wrap="none" lIns="0" tIns="0" rIns="0" bIns="0" anchor="t">
            <a:spAutoFit/>
          </a:bodyPr>
          <a:lstStyle/>
          <a:p>
            <a:pPr algn="l"/>
            <a:r>
              <a:rPr sz="1050" b="0" i="0">
                <a:solidFill>
                  <a:srgbClr val="000000"/>
                </a:solidFill>
                <a:latin typeface="Times New Roman"/>
              </a:rPr>
              <a:t>Port on which the Node.js server listens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28</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833166" y="620495"/>
            <a:ext cx="807567" cy="184689"/>
          </a:xfrm>
          <a:prstGeom prst="rect">
            <a:avLst/>
          </a:prstGeom>
          <a:noFill/>
        </p:spPr>
        <p:txBody>
          <a:bodyPr wrap="none" lIns="0" tIns="0" rIns="0" bIns="0" anchor="t">
            <a:spAutoFit/>
          </a:bodyPr>
          <a:lstStyle/>
          <a:p>
            <a:pPr algn="l"/>
            <a:r>
              <a:rPr sz="1050" b="1" i="0">
                <a:solidFill>
                  <a:srgbClr val="000000"/>
                </a:solidFill>
                <a:latin typeface="Times New Roman"/>
              </a:rPr>
              <a:t>Configuration</a:t>
            </a:r>
          </a:p>
        </p:txBody>
      </p:sp>
      <p:sp>
        <p:nvSpPr>
          <p:cNvPr id="5" name="TextBox 4"/>
          <p:cNvSpPr txBox="1"/>
          <p:nvPr/>
        </p:nvSpPr>
        <p:spPr>
          <a:xfrm>
            <a:off x="5089687" y="620495"/>
            <a:ext cx="466724" cy="184689"/>
          </a:xfrm>
          <a:prstGeom prst="rect">
            <a:avLst/>
          </a:prstGeom>
          <a:noFill/>
        </p:spPr>
        <p:txBody>
          <a:bodyPr wrap="none" lIns="0" tIns="0" rIns="0" bIns="0" anchor="t">
            <a:spAutoFit/>
          </a:bodyPr>
          <a:lstStyle/>
          <a:p>
            <a:pPr algn="l"/>
            <a:r>
              <a:rPr sz="1050" b="1" i="0">
                <a:solidFill>
                  <a:srgbClr val="000000"/>
                </a:solidFill>
                <a:latin typeface="Times New Roman"/>
              </a:rPr>
              <a:t>Purpose</a:t>
            </a:r>
          </a:p>
        </p:txBody>
      </p:sp>
      <p:sp>
        <p:nvSpPr>
          <p:cNvPr id="6" name="TextBox 5"/>
          <p:cNvSpPr txBox="1"/>
          <p:nvPr/>
        </p:nvSpPr>
        <p:spPr>
          <a:xfrm>
            <a:off x="744700" y="847895"/>
            <a:ext cx="985189" cy="177888"/>
          </a:xfrm>
          <a:prstGeom prst="rect">
            <a:avLst/>
          </a:prstGeom>
          <a:noFill/>
        </p:spPr>
        <p:txBody>
          <a:bodyPr wrap="none" lIns="0" tIns="0" rIns="0" bIns="0" anchor="t">
            <a:spAutoFit/>
          </a:bodyPr>
          <a:lstStyle/>
          <a:p>
            <a:pPr algn="l"/>
            <a:r>
              <a:rPr sz="1050" b="0" i="0">
                <a:solidFill>
                  <a:srgbClr val="000000"/>
                </a:solidFill>
                <a:latin typeface="Times New Roman"/>
              </a:rPr>
              <a:t>MONGODB_URI</a:t>
            </a:r>
          </a:p>
        </p:txBody>
      </p:sp>
      <p:sp>
        <p:nvSpPr>
          <p:cNvPr id="7" name="TextBox 6"/>
          <p:cNvSpPr txBox="1"/>
          <p:nvPr/>
        </p:nvSpPr>
        <p:spPr>
          <a:xfrm>
            <a:off x="3830799" y="847895"/>
            <a:ext cx="1851964" cy="177888"/>
          </a:xfrm>
          <a:prstGeom prst="rect">
            <a:avLst/>
          </a:prstGeom>
          <a:noFill/>
        </p:spPr>
        <p:txBody>
          <a:bodyPr wrap="none" lIns="0" tIns="0" rIns="0" bIns="0" anchor="t">
            <a:spAutoFit/>
          </a:bodyPr>
          <a:lstStyle/>
          <a:p>
            <a:pPr algn="l"/>
            <a:r>
              <a:rPr sz="1050" b="0" i="0">
                <a:solidFill>
                  <a:srgbClr val="000000"/>
                </a:solidFill>
                <a:latin typeface="Times New Roman"/>
              </a:rPr>
              <a:t>MongoDB connection information</a:t>
            </a:r>
          </a:p>
        </p:txBody>
      </p:sp>
      <p:sp>
        <p:nvSpPr>
          <p:cNvPr id="8" name="TextBox 7"/>
          <p:cNvSpPr txBox="1"/>
          <p:nvPr/>
        </p:nvSpPr>
        <p:spPr>
          <a:xfrm>
            <a:off x="744700" y="1152695"/>
            <a:ext cx="933450" cy="177888"/>
          </a:xfrm>
          <a:prstGeom prst="rect">
            <a:avLst/>
          </a:prstGeom>
          <a:noFill/>
        </p:spPr>
        <p:txBody>
          <a:bodyPr wrap="none" lIns="0" tIns="0" rIns="0" bIns="0" anchor="t">
            <a:spAutoFit/>
          </a:bodyPr>
          <a:lstStyle/>
          <a:p>
            <a:pPr algn="l"/>
            <a:r>
              <a:rPr sz="1050" b="0" i="0">
                <a:solidFill>
                  <a:srgbClr val="000000"/>
                </a:solidFill>
                <a:latin typeface="Times New Roman"/>
              </a:rPr>
              <a:t>AUTH_SECRET</a:t>
            </a:r>
          </a:p>
        </p:txBody>
      </p:sp>
      <p:sp>
        <p:nvSpPr>
          <p:cNvPr id="9" name="TextBox 8"/>
          <p:cNvSpPr txBox="1"/>
          <p:nvPr/>
        </p:nvSpPr>
        <p:spPr>
          <a:xfrm>
            <a:off x="3830799" y="1076495"/>
            <a:ext cx="2955437" cy="177888"/>
          </a:xfrm>
          <a:prstGeom prst="rect">
            <a:avLst/>
          </a:prstGeom>
          <a:noFill/>
        </p:spPr>
        <p:txBody>
          <a:bodyPr wrap="none" lIns="0" tIns="0" rIns="0" bIns="0" anchor="t">
            <a:spAutoFit/>
          </a:bodyPr>
          <a:lstStyle/>
          <a:p>
            <a:pPr algn="l"/>
            <a:r>
              <a:rPr sz="1050" b="0" i="0">
                <a:solidFill>
                  <a:srgbClr val="000000"/>
                </a:solidFill>
                <a:latin typeface="Times New Roman"/>
              </a:rPr>
              <a:t>Secret used by the chosen authentication mechanism, if</a:t>
            </a:r>
          </a:p>
        </p:txBody>
      </p:sp>
      <p:sp>
        <p:nvSpPr>
          <p:cNvPr id="10" name="TextBox 9"/>
          <p:cNvSpPr txBox="1"/>
          <p:nvPr/>
        </p:nvSpPr>
        <p:spPr>
          <a:xfrm>
            <a:off x="3830799" y="1228895"/>
            <a:ext cx="548068" cy="177888"/>
          </a:xfrm>
          <a:prstGeom prst="rect">
            <a:avLst/>
          </a:prstGeom>
          <a:noFill/>
        </p:spPr>
        <p:txBody>
          <a:bodyPr wrap="none" lIns="0" tIns="0" rIns="0" bIns="0" anchor="t">
            <a:spAutoFit/>
          </a:bodyPr>
          <a:lstStyle/>
          <a:p>
            <a:pPr algn="ctr"/>
            <a:r>
              <a:rPr sz="1050" b="0" i="0">
                <a:solidFill>
                  <a:srgbClr val="000000"/>
                </a:solidFill>
                <a:latin typeface="Times New Roman"/>
              </a:rPr>
              <a:t>applicable</a:t>
            </a:r>
          </a:p>
        </p:txBody>
      </p:sp>
      <p:sp>
        <p:nvSpPr>
          <p:cNvPr id="11" name="TextBox 10"/>
          <p:cNvSpPr txBox="1"/>
          <p:nvPr/>
        </p:nvSpPr>
        <p:spPr>
          <a:xfrm>
            <a:off x="744700" y="1457495"/>
            <a:ext cx="711022" cy="177888"/>
          </a:xfrm>
          <a:prstGeom prst="rect">
            <a:avLst/>
          </a:prstGeom>
          <a:noFill/>
        </p:spPr>
        <p:txBody>
          <a:bodyPr wrap="none" lIns="0" tIns="0" rIns="0" bIns="0" anchor="t">
            <a:spAutoFit/>
          </a:bodyPr>
          <a:lstStyle/>
          <a:p>
            <a:pPr algn="l"/>
            <a:r>
              <a:rPr sz="1050" b="0" i="0">
                <a:solidFill>
                  <a:srgbClr val="000000"/>
                </a:solidFill>
                <a:latin typeface="Times New Roman"/>
              </a:rPr>
              <a:t>NODE_ENV</a:t>
            </a:r>
          </a:p>
        </p:txBody>
      </p:sp>
      <p:sp>
        <p:nvSpPr>
          <p:cNvPr id="12" name="TextBox 11"/>
          <p:cNvSpPr txBox="1"/>
          <p:nvPr/>
        </p:nvSpPr>
        <p:spPr>
          <a:xfrm>
            <a:off x="3830799" y="1457495"/>
            <a:ext cx="2963038" cy="177888"/>
          </a:xfrm>
          <a:prstGeom prst="rect">
            <a:avLst/>
          </a:prstGeom>
          <a:noFill/>
        </p:spPr>
        <p:txBody>
          <a:bodyPr wrap="none" lIns="0" tIns="0" rIns="0" bIns="0" anchor="t">
            <a:spAutoFit/>
          </a:bodyPr>
          <a:lstStyle/>
          <a:p>
            <a:pPr algn="l"/>
            <a:r>
              <a:rPr sz="1050" b="0" i="0">
                <a:solidFill>
                  <a:srgbClr val="000000"/>
                </a:solidFill>
                <a:latin typeface="Times New Roman"/>
              </a:rPr>
              <a:t>Environment indicator such as development/production</a:t>
            </a:r>
          </a:p>
        </p:txBody>
      </p:sp>
      <p:sp>
        <p:nvSpPr>
          <p:cNvPr id="13" name="TextBox 12"/>
          <p:cNvSpPr txBox="1"/>
          <p:nvPr/>
        </p:nvSpPr>
        <p:spPr>
          <a:xfrm>
            <a:off x="716280" y="1768144"/>
            <a:ext cx="1758442" cy="246252"/>
          </a:xfrm>
          <a:prstGeom prst="rect">
            <a:avLst/>
          </a:prstGeom>
          <a:noFill/>
        </p:spPr>
        <p:txBody>
          <a:bodyPr wrap="none" lIns="0" tIns="0" rIns="0" bIns="0" anchor="t">
            <a:spAutoFit/>
          </a:bodyPr>
          <a:lstStyle/>
          <a:p>
            <a:pPr algn="l"/>
            <a:r>
              <a:rPr sz="1400" b="1" i="0">
                <a:solidFill>
                  <a:srgbClr val="000000"/>
                </a:solidFill>
                <a:latin typeface="Times New Roman"/>
              </a:rPr>
              <a:t>9.3 Hosting of Backend</a:t>
            </a:r>
          </a:p>
        </p:txBody>
      </p:sp>
      <p:sp>
        <p:nvSpPr>
          <p:cNvPr id="14" name="TextBox 13"/>
          <p:cNvSpPr txBox="1"/>
          <p:nvPr/>
        </p:nvSpPr>
        <p:spPr>
          <a:xfrm>
            <a:off x="944880" y="204729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A production backend should run in an environment that can maintain the Node.js process,</a:t>
            </a:r>
          </a:p>
        </p:txBody>
      </p:sp>
      <p:sp>
        <p:nvSpPr>
          <p:cNvPr id="15" name="TextBox 14"/>
          <p:cNvSpPr txBox="1"/>
          <p:nvPr/>
        </p:nvSpPr>
        <p:spPr>
          <a:xfrm>
            <a:off x="716280" y="222509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provide network access to MongoDB, and protect sensitive configuration. The selected host should</a:t>
            </a:r>
          </a:p>
        </p:txBody>
      </p:sp>
      <p:sp>
        <p:nvSpPr>
          <p:cNvPr id="16" name="TextBox 15"/>
          <p:cNvSpPr txBox="1"/>
          <p:nvPr/>
        </p:nvSpPr>
        <p:spPr>
          <a:xfrm>
            <a:off x="716280" y="2402890"/>
            <a:ext cx="4079900" cy="203301"/>
          </a:xfrm>
          <a:prstGeom prst="rect">
            <a:avLst/>
          </a:prstGeom>
          <a:noFill/>
        </p:spPr>
        <p:txBody>
          <a:bodyPr wrap="none" lIns="0" tIns="0" rIns="0" bIns="0" anchor="t">
            <a:spAutoFit/>
          </a:bodyPr>
          <a:lstStyle/>
          <a:p>
            <a:pPr algn="l"/>
            <a:r>
              <a:rPr sz="1200" b="0" i="0">
                <a:solidFill>
                  <a:srgbClr val="000000"/>
                </a:solidFill>
                <a:latin typeface="Times New Roman"/>
              </a:rPr>
              <a:t>be evaluated against expected traffic and availability requirements.</a:t>
            </a:r>
          </a:p>
        </p:txBody>
      </p:sp>
      <p:sp>
        <p:nvSpPr>
          <p:cNvPr id="17" name="TextBox 16"/>
          <p:cNvSpPr txBox="1"/>
          <p:nvPr/>
        </p:nvSpPr>
        <p:spPr>
          <a:xfrm>
            <a:off x="944880" y="263149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backend can be hosted on a server or cloud environment that supports Node.js. The</a:t>
            </a:r>
          </a:p>
        </p:txBody>
      </p:sp>
      <p:sp>
        <p:nvSpPr>
          <p:cNvPr id="18" name="TextBox 17"/>
          <p:cNvSpPr txBox="1"/>
          <p:nvPr/>
        </p:nvSpPr>
        <p:spPr>
          <a:xfrm>
            <a:off x="716280" y="28092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MongoDB database can be hosted locally for development or through an appropriate managed</a:t>
            </a:r>
          </a:p>
        </p:txBody>
      </p:sp>
      <p:sp>
        <p:nvSpPr>
          <p:cNvPr id="19" name="TextBox 18"/>
          <p:cNvSpPr txBox="1"/>
          <p:nvPr/>
        </p:nvSpPr>
        <p:spPr>
          <a:xfrm>
            <a:off x="716280" y="2987090"/>
            <a:ext cx="1946757" cy="203301"/>
          </a:xfrm>
          <a:prstGeom prst="rect">
            <a:avLst/>
          </a:prstGeom>
          <a:noFill/>
        </p:spPr>
        <p:txBody>
          <a:bodyPr wrap="none" lIns="0" tIns="0" rIns="0" bIns="0" anchor="t">
            <a:spAutoFit/>
          </a:bodyPr>
          <a:lstStyle/>
          <a:p>
            <a:pPr algn="l"/>
            <a:r>
              <a:rPr sz="1200" b="0" i="0">
                <a:solidFill>
                  <a:srgbClr val="000000"/>
                </a:solidFill>
                <a:latin typeface="Times New Roman"/>
              </a:rPr>
              <a:t>database service for production.</a:t>
            </a:r>
          </a:p>
        </p:txBody>
      </p:sp>
      <p:sp>
        <p:nvSpPr>
          <p:cNvPr id="20" name="TextBox 19"/>
          <p:cNvSpPr txBox="1"/>
          <p:nvPr/>
        </p:nvSpPr>
        <p:spPr>
          <a:xfrm>
            <a:off x="944880" y="321569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 production deployment should use HTTPS where applicable, restricted database access,</a:t>
            </a:r>
          </a:p>
        </p:txBody>
      </p:sp>
      <p:sp>
        <p:nvSpPr>
          <p:cNvPr id="21" name="TextBox 20"/>
          <p:cNvSpPr txBox="1"/>
          <p:nvPr/>
        </p:nvSpPr>
        <p:spPr>
          <a:xfrm>
            <a:off x="716280" y="33934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secure environment variables, appropriate error logging, and a process manager or platform service</a:t>
            </a:r>
          </a:p>
        </p:txBody>
      </p:sp>
      <p:sp>
        <p:nvSpPr>
          <p:cNvPr id="22" name="TextBox 21"/>
          <p:cNvSpPr txBox="1"/>
          <p:nvPr/>
        </p:nvSpPr>
        <p:spPr>
          <a:xfrm>
            <a:off x="716280" y="3571290"/>
            <a:ext cx="2687726" cy="203301"/>
          </a:xfrm>
          <a:prstGeom prst="rect">
            <a:avLst/>
          </a:prstGeom>
          <a:noFill/>
        </p:spPr>
        <p:txBody>
          <a:bodyPr wrap="none" lIns="0" tIns="0" rIns="0" bIns="0" anchor="t">
            <a:spAutoFit/>
          </a:bodyPr>
          <a:lstStyle/>
          <a:p>
            <a:pPr algn="l"/>
            <a:r>
              <a:rPr sz="1200" b="0" i="0">
                <a:solidFill>
                  <a:srgbClr val="000000"/>
                </a:solidFill>
                <a:latin typeface="Times New Roman"/>
              </a:rPr>
              <a:t>that keeps the Node.js application available.</a:t>
            </a:r>
          </a:p>
        </p:txBody>
      </p:sp>
      <p:sp>
        <p:nvSpPr>
          <p:cNvPr id="23" name="TextBox 22"/>
          <p:cNvSpPr txBox="1"/>
          <p:nvPr/>
        </p:nvSpPr>
        <p:spPr>
          <a:xfrm>
            <a:off x="944880" y="379989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Before public deployment, the project should be tested under the expected configuration.</a:t>
            </a:r>
          </a:p>
        </p:txBody>
      </p:sp>
      <p:sp>
        <p:nvSpPr>
          <p:cNvPr id="24" name="TextBox 23"/>
          <p:cNvSpPr txBox="1"/>
          <p:nvPr/>
        </p:nvSpPr>
        <p:spPr>
          <a:xfrm>
            <a:off x="716280" y="397769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Database backups, access control, monitoring, and update procedures should also be considered as</a:t>
            </a:r>
          </a:p>
        </p:txBody>
      </p:sp>
      <p:sp>
        <p:nvSpPr>
          <p:cNvPr id="25" name="TextBox 24"/>
          <p:cNvSpPr txBox="1"/>
          <p:nvPr/>
        </p:nvSpPr>
        <p:spPr>
          <a:xfrm>
            <a:off x="716280" y="4155490"/>
            <a:ext cx="1972208" cy="203301"/>
          </a:xfrm>
          <a:prstGeom prst="rect">
            <a:avLst/>
          </a:prstGeom>
          <a:noFill/>
        </p:spPr>
        <p:txBody>
          <a:bodyPr wrap="none" lIns="0" tIns="0" rIns="0" bIns="0" anchor="t">
            <a:spAutoFit/>
          </a:bodyPr>
          <a:lstStyle/>
          <a:p>
            <a:pPr algn="l"/>
            <a:r>
              <a:rPr sz="1200" b="0" i="0">
                <a:solidFill>
                  <a:srgbClr val="000000"/>
                </a:solidFill>
                <a:latin typeface="Times New Roman"/>
              </a:rPr>
              <a:t>part of operational maintenance.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29</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530474" y="579322"/>
            <a:ext cx="4499050" cy="281432"/>
          </a:xfrm>
          <a:prstGeom prst="rect">
            <a:avLst/>
          </a:prstGeom>
          <a:noFill/>
        </p:spPr>
        <p:txBody>
          <a:bodyPr wrap="none" lIns="0" tIns="0" rIns="0" bIns="0" anchor="t">
            <a:spAutoFit/>
          </a:bodyPr>
          <a:lstStyle/>
          <a:p>
            <a:pPr algn="ctr"/>
            <a:r>
              <a:rPr sz="1600" b="1" i="0">
                <a:solidFill>
                  <a:srgbClr val="000000"/>
                </a:solidFill>
                <a:latin typeface="Times New Roman"/>
              </a:rPr>
              <a:t>CHAPTER - 10 CHALLENGES &amp; LIMITATIONS</a:t>
            </a:r>
          </a:p>
        </p:txBody>
      </p:sp>
      <p:sp>
        <p:nvSpPr>
          <p:cNvPr id="5" name="TextBox 4"/>
          <p:cNvSpPr txBox="1"/>
          <p:nvPr/>
        </p:nvSpPr>
        <p:spPr>
          <a:xfrm>
            <a:off x="716280" y="948740"/>
            <a:ext cx="2938500" cy="246252"/>
          </a:xfrm>
          <a:prstGeom prst="rect">
            <a:avLst/>
          </a:prstGeom>
          <a:noFill/>
        </p:spPr>
        <p:txBody>
          <a:bodyPr wrap="none" lIns="0" tIns="0" rIns="0" bIns="0" anchor="t">
            <a:spAutoFit/>
          </a:bodyPr>
          <a:lstStyle/>
          <a:p>
            <a:pPr algn="l"/>
            <a:r>
              <a:rPr sz="1400" b="1" i="0">
                <a:solidFill>
                  <a:srgbClr val="000000"/>
                </a:solidFill>
                <a:latin typeface="Times New Roman"/>
              </a:rPr>
              <a:t>10.1 Issues Faced During Development</a:t>
            </a:r>
          </a:p>
        </p:txBody>
      </p:sp>
      <p:sp>
        <p:nvSpPr>
          <p:cNvPr id="6" name="TextBox 5"/>
          <p:cNvSpPr txBox="1"/>
          <p:nvPr/>
        </p:nvSpPr>
        <p:spPr>
          <a:xfrm>
            <a:off x="944880" y="1227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Development challenges commonly occur at the boundaries between modules. A route may</a:t>
            </a:r>
          </a:p>
        </p:txBody>
      </p:sp>
      <p:sp>
        <p:nvSpPr>
          <p:cNvPr id="7" name="TextBox 6"/>
          <p:cNvSpPr txBox="1"/>
          <p:nvPr/>
        </p:nvSpPr>
        <p:spPr>
          <a:xfrm>
            <a:off x="716280" y="1405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work correctly while the database update contains an incorrect field, or the database may contain</a:t>
            </a:r>
          </a:p>
        </p:txBody>
      </p:sp>
      <p:sp>
        <p:nvSpPr>
          <p:cNvPr id="8" name="TextBox 7"/>
          <p:cNvSpPr txBox="1"/>
          <p:nvPr/>
        </p:nvSpPr>
        <p:spPr>
          <a:xfrm>
            <a:off x="716280" y="15834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correct data while the API response does not expose it correctly. Layer-by-layer testing helps isolate</a:t>
            </a:r>
          </a:p>
        </p:txBody>
      </p:sp>
      <p:sp>
        <p:nvSpPr>
          <p:cNvPr id="9" name="TextBox 8"/>
          <p:cNvSpPr txBox="1"/>
          <p:nvPr/>
        </p:nvSpPr>
        <p:spPr>
          <a:xfrm>
            <a:off x="716280" y="1761286"/>
            <a:ext cx="922781" cy="203301"/>
          </a:xfrm>
          <a:prstGeom prst="rect">
            <a:avLst/>
          </a:prstGeom>
          <a:noFill/>
        </p:spPr>
        <p:txBody>
          <a:bodyPr wrap="none" lIns="0" tIns="0" rIns="0" bIns="0" anchor="t">
            <a:spAutoFit/>
          </a:bodyPr>
          <a:lstStyle/>
          <a:p>
            <a:pPr algn="l"/>
            <a:r>
              <a:rPr sz="1200" b="0" i="0">
                <a:solidFill>
                  <a:srgbClr val="000000"/>
                </a:solidFill>
                <a:latin typeface="Times New Roman"/>
              </a:rPr>
              <a:t>such problems.</a:t>
            </a:r>
          </a:p>
        </p:txBody>
      </p:sp>
      <p:sp>
        <p:nvSpPr>
          <p:cNvPr id="10" name="TextBox 9"/>
          <p:cNvSpPr txBox="1"/>
          <p:nvPr/>
        </p:nvSpPr>
        <p:spPr>
          <a:xfrm>
            <a:off x="944880" y="1989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Configuration issues such as an incorrect database connection, unavailable port, or missing</a:t>
            </a:r>
          </a:p>
        </p:txBody>
      </p:sp>
      <p:sp>
        <p:nvSpPr>
          <p:cNvPr id="11" name="TextBox 10"/>
          <p:cNvSpPr txBox="1"/>
          <p:nvPr/>
        </p:nvSpPr>
        <p:spPr>
          <a:xfrm>
            <a:off x="716280" y="21676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environment variable can also prevent the application from starting. These should be documented</a:t>
            </a:r>
          </a:p>
        </p:txBody>
      </p:sp>
      <p:sp>
        <p:nvSpPr>
          <p:cNvPr id="12" name="TextBox 11"/>
          <p:cNvSpPr txBox="1"/>
          <p:nvPr/>
        </p:nvSpPr>
        <p:spPr>
          <a:xfrm>
            <a:off x="716280" y="2345486"/>
            <a:ext cx="1972360" cy="203301"/>
          </a:xfrm>
          <a:prstGeom prst="rect">
            <a:avLst/>
          </a:prstGeom>
          <a:noFill/>
        </p:spPr>
        <p:txBody>
          <a:bodyPr wrap="none" lIns="0" tIns="0" rIns="0" bIns="0" anchor="t">
            <a:spAutoFit/>
          </a:bodyPr>
          <a:lstStyle/>
          <a:p>
            <a:pPr algn="l"/>
            <a:r>
              <a:rPr sz="1200" b="0" i="0">
                <a:solidFill>
                  <a:srgbClr val="000000"/>
                </a:solidFill>
                <a:latin typeface="Times New Roman"/>
              </a:rPr>
              <a:t>separately from functional bugs.</a:t>
            </a:r>
          </a:p>
        </p:txBody>
      </p:sp>
      <p:sp>
        <p:nvSpPr>
          <p:cNvPr id="13" name="TextBox 12"/>
          <p:cNvSpPr txBox="1"/>
          <p:nvPr/>
        </p:nvSpPr>
        <p:spPr>
          <a:xfrm>
            <a:off x="944880" y="25740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One challenge in inventory systems is maintaining consistency between transactions and current</a:t>
            </a:r>
          </a:p>
        </p:txBody>
      </p:sp>
      <p:sp>
        <p:nvSpPr>
          <p:cNvPr id="14" name="TextBox 13"/>
          <p:cNvSpPr txBox="1"/>
          <p:nvPr/>
        </p:nvSpPr>
        <p:spPr>
          <a:xfrm>
            <a:off x="716280" y="27518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stock. A purchase increases inventory while a sale decreases it, so the implementation must ensure</a:t>
            </a:r>
          </a:p>
        </p:txBody>
      </p:sp>
      <p:sp>
        <p:nvSpPr>
          <p:cNvPr id="15" name="TextBox 14"/>
          <p:cNvSpPr txBox="1"/>
          <p:nvPr/>
        </p:nvSpPr>
        <p:spPr>
          <a:xfrm>
            <a:off x="716280" y="2929686"/>
            <a:ext cx="5015636" cy="203301"/>
          </a:xfrm>
          <a:prstGeom prst="rect">
            <a:avLst/>
          </a:prstGeom>
          <a:noFill/>
        </p:spPr>
        <p:txBody>
          <a:bodyPr wrap="none" lIns="0" tIns="0" rIns="0" bIns="0" anchor="t">
            <a:spAutoFit/>
          </a:bodyPr>
          <a:lstStyle/>
          <a:p>
            <a:pPr algn="l"/>
            <a:r>
              <a:rPr sz="1200" b="0" i="0">
                <a:solidFill>
                  <a:srgbClr val="000000"/>
                </a:solidFill>
                <a:latin typeface="Times New Roman"/>
              </a:rPr>
              <a:t>that the quantity shown to users matches the transactions recorded in the database.</a:t>
            </a:r>
          </a:p>
        </p:txBody>
      </p:sp>
      <p:sp>
        <p:nvSpPr>
          <p:cNvPr id="16" name="TextBox 15"/>
          <p:cNvSpPr txBox="1"/>
          <p:nvPr/>
        </p:nvSpPr>
        <p:spPr>
          <a:xfrm>
            <a:off x="944880" y="3158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Another challenge is maintaining date information correctly. Manufacturing and expiry dates</a:t>
            </a:r>
          </a:p>
        </p:txBody>
      </p:sp>
      <p:sp>
        <p:nvSpPr>
          <p:cNvPr id="17" name="TextBox 16"/>
          <p:cNvSpPr txBox="1"/>
          <p:nvPr/>
        </p:nvSpPr>
        <p:spPr>
          <a:xfrm>
            <a:off x="716280" y="3336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need consistent storage and comparison so that near-expiry and expired records can be identified</a:t>
            </a:r>
          </a:p>
        </p:txBody>
      </p:sp>
      <p:sp>
        <p:nvSpPr>
          <p:cNvPr id="18" name="TextBox 17"/>
          <p:cNvSpPr txBox="1"/>
          <p:nvPr/>
        </p:nvSpPr>
        <p:spPr>
          <a:xfrm>
            <a:off x="716280" y="3513886"/>
            <a:ext cx="503682" cy="203301"/>
          </a:xfrm>
          <a:prstGeom prst="rect">
            <a:avLst/>
          </a:prstGeom>
          <a:noFill/>
        </p:spPr>
        <p:txBody>
          <a:bodyPr wrap="none" lIns="0" tIns="0" rIns="0" bIns="0" anchor="t">
            <a:spAutoFit/>
          </a:bodyPr>
          <a:lstStyle/>
          <a:p>
            <a:pPr algn="l"/>
            <a:r>
              <a:rPr sz="1200" b="0" i="0">
                <a:solidFill>
                  <a:srgbClr val="000000"/>
                </a:solidFill>
                <a:latin typeface="Times New Roman"/>
              </a:rPr>
              <a:t>reliably.</a:t>
            </a:r>
          </a:p>
        </p:txBody>
      </p:sp>
      <p:sp>
        <p:nvSpPr>
          <p:cNvPr id="19" name="TextBox 18"/>
          <p:cNvSpPr txBox="1"/>
          <p:nvPr/>
        </p:nvSpPr>
        <p:spPr>
          <a:xfrm>
            <a:off x="944880" y="37424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API validation is also important. Incorrect or incomplete request data should not be allowed to</a:t>
            </a:r>
          </a:p>
        </p:txBody>
      </p:sp>
      <p:sp>
        <p:nvSpPr>
          <p:cNvPr id="20" name="TextBox 19"/>
          <p:cNvSpPr txBox="1"/>
          <p:nvPr/>
        </p:nvSpPr>
        <p:spPr>
          <a:xfrm>
            <a:off x="716280" y="3920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create invalid inventory records. The backend therefore needs clear validation rules and meaningful</a:t>
            </a:r>
          </a:p>
        </p:txBody>
      </p:sp>
      <p:sp>
        <p:nvSpPr>
          <p:cNvPr id="21" name="TextBox 20"/>
          <p:cNvSpPr txBox="1"/>
          <p:nvPr/>
        </p:nvSpPr>
        <p:spPr>
          <a:xfrm>
            <a:off x="716280" y="4098086"/>
            <a:ext cx="964844" cy="203301"/>
          </a:xfrm>
          <a:prstGeom prst="rect">
            <a:avLst/>
          </a:prstGeom>
          <a:noFill/>
        </p:spPr>
        <p:txBody>
          <a:bodyPr wrap="none" lIns="0" tIns="0" rIns="0" bIns="0" anchor="t">
            <a:spAutoFit/>
          </a:bodyPr>
          <a:lstStyle/>
          <a:p>
            <a:pPr algn="l"/>
            <a:r>
              <a:rPr sz="1200" b="0" i="0">
                <a:solidFill>
                  <a:srgbClr val="000000"/>
                </a:solidFill>
                <a:latin typeface="Times New Roman"/>
              </a:rPr>
              <a:t>error responses.</a:t>
            </a:r>
          </a:p>
        </p:txBody>
      </p:sp>
      <p:sp>
        <p:nvSpPr>
          <p:cNvPr id="22" name="TextBox 21"/>
          <p:cNvSpPr txBox="1"/>
          <p:nvPr/>
        </p:nvSpPr>
        <p:spPr>
          <a:xfrm>
            <a:off x="944880" y="43266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Database connectivity and environment configuration can create development issues when</a:t>
            </a:r>
          </a:p>
        </p:txBody>
      </p:sp>
      <p:sp>
        <p:nvSpPr>
          <p:cNvPr id="23" name="TextBox 22"/>
          <p:cNvSpPr txBox="1"/>
          <p:nvPr/>
        </p:nvSpPr>
        <p:spPr>
          <a:xfrm>
            <a:off x="716280" y="45044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connection strings, ports, or environment variables are incorrect. These problems can be reduced by</a:t>
            </a:r>
          </a:p>
        </p:txBody>
      </p:sp>
      <p:sp>
        <p:nvSpPr>
          <p:cNvPr id="24" name="TextBox 23"/>
          <p:cNvSpPr txBox="1"/>
          <p:nvPr/>
        </p:nvSpPr>
        <p:spPr>
          <a:xfrm>
            <a:off x="716280" y="4682286"/>
            <a:ext cx="4791151" cy="203301"/>
          </a:xfrm>
          <a:prstGeom prst="rect">
            <a:avLst/>
          </a:prstGeom>
          <a:noFill/>
        </p:spPr>
        <p:txBody>
          <a:bodyPr wrap="none" lIns="0" tIns="0" rIns="0" bIns="0" anchor="t">
            <a:spAutoFit/>
          </a:bodyPr>
          <a:lstStyle/>
          <a:p>
            <a:pPr algn="l"/>
            <a:r>
              <a:rPr sz="1200" b="0" i="0">
                <a:solidFill>
                  <a:srgbClr val="000000"/>
                </a:solidFill>
                <a:latin typeface="Times New Roman"/>
              </a:rPr>
              <a:t>separating configuration from source code and documenting the setup process.</a:t>
            </a:r>
          </a:p>
        </p:txBody>
      </p:sp>
      <p:sp>
        <p:nvSpPr>
          <p:cNvPr id="25" name="TextBox 24"/>
          <p:cNvSpPr txBox="1"/>
          <p:nvPr/>
        </p:nvSpPr>
        <p:spPr>
          <a:xfrm>
            <a:off x="716280" y="4949240"/>
            <a:ext cx="1704391" cy="246252"/>
          </a:xfrm>
          <a:prstGeom prst="rect">
            <a:avLst/>
          </a:prstGeom>
          <a:noFill/>
        </p:spPr>
        <p:txBody>
          <a:bodyPr wrap="none" lIns="0" tIns="0" rIns="0" bIns="0" anchor="t">
            <a:spAutoFit/>
          </a:bodyPr>
          <a:lstStyle/>
          <a:p>
            <a:pPr algn="l"/>
            <a:r>
              <a:rPr sz="1400" b="1" i="0">
                <a:solidFill>
                  <a:srgbClr val="000000"/>
                </a:solidFill>
                <a:latin typeface="Times New Roman"/>
              </a:rPr>
              <a:t>10.2 Solutions Applied</a:t>
            </a:r>
          </a:p>
        </p:txBody>
      </p:sp>
      <p:sp>
        <p:nvSpPr>
          <p:cNvPr id="26" name="TextBox 25"/>
          <p:cNvSpPr txBox="1"/>
          <p:nvPr/>
        </p:nvSpPr>
        <p:spPr>
          <a:xfrm>
            <a:off x="944880" y="52283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Modular code organization, validation, controlled database operations, and API testing provide</a:t>
            </a:r>
          </a:p>
        </p:txBody>
      </p:sp>
      <p:sp>
        <p:nvSpPr>
          <p:cNvPr id="27" name="TextBox 26"/>
          <p:cNvSpPr txBox="1"/>
          <p:nvPr/>
        </p:nvSpPr>
        <p:spPr>
          <a:xfrm>
            <a:off x="716280" y="54061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practical solutions to the above problems. Reproducing an issue in Postman and checking the</a:t>
            </a:r>
          </a:p>
        </p:txBody>
      </p:sp>
      <p:sp>
        <p:nvSpPr>
          <p:cNvPr id="28" name="TextBox 27"/>
          <p:cNvSpPr txBox="1"/>
          <p:nvPr/>
        </p:nvSpPr>
        <p:spPr>
          <a:xfrm>
            <a:off x="716280" y="5583986"/>
            <a:ext cx="3893820" cy="203301"/>
          </a:xfrm>
          <a:prstGeom prst="rect">
            <a:avLst/>
          </a:prstGeom>
          <a:noFill/>
        </p:spPr>
        <p:txBody>
          <a:bodyPr wrap="none" lIns="0" tIns="0" rIns="0" bIns="0" anchor="t">
            <a:spAutoFit/>
          </a:bodyPr>
          <a:lstStyle/>
          <a:p>
            <a:pPr algn="l"/>
            <a:r>
              <a:rPr sz="1200" b="0" i="0">
                <a:solidFill>
                  <a:srgbClr val="000000"/>
                </a:solidFill>
                <a:latin typeface="Times New Roman"/>
              </a:rPr>
              <a:t>database state in Compass helps identify where a failure occurs.</a:t>
            </a:r>
          </a:p>
        </p:txBody>
      </p:sp>
      <p:sp>
        <p:nvSpPr>
          <p:cNvPr id="29" name="TextBox 28"/>
          <p:cNvSpPr txBox="1"/>
          <p:nvPr/>
        </p:nvSpPr>
        <p:spPr>
          <a:xfrm>
            <a:off x="944880" y="58125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Consistent naming and structured error responses further reduce debugging time because</a:t>
            </a:r>
          </a:p>
        </p:txBody>
      </p:sp>
      <p:sp>
        <p:nvSpPr>
          <p:cNvPr id="30" name="TextBox 29"/>
          <p:cNvSpPr txBox="1"/>
          <p:nvPr/>
        </p:nvSpPr>
        <p:spPr>
          <a:xfrm>
            <a:off x="716280" y="5990386"/>
            <a:ext cx="4837481" cy="203301"/>
          </a:xfrm>
          <a:prstGeom prst="rect">
            <a:avLst/>
          </a:prstGeom>
          <a:noFill/>
        </p:spPr>
        <p:txBody>
          <a:bodyPr wrap="none" lIns="0" tIns="0" rIns="0" bIns="0" anchor="t">
            <a:spAutoFit/>
          </a:bodyPr>
          <a:lstStyle/>
          <a:p>
            <a:pPr algn="l"/>
            <a:r>
              <a:rPr sz="1200" b="0" i="0">
                <a:solidFill>
                  <a:srgbClr val="000000"/>
                </a:solidFill>
                <a:latin typeface="Times New Roman"/>
              </a:rPr>
              <a:t>developers can trace a request from the API endpoint to the database operation.</a:t>
            </a:r>
          </a:p>
        </p:txBody>
      </p:sp>
      <p:sp>
        <p:nvSpPr>
          <p:cNvPr id="31" name="TextBox 30"/>
          <p:cNvSpPr txBox="1"/>
          <p:nvPr/>
        </p:nvSpPr>
        <p:spPr>
          <a:xfrm>
            <a:off x="944880" y="62189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Modular backend organization helps isolate inventory functions and reduces the impact of</a:t>
            </a:r>
          </a:p>
        </p:txBody>
      </p:sp>
      <p:sp>
        <p:nvSpPr>
          <p:cNvPr id="32" name="TextBox 31"/>
          <p:cNvSpPr txBox="1"/>
          <p:nvPr/>
        </p:nvSpPr>
        <p:spPr>
          <a:xfrm>
            <a:off x="716280" y="63967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changes. Validation middleware or service-level validation can be used to check incoming data</a:t>
            </a:r>
          </a:p>
        </p:txBody>
      </p:sp>
      <p:sp>
        <p:nvSpPr>
          <p:cNvPr id="33" name="TextBox 32"/>
          <p:cNvSpPr txBox="1"/>
          <p:nvPr/>
        </p:nvSpPr>
        <p:spPr>
          <a:xfrm>
            <a:off x="716280" y="6574586"/>
            <a:ext cx="1832305" cy="203301"/>
          </a:xfrm>
          <a:prstGeom prst="rect">
            <a:avLst/>
          </a:prstGeom>
          <a:noFill/>
        </p:spPr>
        <p:txBody>
          <a:bodyPr wrap="none" lIns="0" tIns="0" rIns="0" bIns="0" anchor="t">
            <a:spAutoFit/>
          </a:bodyPr>
          <a:lstStyle/>
          <a:p>
            <a:pPr algn="l"/>
            <a:r>
              <a:rPr sz="1200" b="0" i="0">
                <a:solidFill>
                  <a:srgbClr val="000000"/>
                </a:solidFill>
                <a:latin typeface="Times New Roman"/>
              </a:rPr>
              <a:t>before it reaches the database.</a:t>
            </a:r>
          </a:p>
        </p:txBody>
      </p:sp>
      <p:sp>
        <p:nvSpPr>
          <p:cNvPr id="34" name="TextBox 33"/>
          <p:cNvSpPr txBox="1"/>
          <p:nvPr/>
        </p:nvSpPr>
        <p:spPr>
          <a:xfrm>
            <a:off x="944880" y="68031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Stock-related operations should be handled using controlled business logic. Where multiple</a:t>
            </a:r>
          </a:p>
        </p:txBody>
      </p:sp>
      <p:sp>
        <p:nvSpPr>
          <p:cNvPr id="35" name="TextBox 34"/>
          <p:cNvSpPr txBox="1"/>
          <p:nvPr/>
        </p:nvSpPr>
        <p:spPr>
          <a:xfrm>
            <a:off x="716280" y="6980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database changes are logically connected, the implementation should use an appropriate consistency</a:t>
            </a:r>
          </a:p>
        </p:txBody>
      </p:sp>
      <p:sp>
        <p:nvSpPr>
          <p:cNvPr id="36" name="TextBox 35"/>
          <p:cNvSpPr txBox="1"/>
          <p:nvPr/>
        </p:nvSpPr>
        <p:spPr>
          <a:xfrm>
            <a:off x="716280" y="7158786"/>
            <a:ext cx="4372356" cy="203301"/>
          </a:xfrm>
          <a:prstGeom prst="rect">
            <a:avLst/>
          </a:prstGeom>
          <a:noFill/>
        </p:spPr>
        <p:txBody>
          <a:bodyPr wrap="none" lIns="0" tIns="0" rIns="0" bIns="0" anchor="t">
            <a:spAutoFit/>
          </a:bodyPr>
          <a:lstStyle/>
          <a:p>
            <a:pPr algn="l"/>
            <a:r>
              <a:rPr sz="1200" b="0" i="0">
                <a:solidFill>
                  <a:srgbClr val="000000"/>
                </a:solidFill>
                <a:latin typeface="Times New Roman"/>
              </a:rPr>
              <a:t>strategy so that partial updates do not leave incorrect stock information.</a:t>
            </a:r>
          </a:p>
        </p:txBody>
      </p:sp>
      <p:sp>
        <p:nvSpPr>
          <p:cNvPr id="37" name="TextBox 36"/>
          <p:cNvSpPr txBox="1"/>
          <p:nvPr/>
        </p:nvSpPr>
        <p:spPr>
          <a:xfrm>
            <a:off x="944880" y="73873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Date fields should be stored in a consistent format and compared using backend logic rather than</a:t>
            </a:r>
          </a:p>
        </p:txBody>
      </p:sp>
      <p:sp>
        <p:nvSpPr>
          <p:cNvPr id="38" name="TextBox 37"/>
          <p:cNvSpPr txBox="1"/>
          <p:nvPr/>
        </p:nvSpPr>
        <p:spPr>
          <a:xfrm>
            <a:off x="716280" y="75651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relying on inconsistent string formats. Test records with different expiry dates can be used to verify</a:t>
            </a:r>
          </a:p>
        </p:txBody>
      </p:sp>
      <p:sp>
        <p:nvSpPr>
          <p:cNvPr id="39" name="TextBox 38"/>
          <p:cNvSpPr txBox="1"/>
          <p:nvPr/>
        </p:nvSpPr>
        <p:spPr>
          <a:xfrm>
            <a:off x="716280" y="7742986"/>
            <a:ext cx="1286865" cy="203301"/>
          </a:xfrm>
          <a:prstGeom prst="rect">
            <a:avLst/>
          </a:prstGeom>
          <a:noFill/>
        </p:spPr>
        <p:txBody>
          <a:bodyPr wrap="none" lIns="0" tIns="0" rIns="0" bIns="0" anchor="t">
            <a:spAutoFit/>
          </a:bodyPr>
          <a:lstStyle/>
          <a:p>
            <a:pPr algn="l"/>
            <a:r>
              <a:rPr sz="1200" b="0" i="0">
                <a:solidFill>
                  <a:srgbClr val="000000"/>
                </a:solidFill>
                <a:latin typeface="Times New Roman"/>
              </a:rPr>
              <a:t>monitoring behavior.</a:t>
            </a:r>
          </a:p>
        </p:txBody>
      </p:sp>
      <p:sp>
        <p:nvSpPr>
          <p:cNvPr id="40" name="TextBox 39"/>
          <p:cNvSpPr txBox="1"/>
          <p:nvPr/>
        </p:nvSpPr>
        <p:spPr>
          <a:xfrm>
            <a:off x="944880" y="79715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Postman and MongoDB Compass provide a practical debugging workflow. API responses can</a:t>
            </a:r>
          </a:p>
        </p:txBody>
      </p:sp>
      <p:sp>
        <p:nvSpPr>
          <p:cNvPr id="41" name="TextBox 40"/>
          <p:cNvSpPr txBox="1"/>
          <p:nvPr/>
        </p:nvSpPr>
        <p:spPr>
          <a:xfrm>
            <a:off x="716280" y="8149386"/>
            <a:ext cx="6010503" cy="203301"/>
          </a:xfrm>
          <a:prstGeom prst="rect">
            <a:avLst/>
          </a:prstGeom>
          <a:noFill/>
        </p:spPr>
        <p:txBody>
          <a:bodyPr wrap="none" lIns="0" tIns="0" rIns="0" bIns="0" anchor="t">
            <a:spAutoFit/>
          </a:bodyPr>
          <a:lstStyle/>
          <a:p>
            <a:pPr algn="ctr"/>
            <a:r>
              <a:rPr sz="1200" b="0" i="0">
                <a:solidFill>
                  <a:srgbClr val="000000"/>
                </a:solidFill>
                <a:latin typeface="Times New Roman"/>
              </a:rPr>
              <a:t>be tested in Postman, while the resulting database state can be checked independently in Compass.</a:t>
            </a:r>
          </a:p>
        </p:txBody>
      </p:sp>
      <p:sp>
        <p:nvSpPr>
          <p:cNvPr id="42" name="TextBox 41"/>
          <p:cNvSpPr txBox="1"/>
          <p:nvPr/>
        </p:nvSpPr>
        <p:spPr>
          <a:xfrm>
            <a:off x="716280" y="8416339"/>
            <a:ext cx="3210357" cy="246253"/>
          </a:xfrm>
          <a:prstGeom prst="rect">
            <a:avLst/>
          </a:prstGeom>
          <a:noFill/>
        </p:spPr>
        <p:txBody>
          <a:bodyPr wrap="none" lIns="0" tIns="0" rIns="0" bIns="0" anchor="t">
            <a:spAutoFit/>
          </a:bodyPr>
          <a:lstStyle/>
          <a:p>
            <a:pPr algn="l"/>
            <a:r>
              <a:rPr sz="1400" b="1" i="0">
                <a:solidFill>
                  <a:srgbClr val="000000"/>
                </a:solidFill>
                <a:latin typeface="Times New Roman"/>
              </a:rPr>
              <a:t>10.3 Current Limitations or Known Issues</a:t>
            </a:r>
          </a:p>
        </p:txBody>
      </p:sp>
      <p:sp>
        <p:nvSpPr>
          <p:cNvPr id="43" name="TextBox 42"/>
          <p:cNvSpPr txBox="1"/>
          <p:nvPr/>
        </p:nvSpPr>
        <p:spPr>
          <a:xfrm>
            <a:off x="944880" y="8695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current documentation is based on the submitted abstract and therefore does not claim</a:t>
            </a:r>
          </a:p>
        </p:txBody>
      </p:sp>
      <p:sp>
        <p:nvSpPr>
          <p:cNvPr id="44" name="TextBox 43"/>
          <p:cNvSpPr txBox="1"/>
          <p:nvPr/>
        </p:nvSpPr>
        <p:spPr>
          <a:xfrm>
            <a:off x="716280" y="8873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features that are not specified there. External regulatory integrations, hardware automation, and</a:t>
            </a:r>
          </a:p>
        </p:txBody>
      </p:sp>
      <p:sp>
        <p:nvSpPr>
          <p:cNvPr id="45" name="TextBox 44"/>
          <p:cNvSpPr txBox="1"/>
          <p:nvPr/>
        </p:nvSpPr>
        <p:spPr>
          <a:xfrm>
            <a:off x="716280" y="9051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large-scale enterprise deployment remain outside the documented implementation unless separately</a:t>
            </a:r>
          </a:p>
        </p:txBody>
      </p:sp>
      <p:sp>
        <p:nvSpPr>
          <p:cNvPr id="46" name="TextBox 45"/>
          <p:cNvSpPr txBox="1"/>
          <p:nvPr/>
        </p:nvSpPr>
        <p:spPr>
          <a:xfrm>
            <a:off x="716280" y="9228886"/>
            <a:ext cx="859231" cy="203301"/>
          </a:xfrm>
          <a:prstGeom prst="rect">
            <a:avLst/>
          </a:prstGeom>
          <a:noFill/>
        </p:spPr>
        <p:txBody>
          <a:bodyPr wrap="none" lIns="0" tIns="0" rIns="0" bIns="0" anchor="t">
            <a:spAutoFit/>
          </a:bodyPr>
          <a:lstStyle/>
          <a:p>
            <a:pPr algn="l"/>
            <a:r>
              <a:rPr sz="1200" b="0" i="0">
                <a:solidFill>
                  <a:srgbClr val="000000"/>
                </a:solidFill>
                <a:latin typeface="Times New Roman"/>
              </a:rPr>
              <a:t>demonstrated.</a:t>
            </a:r>
          </a:p>
        </p:txBody>
      </p:sp>
      <p:sp>
        <p:nvSpPr>
          <p:cNvPr id="47" name="TextBox 46"/>
          <p:cNvSpPr txBox="1"/>
          <p:nvPr/>
        </p:nvSpPr>
        <p:spPr>
          <a:xfrm>
            <a:off x="944880" y="9457487"/>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Performance characteristics in a student development environment should not be treated as</a:t>
            </a:r>
          </a:p>
        </p:txBody>
      </p:sp>
      <p:sp>
        <p:nvSpPr>
          <p:cNvPr id="48" name="TextBox 47"/>
          <p:cNvSpPr txBox="1"/>
          <p:nvPr/>
        </p:nvSpPr>
        <p:spPr>
          <a:xfrm>
            <a:off x="716280" y="9635287"/>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production benchmarks. Larger deployments require appropriate indexing, monitoring, security</a:t>
            </a:r>
          </a:p>
        </p:txBody>
      </p:sp>
      <p:sp>
        <p:nvSpPr>
          <p:cNvPr id="49" name="TextBox 48"/>
          <p:cNvSpPr txBox="1"/>
          <p:nvPr/>
        </p:nvSpPr>
        <p:spPr>
          <a:xfrm>
            <a:off x="716280" y="9813087"/>
            <a:ext cx="3309823" cy="203301"/>
          </a:xfrm>
          <a:prstGeom prst="rect">
            <a:avLst/>
          </a:prstGeom>
          <a:noFill/>
        </p:spPr>
        <p:txBody>
          <a:bodyPr wrap="none" lIns="0" tIns="0" rIns="0" bIns="0" anchor="t">
            <a:spAutoFit/>
          </a:bodyPr>
          <a:lstStyle/>
          <a:p>
            <a:pPr algn="l"/>
            <a:r>
              <a:rPr sz="1200" b="0" i="0">
                <a:solidFill>
                  <a:srgbClr val="000000"/>
                </a:solidFill>
                <a:latin typeface="Times New Roman"/>
              </a:rPr>
              <a:t>configuration, backup strategy, and capacity planning.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30</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944880" y="5801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abstract defines the system as a backend-based inventory application. Therefore, the</a:t>
            </a:r>
          </a:p>
        </p:txBody>
      </p:sp>
      <p:sp>
        <p:nvSpPr>
          <p:cNvPr id="5" name="TextBox 4"/>
          <p:cNvSpPr txBox="1"/>
          <p:nvPr/>
        </p:nvSpPr>
        <p:spPr>
          <a:xfrm>
            <a:off x="716280" y="7579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documented scope focuses on backend APIs and database management rather than a complete</a:t>
            </a:r>
          </a:p>
        </p:txBody>
      </p:sp>
      <p:sp>
        <p:nvSpPr>
          <p:cNvPr id="6" name="TextBox 5"/>
          <p:cNvSpPr txBox="1"/>
          <p:nvPr/>
        </p:nvSpPr>
        <p:spPr>
          <a:xfrm>
            <a:off x="716280" y="935786"/>
            <a:ext cx="2378659" cy="203301"/>
          </a:xfrm>
          <a:prstGeom prst="rect">
            <a:avLst/>
          </a:prstGeom>
          <a:noFill/>
        </p:spPr>
        <p:txBody>
          <a:bodyPr wrap="none" lIns="0" tIns="0" rIns="0" bIns="0" anchor="t">
            <a:spAutoFit/>
          </a:bodyPr>
          <a:lstStyle/>
          <a:p>
            <a:pPr algn="l"/>
            <a:r>
              <a:rPr sz="1200" b="0" i="0">
                <a:solidFill>
                  <a:srgbClr val="000000"/>
                </a:solidFill>
                <a:latin typeface="Times New Roman"/>
              </a:rPr>
              <a:t>enterprise warehouse automation suite.</a:t>
            </a:r>
          </a:p>
        </p:txBody>
      </p:sp>
      <p:sp>
        <p:nvSpPr>
          <p:cNvPr id="7" name="TextBox 6"/>
          <p:cNvSpPr txBox="1"/>
          <p:nvPr/>
        </p:nvSpPr>
        <p:spPr>
          <a:xfrm>
            <a:off x="944880" y="11643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External integrations such as barcode scanners, automated purchasing, supplier portals,</a:t>
            </a:r>
          </a:p>
        </p:txBody>
      </p:sp>
      <p:sp>
        <p:nvSpPr>
          <p:cNvPr id="8" name="TextBox 7"/>
          <p:cNvSpPr txBox="1"/>
          <p:nvPr/>
        </p:nvSpPr>
        <p:spPr>
          <a:xfrm>
            <a:off x="716280" y="1342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accounting systems, notification gateways, and regulatory reporting are not described as</a:t>
            </a:r>
          </a:p>
        </p:txBody>
      </p:sp>
      <p:sp>
        <p:nvSpPr>
          <p:cNvPr id="9" name="TextBox 8"/>
          <p:cNvSpPr txBox="1"/>
          <p:nvPr/>
        </p:nvSpPr>
        <p:spPr>
          <a:xfrm>
            <a:off x="716280" y="15199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implemented features in the submitted abstract. They should therefore be treated as future</a:t>
            </a:r>
          </a:p>
        </p:txBody>
      </p:sp>
      <p:sp>
        <p:nvSpPr>
          <p:cNvPr id="10" name="TextBox 9"/>
          <p:cNvSpPr txBox="1"/>
          <p:nvPr/>
        </p:nvSpPr>
        <p:spPr>
          <a:xfrm>
            <a:off x="716280" y="1697786"/>
            <a:ext cx="3458108" cy="203301"/>
          </a:xfrm>
          <a:prstGeom prst="rect">
            <a:avLst/>
          </a:prstGeom>
          <a:noFill/>
        </p:spPr>
        <p:txBody>
          <a:bodyPr wrap="none" lIns="0" tIns="0" rIns="0" bIns="0" anchor="t">
            <a:spAutoFit/>
          </a:bodyPr>
          <a:lstStyle/>
          <a:p>
            <a:pPr algn="l"/>
            <a:r>
              <a:rPr sz="1200" b="0" i="0">
                <a:solidFill>
                  <a:srgbClr val="000000"/>
                </a:solidFill>
                <a:latin typeface="Times New Roman"/>
              </a:rPr>
              <a:t>extensions unless separately demonstrated in the project.</a:t>
            </a:r>
          </a:p>
        </p:txBody>
      </p:sp>
      <p:sp>
        <p:nvSpPr>
          <p:cNvPr id="11" name="TextBox 10"/>
          <p:cNvSpPr txBox="1"/>
          <p:nvPr/>
        </p:nvSpPr>
        <p:spPr>
          <a:xfrm>
            <a:off x="944880" y="19263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Scalability depends on deployment resources, database design, indexing, request volume, and</a:t>
            </a:r>
          </a:p>
        </p:txBody>
      </p:sp>
      <p:sp>
        <p:nvSpPr>
          <p:cNvPr id="12" name="TextBox 11"/>
          <p:cNvSpPr txBox="1"/>
          <p:nvPr/>
        </p:nvSpPr>
        <p:spPr>
          <a:xfrm>
            <a:off x="716280" y="2104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monitoring. A classroom or prototype deployment may not represent the performance characteristics</a:t>
            </a:r>
          </a:p>
        </p:txBody>
      </p:sp>
      <p:sp>
        <p:nvSpPr>
          <p:cNvPr id="13" name="TextBox 12"/>
          <p:cNvSpPr txBox="1"/>
          <p:nvPr/>
        </p:nvSpPr>
        <p:spPr>
          <a:xfrm>
            <a:off x="716280" y="2281986"/>
            <a:ext cx="2382621" cy="203301"/>
          </a:xfrm>
          <a:prstGeom prst="rect">
            <a:avLst/>
          </a:prstGeom>
          <a:noFill/>
        </p:spPr>
        <p:txBody>
          <a:bodyPr wrap="none" lIns="0" tIns="0" rIns="0" bIns="0" anchor="t">
            <a:spAutoFit/>
          </a:bodyPr>
          <a:lstStyle/>
          <a:p>
            <a:pPr algn="l"/>
            <a:r>
              <a:rPr sz="1200" b="0" i="0">
                <a:solidFill>
                  <a:srgbClr val="000000"/>
                </a:solidFill>
                <a:latin typeface="Times New Roman"/>
              </a:rPr>
              <a:t>of a large pharmaceutical organization.</a:t>
            </a:r>
          </a:p>
        </p:txBody>
      </p:sp>
      <p:sp>
        <p:nvSpPr>
          <p:cNvPr id="14" name="TextBox 13"/>
          <p:cNvSpPr txBox="1"/>
          <p:nvPr/>
        </p:nvSpPr>
        <p:spPr>
          <a:xfrm>
            <a:off x="944880" y="25105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exact role permissions, user interface screens, and production infrastructure depend on the</a:t>
            </a:r>
          </a:p>
        </p:txBody>
      </p:sp>
      <p:sp>
        <p:nvSpPr>
          <p:cNvPr id="15" name="TextBox 14"/>
          <p:cNvSpPr txBox="1"/>
          <p:nvPr/>
        </p:nvSpPr>
        <p:spPr>
          <a:xfrm>
            <a:off x="716280" y="2688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final implementation and should be updated in the report if additional modules are added after the</a:t>
            </a:r>
          </a:p>
        </p:txBody>
      </p:sp>
      <p:sp>
        <p:nvSpPr>
          <p:cNvPr id="16" name="TextBox 15"/>
          <p:cNvSpPr txBox="1"/>
          <p:nvPr/>
        </p:nvSpPr>
        <p:spPr>
          <a:xfrm>
            <a:off x="716280" y="2866186"/>
            <a:ext cx="1654911" cy="203301"/>
          </a:xfrm>
          <a:prstGeom prst="rect">
            <a:avLst/>
          </a:prstGeom>
          <a:noFill/>
        </p:spPr>
        <p:txBody>
          <a:bodyPr wrap="none" lIns="0" tIns="0" rIns="0" bIns="0" anchor="t">
            <a:spAutoFit/>
          </a:bodyPr>
          <a:lstStyle/>
          <a:p>
            <a:pPr algn="l"/>
            <a:r>
              <a:rPr sz="1200" b="0" i="0">
                <a:solidFill>
                  <a:srgbClr val="000000"/>
                </a:solidFill>
                <a:latin typeface="Times New Roman"/>
              </a:rPr>
              <a:t>documentation is prepared.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31</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422522" y="579322"/>
            <a:ext cx="2714955" cy="281432"/>
          </a:xfrm>
          <a:prstGeom prst="rect">
            <a:avLst/>
          </a:prstGeom>
          <a:noFill/>
        </p:spPr>
        <p:txBody>
          <a:bodyPr wrap="none" lIns="0" tIns="0" rIns="0" bIns="0" anchor="t">
            <a:spAutoFit/>
          </a:bodyPr>
          <a:lstStyle/>
          <a:p>
            <a:pPr algn="ctr"/>
            <a:r>
              <a:rPr sz="1600" b="1" i="0">
                <a:solidFill>
                  <a:srgbClr val="000000"/>
                </a:solidFill>
                <a:latin typeface="Times New Roman"/>
              </a:rPr>
              <a:t>CHAPTER - 14 APPENDICES</a:t>
            </a:r>
          </a:p>
        </p:txBody>
      </p:sp>
      <p:sp>
        <p:nvSpPr>
          <p:cNvPr id="5" name="TextBox 4"/>
          <p:cNvSpPr txBox="1"/>
          <p:nvPr/>
        </p:nvSpPr>
        <p:spPr>
          <a:xfrm>
            <a:off x="716280" y="948740"/>
            <a:ext cx="3398113" cy="246252"/>
          </a:xfrm>
          <a:prstGeom prst="rect">
            <a:avLst/>
          </a:prstGeom>
          <a:noFill/>
        </p:spPr>
        <p:txBody>
          <a:bodyPr wrap="none" lIns="0" tIns="0" rIns="0" bIns="0" anchor="t">
            <a:spAutoFit/>
          </a:bodyPr>
          <a:lstStyle/>
          <a:p>
            <a:pPr algn="l"/>
            <a:r>
              <a:rPr sz="1400" b="1">
                <a:solidFill>
                  <a:srgbClr val="000000"/>
                </a:solidFill>
                <a:latin typeface="Times New Roman"/>
              </a:rPr>
              <a:t>Appendix A – Screenshots of the Application</a:t>
            </a:r>
          </a:p>
        </p:txBody>
      </p:sp>
      <p:sp>
        <p:nvSpPr>
          <p:cNvPr id="6" name="TextBox 5"/>
          <p:cNvSpPr txBox="1"/>
          <p:nvPr/>
        </p:nvSpPr>
        <p:spPr>
          <a:xfrm>
            <a:off x="944880" y="1227886"/>
            <a:ext cx="5898841" cy="203301"/>
          </a:xfrm>
          <a:prstGeom prst="rect">
            <a:avLst/>
          </a:prstGeom>
          <a:noFill/>
        </p:spPr>
        <p:txBody>
          <a:bodyPr wrap="none" lIns="0" tIns="0" rIns="0" bIns="0" anchor="t">
            <a:spAutoFit/>
          </a:bodyPr>
          <a:lstStyle/>
          <a:p>
            <a:pPr algn="l"/>
            <a:r>
              <a:rPr sz="1100" b="0">
                <a:solidFill>
                  <a:srgbClr val="000000"/>
                </a:solidFill>
                <a:latin typeface="Times New Roman"/>
              </a:rPr>
              <a:t>The following pages contain screenshots from the implemented PharmaPlus application used for the project demonstration.</a:t>
            </a:r>
          </a:p>
        </p:txBody>
      </p:sp>
      <p:sp>
        <p:nvSpPr>
          <p:cNvPr id="7" name="TextBox 6"/>
          <p:cNvSpPr txBox="1"/>
          <p:nvPr/>
        </p:nvSpPr>
        <p:spPr>
          <a:xfrm>
            <a:off x="716280" y="1405686"/>
            <a:ext cx="6127440" cy="203301"/>
          </a:xfrm>
          <a:prstGeom prst="rect">
            <a:avLst/>
          </a:prstGeom>
          <a:noFill/>
        </p:spPr>
        <p:txBody>
          <a:bodyPr wrap="none" lIns="0" tIns="0" rIns="0" bIns="0" anchor="t">
            <a:spAutoFit/>
          </a:bodyPr>
          <a:lstStyle/>
          <a:p>
            <a:pPr algn="l"/>
            <a:r>
              <a:rPr sz="1100" b="1">
                <a:solidFill>
                  <a:srgbClr val="000000"/>
                </a:solidFill>
                <a:latin typeface="Times New Roman"/>
              </a:rPr>
              <a:t>Figure A.1 – PharmaPlus Dashboard</a:t>
            </a:r>
          </a:p>
        </p:txBody>
      </p:sp>
      <p:sp>
        <p:nvSpPr>
          <p:cNvPr id="8" name="TextBox 7"/>
          <p:cNvSpPr txBox="1"/>
          <p:nvPr/>
        </p:nvSpPr>
        <p:spPr>
          <a:xfrm>
            <a:off x="716280" y="1583486"/>
            <a:ext cx="914095" cy="203301"/>
          </a:xfrm>
          <a:prstGeom prst="rect">
            <a:avLst/>
          </a:prstGeom>
          <a:noFill/>
        </p:spPr>
        <p:txBody>
          <a:bodyPr wrap="none" lIns="0" tIns="0" rIns="0" bIns="0" anchor="t">
            <a:spAutoFit/>
          </a:bodyPr>
          <a:lstStyle/>
          <a:p>
            <a:pPr algn="l"/>
            <a:r>
              <a:rPr sz="1100" b="1">
                <a:solidFill>
                  <a:srgbClr val="000000"/>
                </a:solidFill>
                <a:latin typeface="Times New Roman"/>
              </a:rPr>
              <a:t>Figure A.2 – Medicine Management</a:t>
            </a:r>
          </a:p>
        </p:txBody>
      </p:sp>
      <p:sp>
        <p:nvSpPr>
          <p:cNvPr id="9" name="TextBox 8"/>
          <p:cNvSpPr txBox="1"/>
          <p:nvPr/>
        </p:nvSpPr>
        <p:spPr>
          <a:xfrm>
            <a:off x="2496772" y="1875256"/>
            <a:ext cx="2566454" cy="184689"/>
          </a:xfrm>
          <a:prstGeom prst="rect">
            <a:avLst/>
          </a:prstGeom>
          <a:noFill/>
        </p:spPr>
        <p:txBody>
          <a:bodyPr wrap="none" lIns="0" tIns="0" rIns="0" bIns="0" anchor="t">
            <a:spAutoFit/>
          </a:bodyPr>
          <a:lstStyle/>
          <a:p>
            <a:pPr algn="l"/>
            <a:r>
              <a:rPr sz="1100" b="1">
                <a:solidFill>
                  <a:srgbClr val="000000"/>
                </a:solidFill>
                <a:latin typeface="Times New Roman"/>
              </a:rPr>
              <a:t>Figure A.3 – Batches &amp; Stock</a:t>
            </a:r>
          </a:p>
        </p:txBody>
      </p:sp>
      <p:sp>
        <p:nvSpPr>
          <p:cNvPr id="10" name="TextBox 9"/>
          <p:cNvSpPr txBox="1"/>
          <p:nvPr/>
        </p:nvSpPr>
        <p:spPr>
          <a:xfrm>
            <a:off x="944880" y="2095550"/>
            <a:ext cx="2798063" cy="203301"/>
          </a:xfrm>
          <a:prstGeom prst="rect">
            <a:avLst/>
          </a:prstGeom>
          <a:noFill/>
        </p:spPr>
        <p:txBody>
          <a:bodyPr wrap="none" lIns="0" tIns="0" rIns="0" bIns="0" anchor="t">
            <a:spAutoFit/>
          </a:bodyPr>
          <a:lstStyle/>
          <a:p>
            <a:pPr algn="l"/>
            <a:endParaRPr/>
          </a:p>
        </p:txBody>
      </p:sp>
      <p:sp>
        <p:nvSpPr>
          <p:cNvPr id="11" name="TextBox 10"/>
          <p:cNvSpPr txBox="1"/>
          <p:nvPr/>
        </p:nvSpPr>
        <p:spPr>
          <a:xfrm>
            <a:off x="2624455" y="2387319"/>
            <a:ext cx="2311088" cy="184689"/>
          </a:xfrm>
          <a:prstGeom prst="rect">
            <a:avLst/>
          </a:prstGeom>
          <a:noFill/>
        </p:spPr>
        <p:txBody>
          <a:bodyPr wrap="none" lIns="0" tIns="0" rIns="0" bIns="0" anchor="t">
            <a:spAutoFit/>
          </a:bodyPr>
          <a:lstStyle/>
          <a:p>
            <a:pPr algn="ctr"/>
            <a:endParaRPr/>
          </a:p>
        </p:txBody>
      </p:sp>
      <p:sp>
        <p:nvSpPr>
          <p:cNvPr id="12" name="TextBox 11"/>
          <p:cNvSpPr txBox="1"/>
          <p:nvPr/>
        </p:nvSpPr>
        <p:spPr>
          <a:xfrm>
            <a:off x="944880" y="2607614"/>
            <a:ext cx="2505760" cy="203301"/>
          </a:xfrm>
          <a:prstGeom prst="rect">
            <a:avLst/>
          </a:prstGeom>
          <a:noFill/>
        </p:spPr>
        <p:txBody>
          <a:bodyPr wrap="none" lIns="0" tIns="0" rIns="0" bIns="0" anchor="t">
            <a:spAutoFit/>
          </a:bodyPr>
          <a:lstStyle/>
          <a:p>
            <a:pPr algn="l"/>
            <a:endParaRPr/>
          </a:p>
        </p:txBody>
      </p:sp>
      <p:sp>
        <p:nvSpPr>
          <p:cNvPr id="13" name="TextBox 12"/>
          <p:cNvSpPr txBox="1"/>
          <p:nvPr/>
        </p:nvSpPr>
        <p:spPr>
          <a:xfrm>
            <a:off x="2642858" y="2899383"/>
            <a:ext cx="2274283" cy="184689"/>
          </a:xfrm>
          <a:prstGeom prst="rect">
            <a:avLst/>
          </a:prstGeom>
          <a:noFill/>
        </p:spPr>
        <p:txBody>
          <a:bodyPr wrap="none" lIns="0" tIns="0" rIns="0" bIns="0" anchor="t">
            <a:spAutoFit/>
          </a:bodyPr>
          <a:lstStyle/>
          <a:p>
            <a:pPr algn="ctr"/>
            <a:endParaRPr/>
          </a:p>
        </p:txBody>
      </p:sp>
      <p:sp>
        <p:nvSpPr>
          <p:cNvPr id="14" name="TextBox 13"/>
          <p:cNvSpPr txBox="1"/>
          <p:nvPr/>
        </p:nvSpPr>
        <p:spPr>
          <a:xfrm>
            <a:off x="944880" y="3119678"/>
            <a:ext cx="2446629" cy="203301"/>
          </a:xfrm>
          <a:prstGeom prst="rect">
            <a:avLst/>
          </a:prstGeom>
          <a:noFill/>
        </p:spPr>
        <p:txBody>
          <a:bodyPr wrap="none" lIns="0" tIns="0" rIns="0" bIns="0" anchor="t">
            <a:spAutoFit/>
          </a:bodyPr>
          <a:lstStyle/>
          <a:p>
            <a:pPr algn="l"/>
            <a:endParaRPr/>
          </a:p>
        </p:txBody>
      </p:sp>
      <p:sp>
        <p:nvSpPr>
          <p:cNvPr id="15" name="TextBox 14"/>
          <p:cNvSpPr txBox="1"/>
          <p:nvPr/>
        </p:nvSpPr>
        <p:spPr>
          <a:xfrm>
            <a:off x="2589118" y="3411447"/>
            <a:ext cx="2381764" cy="184689"/>
          </a:xfrm>
          <a:prstGeom prst="rect">
            <a:avLst/>
          </a:prstGeom>
          <a:noFill/>
        </p:spPr>
        <p:txBody>
          <a:bodyPr wrap="none" lIns="0" tIns="0" rIns="0" bIns="0" anchor="t">
            <a:spAutoFit/>
          </a:bodyPr>
          <a:lstStyle/>
          <a:p>
            <a:pPr algn="ctr"/>
            <a:endParaRPr/>
          </a:p>
        </p:txBody>
      </p:sp>
      <p:sp>
        <p:nvSpPr>
          <p:cNvPr id="16" name="TextBox 15"/>
          <p:cNvSpPr txBox="1"/>
          <p:nvPr/>
        </p:nvSpPr>
        <p:spPr>
          <a:xfrm>
            <a:off x="944880" y="3631742"/>
            <a:ext cx="2560777" cy="203301"/>
          </a:xfrm>
          <a:prstGeom prst="rect">
            <a:avLst/>
          </a:prstGeom>
          <a:noFill/>
        </p:spPr>
        <p:txBody>
          <a:bodyPr wrap="none" lIns="0" tIns="0" rIns="0" bIns="0" anchor="t">
            <a:spAutoFit/>
          </a:bodyPr>
          <a:lstStyle/>
          <a:p>
            <a:pPr algn="l"/>
            <a:endParaRPr/>
          </a:p>
        </p:txBody>
      </p:sp>
      <p:sp>
        <p:nvSpPr>
          <p:cNvPr id="17" name="TextBox 16"/>
          <p:cNvSpPr txBox="1"/>
          <p:nvPr/>
        </p:nvSpPr>
        <p:spPr>
          <a:xfrm>
            <a:off x="2407627" y="3923512"/>
            <a:ext cx="2744742" cy="184689"/>
          </a:xfrm>
          <a:prstGeom prst="rect">
            <a:avLst/>
          </a:prstGeom>
          <a:noFill/>
        </p:spPr>
        <p:txBody>
          <a:bodyPr wrap="none" lIns="0" tIns="0" rIns="0" bIns="0" anchor="t">
            <a:spAutoFit/>
          </a:bodyPr>
          <a:lstStyle/>
          <a:p>
            <a:pPr algn="ctr"/>
            <a:endParaRPr/>
          </a:p>
        </p:txBody>
      </p:sp>
      <p:sp>
        <p:nvSpPr>
          <p:cNvPr id="18" name="TextBox 17"/>
          <p:cNvSpPr txBox="1"/>
          <p:nvPr/>
        </p:nvSpPr>
        <p:spPr>
          <a:xfrm>
            <a:off x="944880" y="4143806"/>
            <a:ext cx="2950311" cy="203301"/>
          </a:xfrm>
          <a:prstGeom prst="rect">
            <a:avLst/>
          </a:prstGeom>
          <a:noFill/>
        </p:spPr>
        <p:txBody>
          <a:bodyPr wrap="none" lIns="0" tIns="0" rIns="0" bIns="0" anchor="t">
            <a:spAutoFit/>
          </a:bodyPr>
          <a:lstStyle/>
          <a:p>
            <a:pPr algn="l"/>
            <a:endParaRPr/>
          </a:p>
        </p:txBody>
      </p:sp>
      <p:sp>
        <p:nvSpPr>
          <p:cNvPr id="19" name="TextBox 18"/>
          <p:cNvSpPr txBox="1"/>
          <p:nvPr/>
        </p:nvSpPr>
        <p:spPr>
          <a:xfrm>
            <a:off x="716280" y="4410760"/>
            <a:ext cx="2781147" cy="246252"/>
          </a:xfrm>
          <a:prstGeom prst="rect">
            <a:avLst/>
          </a:prstGeom>
          <a:noFill/>
        </p:spPr>
        <p:txBody>
          <a:bodyPr wrap="none" lIns="0" tIns="0" rIns="0" bIns="0" anchor="t">
            <a:spAutoFit/>
          </a:bodyPr>
          <a:lstStyle/>
          <a:p>
            <a:pPr algn="l"/>
            <a:r>
              <a:rPr sz="1400" b="1">
                <a:solidFill>
                  <a:srgbClr val="000000"/>
                </a:solidFill>
                <a:latin typeface="Times New Roman"/>
              </a:rPr>
              <a:t>Appendix B – Sample Code Snippets</a:t>
            </a:r>
          </a:p>
        </p:txBody>
      </p:sp>
      <p:sp>
        <p:nvSpPr>
          <p:cNvPr id="20" name="TextBox 19"/>
          <p:cNvSpPr txBox="1"/>
          <p:nvPr/>
        </p:nvSpPr>
        <p:spPr>
          <a:xfrm>
            <a:off x="944880" y="4689906"/>
            <a:ext cx="5898841" cy="203301"/>
          </a:xfrm>
          <a:prstGeom prst="rect">
            <a:avLst/>
          </a:prstGeom>
          <a:noFill/>
        </p:spPr>
        <p:txBody>
          <a:bodyPr wrap="none" lIns="0" tIns="0" rIns="0" bIns="0" anchor="t">
            <a:spAutoFit/>
          </a:bodyPr>
          <a:lstStyle/>
          <a:p>
            <a:pPr algn="l"/>
            <a:r>
              <a:rPr sz="1100" b="0">
                <a:solidFill>
                  <a:srgbClr val="000000"/>
                </a:solidFill>
                <a:latin typeface="Times New Roman"/>
              </a:rPr>
              <a:t>The following documented snippets are retained to show the RESTful backend operations used in the project.</a:t>
            </a:r>
          </a:p>
        </p:txBody>
      </p:sp>
      <p:sp>
        <p:nvSpPr>
          <p:cNvPr id="21" name="TextBox 20"/>
          <p:cNvSpPr txBox="1"/>
          <p:nvPr/>
        </p:nvSpPr>
        <p:spPr>
          <a:xfrm>
            <a:off x="716280" y="4867706"/>
            <a:ext cx="6127441" cy="203301"/>
          </a:xfrm>
          <a:prstGeom prst="rect">
            <a:avLst/>
          </a:prstGeom>
          <a:noFill/>
        </p:spPr>
        <p:txBody>
          <a:bodyPr wrap="none" lIns="0" tIns="0" rIns="0" bIns="0" anchor="t">
            <a:spAutoFit/>
          </a:bodyPr>
          <a:lstStyle/>
          <a:p>
            <a:pPr algn="l"/>
            <a:r>
              <a:rPr sz="1100" b="0">
                <a:solidFill>
                  <a:srgbClr val="000000"/>
                </a:solidFill>
                <a:latin typeface="Times New Roman"/>
              </a:rPr>
              <a:t>They should be synchronized with the final source code if route names or implementation details change.</a:t>
            </a:r>
          </a:p>
        </p:txBody>
      </p:sp>
      <p:sp>
        <p:nvSpPr>
          <p:cNvPr id="22" name="TextBox 21"/>
          <p:cNvSpPr txBox="1"/>
          <p:nvPr/>
        </p:nvSpPr>
        <p:spPr>
          <a:xfrm>
            <a:off x="716280" y="5045506"/>
            <a:ext cx="3432657" cy="203301"/>
          </a:xfrm>
          <a:prstGeom prst="rect">
            <a:avLst/>
          </a:prstGeom>
          <a:noFill/>
        </p:spPr>
        <p:txBody>
          <a:bodyPr wrap="none" lIns="0" tIns="0" rIns="0" bIns="0" anchor="t">
            <a:spAutoFit/>
          </a:bodyPr>
          <a:lstStyle/>
          <a:p>
            <a:pPr algn="l"/>
            <a:r>
              <a:rPr sz="1200" b="0" i="0">
                <a:solidFill>
                  <a:srgbClr val="000000"/>
                </a:solidFill>
                <a:latin typeface="Times New Roman"/>
              </a:rPr>
              <a:t>implementation uses different route names or structures.</a:t>
            </a:r>
          </a:p>
        </p:txBody>
      </p:sp>
      <p:sp>
        <p:nvSpPr>
          <p:cNvPr id="23" name="TextBox 22"/>
          <p:cNvSpPr txBox="1"/>
          <p:nvPr/>
        </p:nvSpPr>
        <p:spPr>
          <a:xfrm>
            <a:off x="944880" y="5274106"/>
            <a:ext cx="2107844" cy="203301"/>
          </a:xfrm>
          <a:prstGeom prst="rect">
            <a:avLst/>
          </a:prstGeom>
          <a:noFill/>
        </p:spPr>
        <p:txBody>
          <a:bodyPr wrap="none" lIns="0" tIns="0" rIns="0" bIns="0" anchor="t">
            <a:spAutoFit/>
          </a:bodyPr>
          <a:lstStyle/>
          <a:p>
            <a:pPr algn="l"/>
            <a:r>
              <a:rPr sz="1200" b="0" i="0">
                <a:solidFill>
                  <a:srgbClr val="000000"/>
                </a:solidFill>
                <a:latin typeface="Times New Roman"/>
              </a:rPr>
              <a:t>// Example Express route structure</a:t>
            </a:r>
          </a:p>
        </p:txBody>
      </p:sp>
      <p:sp>
        <p:nvSpPr>
          <p:cNvPr id="24" name="TextBox 23"/>
          <p:cNvSpPr txBox="1"/>
          <p:nvPr/>
        </p:nvSpPr>
        <p:spPr>
          <a:xfrm>
            <a:off x="716280" y="5451906"/>
            <a:ext cx="2756306" cy="203301"/>
          </a:xfrm>
          <a:prstGeom prst="rect">
            <a:avLst/>
          </a:prstGeom>
          <a:noFill/>
        </p:spPr>
        <p:txBody>
          <a:bodyPr wrap="none" lIns="0" tIns="0" rIns="0" bIns="0" anchor="t">
            <a:spAutoFit/>
          </a:bodyPr>
          <a:lstStyle/>
          <a:p>
            <a:pPr algn="l"/>
            <a:r>
              <a:rPr sz="1200" b="0" i="0">
                <a:solidFill>
                  <a:srgbClr val="000000"/>
                </a:solidFill>
                <a:latin typeface="Times New Roman"/>
              </a:rPr>
              <a:t>router.get("/medicines", async (req, res) =&gt; {</a:t>
            </a:r>
          </a:p>
        </p:txBody>
      </p:sp>
      <p:sp>
        <p:nvSpPr>
          <p:cNvPr id="25" name="TextBox 24"/>
          <p:cNvSpPr txBox="1"/>
          <p:nvPr/>
        </p:nvSpPr>
        <p:spPr>
          <a:xfrm>
            <a:off x="716280" y="5629706"/>
            <a:ext cx="2511247" cy="203301"/>
          </a:xfrm>
          <a:prstGeom prst="rect">
            <a:avLst/>
          </a:prstGeom>
          <a:noFill/>
        </p:spPr>
        <p:txBody>
          <a:bodyPr wrap="none" lIns="0" tIns="0" rIns="0" bIns="0" anchor="t">
            <a:spAutoFit/>
          </a:bodyPr>
          <a:lstStyle/>
          <a:p>
            <a:pPr algn="l"/>
            <a:r>
              <a:rPr sz="1200" b="0" i="0">
                <a:solidFill>
                  <a:srgbClr val="000000"/>
                </a:solidFill>
                <a:latin typeface="Times New Roman"/>
              </a:rPr>
              <a:t>const medicines = await Medicine.find();</a:t>
            </a:r>
          </a:p>
        </p:txBody>
      </p:sp>
      <p:sp>
        <p:nvSpPr>
          <p:cNvPr id="26" name="TextBox 25"/>
          <p:cNvSpPr txBox="1"/>
          <p:nvPr/>
        </p:nvSpPr>
        <p:spPr>
          <a:xfrm>
            <a:off x="716280" y="5807506"/>
            <a:ext cx="1947062" cy="203301"/>
          </a:xfrm>
          <a:prstGeom prst="rect">
            <a:avLst/>
          </a:prstGeom>
          <a:noFill/>
        </p:spPr>
        <p:txBody>
          <a:bodyPr wrap="none" lIns="0" tIns="0" rIns="0" bIns="0" anchor="t">
            <a:spAutoFit/>
          </a:bodyPr>
          <a:lstStyle/>
          <a:p>
            <a:pPr algn="l"/>
            <a:r>
              <a:rPr sz="1200" b="0" i="0">
                <a:solidFill>
                  <a:srgbClr val="000000"/>
                </a:solidFill>
                <a:latin typeface="Times New Roman"/>
              </a:rPr>
              <a:t>res.status(200).json(medicines);</a:t>
            </a:r>
          </a:p>
        </p:txBody>
      </p:sp>
      <p:sp>
        <p:nvSpPr>
          <p:cNvPr id="27" name="TextBox 26"/>
          <p:cNvSpPr txBox="1"/>
          <p:nvPr/>
        </p:nvSpPr>
        <p:spPr>
          <a:xfrm>
            <a:off x="716280" y="5985306"/>
            <a:ext cx="166268" cy="203301"/>
          </a:xfrm>
          <a:prstGeom prst="rect">
            <a:avLst/>
          </a:prstGeom>
          <a:noFill/>
        </p:spPr>
        <p:txBody>
          <a:bodyPr wrap="none" lIns="0" tIns="0" rIns="0" bIns="0" anchor="t">
            <a:spAutoFit/>
          </a:bodyPr>
          <a:lstStyle/>
          <a:p>
            <a:pPr algn="l"/>
            <a:r>
              <a:rPr sz="1200" b="0" i="0">
                <a:solidFill>
                  <a:srgbClr val="000000"/>
                </a:solidFill>
                <a:latin typeface="Times New Roman"/>
              </a:rPr>
              <a:t>});</a:t>
            </a:r>
          </a:p>
        </p:txBody>
      </p:sp>
      <p:sp>
        <p:nvSpPr>
          <p:cNvPr id="28" name="TextBox 27"/>
          <p:cNvSpPr txBox="1"/>
          <p:nvPr/>
        </p:nvSpPr>
        <p:spPr>
          <a:xfrm>
            <a:off x="944880" y="6213906"/>
            <a:ext cx="1807311" cy="203301"/>
          </a:xfrm>
          <a:prstGeom prst="rect">
            <a:avLst/>
          </a:prstGeom>
          <a:noFill/>
        </p:spPr>
        <p:txBody>
          <a:bodyPr wrap="none" lIns="0" tIns="0" rIns="0" bIns="0" anchor="t">
            <a:spAutoFit/>
          </a:bodyPr>
          <a:lstStyle/>
          <a:p>
            <a:pPr algn="l"/>
            <a:r>
              <a:rPr sz="1200" b="0" i="0">
                <a:solidFill>
                  <a:srgbClr val="000000"/>
                </a:solidFill>
                <a:latin typeface="Times New Roman"/>
              </a:rPr>
              <a:t>// Example creation operation</a:t>
            </a:r>
          </a:p>
        </p:txBody>
      </p:sp>
      <p:sp>
        <p:nvSpPr>
          <p:cNvPr id="29" name="TextBox 28"/>
          <p:cNvSpPr txBox="1"/>
          <p:nvPr/>
        </p:nvSpPr>
        <p:spPr>
          <a:xfrm>
            <a:off x="716280" y="6391706"/>
            <a:ext cx="2824124" cy="203301"/>
          </a:xfrm>
          <a:prstGeom prst="rect">
            <a:avLst/>
          </a:prstGeom>
          <a:noFill/>
        </p:spPr>
        <p:txBody>
          <a:bodyPr wrap="none" lIns="0" tIns="0" rIns="0" bIns="0" anchor="t">
            <a:spAutoFit/>
          </a:bodyPr>
          <a:lstStyle/>
          <a:p>
            <a:pPr algn="l"/>
            <a:r>
              <a:rPr sz="1200" b="0" i="0">
                <a:solidFill>
                  <a:srgbClr val="000000"/>
                </a:solidFill>
                <a:latin typeface="Times New Roman"/>
              </a:rPr>
              <a:t>router.post("/medicines", async (req, res) =&gt; {</a:t>
            </a:r>
          </a:p>
        </p:txBody>
      </p:sp>
      <p:sp>
        <p:nvSpPr>
          <p:cNvPr id="30" name="TextBox 29"/>
          <p:cNvSpPr txBox="1"/>
          <p:nvPr/>
        </p:nvSpPr>
        <p:spPr>
          <a:xfrm>
            <a:off x="716280" y="6569506"/>
            <a:ext cx="3107741" cy="203301"/>
          </a:xfrm>
          <a:prstGeom prst="rect">
            <a:avLst/>
          </a:prstGeom>
          <a:noFill/>
        </p:spPr>
        <p:txBody>
          <a:bodyPr wrap="none" lIns="0" tIns="0" rIns="0" bIns="0" anchor="t">
            <a:spAutoFit/>
          </a:bodyPr>
          <a:lstStyle/>
          <a:p>
            <a:pPr algn="l"/>
            <a:r>
              <a:rPr sz="1200" b="0" i="0">
                <a:solidFill>
                  <a:srgbClr val="000000"/>
                </a:solidFill>
                <a:latin typeface="Times New Roman"/>
              </a:rPr>
              <a:t>const medicine = await Medicine.create(req.body);</a:t>
            </a:r>
          </a:p>
        </p:txBody>
      </p:sp>
      <p:sp>
        <p:nvSpPr>
          <p:cNvPr id="31" name="TextBox 30"/>
          <p:cNvSpPr txBox="1"/>
          <p:nvPr/>
        </p:nvSpPr>
        <p:spPr>
          <a:xfrm>
            <a:off x="716280" y="6747306"/>
            <a:ext cx="1887778" cy="203301"/>
          </a:xfrm>
          <a:prstGeom prst="rect">
            <a:avLst/>
          </a:prstGeom>
          <a:noFill/>
        </p:spPr>
        <p:txBody>
          <a:bodyPr wrap="none" lIns="0" tIns="0" rIns="0" bIns="0" anchor="t">
            <a:spAutoFit/>
          </a:bodyPr>
          <a:lstStyle/>
          <a:p>
            <a:pPr algn="l"/>
            <a:r>
              <a:rPr sz="1200" b="0" i="0">
                <a:solidFill>
                  <a:srgbClr val="000000"/>
                </a:solidFill>
                <a:latin typeface="Times New Roman"/>
              </a:rPr>
              <a:t>res.status(201).json(medicine);</a:t>
            </a:r>
          </a:p>
        </p:txBody>
      </p:sp>
      <p:sp>
        <p:nvSpPr>
          <p:cNvPr id="32" name="TextBox 31"/>
          <p:cNvSpPr txBox="1"/>
          <p:nvPr/>
        </p:nvSpPr>
        <p:spPr>
          <a:xfrm>
            <a:off x="716280" y="6925106"/>
            <a:ext cx="166268" cy="203301"/>
          </a:xfrm>
          <a:prstGeom prst="rect">
            <a:avLst/>
          </a:prstGeom>
          <a:noFill/>
        </p:spPr>
        <p:txBody>
          <a:bodyPr wrap="none" lIns="0" tIns="0" rIns="0" bIns="0" anchor="t">
            <a:spAutoFit/>
          </a:bodyPr>
          <a:lstStyle/>
          <a:p>
            <a:pPr algn="l"/>
            <a:r>
              <a:rPr sz="1200" b="0" i="0">
                <a:solidFill>
                  <a:srgbClr val="000000"/>
                </a:solidFill>
                <a:latin typeface="Times New Roman"/>
              </a:rPr>
              <a:t>});</a:t>
            </a:r>
          </a:p>
        </p:txBody>
      </p:sp>
      <p:sp>
        <p:nvSpPr>
          <p:cNvPr id="33" name="TextBox 32"/>
          <p:cNvSpPr txBox="1"/>
          <p:nvPr/>
        </p:nvSpPr>
        <p:spPr>
          <a:xfrm>
            <a:off x="944880" y="7153706"/>
            <a:ext cx="2277313" cy="203301"/>
          </a:xfrm>
          <a:prstGeom prst="rect">
            <a:avLst/>
          </a:prstGeom>
          <a:noFill/>
        </p:spPr>
        <p:txBody>
          <a:bodyPr wrap="none" lIns="0" tIns="0" rIns="0" bIns="0" anchor="t">
            <a:spAutoFit/>
          </a:bodyPr>
          <a:lstStyle/>
          <a:p>
            <a:pPr algn="l"/>
            <a:r>
              <a:rPr sz="1200" b="0" i="0">
                <a:solidFill>
                  <a:srgbClr val="000000"/>
                </a:solidFill>
                <a:latin typeface="Times New Roman"/>
              </a:rPr>
              <a:t>// Example monitoring query concept</a:t>
            </a:r>
          </a:p>
        </p:txBody>
      </p:sp>
      <p:sp>
        <p:nvSpPr>
          <p:cNvPr id="34" name="TextBox 33"/>
          <p:cNvSpPr txBox="1"/>
          <p:nvPr/>
        </p:nvSpPr>
        <p:spPr>
          <a:xfrm>
            <a:off x="716280" y="7331506"/>
            <a:ext cx="2449068" cy="203301"/>
          </a:xfrm>
          <a:prstGeom prst="rect">
            <a:avLst/>
          </a:prstGeom>
          <a:noFill/>
        </p:spPr>
        <p:txBody>
          <a:bodyPr wrap="none" lIns="0" tIns="0" rIns="0" bIns="0" anchor="t">
            <a:spAutoFit/>
          </a:bodyPr>
          <a:lstStyle/>
          <a:p>
            <a:pPr algn="l"/>
            <a:r>
              <a:rPr sz="1200" b="0" i="0">
                <a:solidFill>
                  <a:srgbClr val="000000"/>
                </a:solidFill>
                <a:latin typeface="Times New Roman"/>
              </a:rPr>
              <a:t>const lowStock = await Medicine.find({</a:t>
            </a:r>
          </a:p>
        </p:txBody>
      </p:sp>
      <p:sp>
        <p:nvSpPr>
          <p:cNvPr id="35" name="TextBox 34"/>
          <p:cNvSpPr txBox="1"/>
          <p:nvPr/>
        </p:nvSpPr>
        <p:spPr>
          <a:xfrm>
            <a:off x="716280" y="7509306"/>
            <a:ext cx="2170175" cy="203301"/>
          </a:xfrm>
          <a:prstGeom prst="rect">
            <a:avLst/>
          </a:prstGeom>
          <a:noFill/>
        </p:spPr>
        <p:txBody>
          <a:bodyPr wrap="none" lIns="0" tIns="0" rIns="0" bIns="0" anchor="t">
            <a:spAutoFit/>
          </a:bodyPr>
          <a:lstStyle/>
          <a:p>
            <a:pPr algn="l"/>
            <a:r>
              <a:rPr sz="1200" b="0" i="0">
                <a:solidFill>
                  <a:srgbClr val="000000"/>
                </a:solidFill>
                <a:latin typeface="Times New Roman"/>
              </a:rPr>
              <a:t>quantity: { $lt: minimumQuantity }</a:t>
            </a:r>
          </a:p>
        </p:txBody>
      </p:sp>
      <p:sp>
        <p:nvSpPr>
          <p:cNvPr id="36" name="TextBox 35"/>
          <p:cNvSpPr txBox="1"/>
          <p:nvPr/>
        </p:nvSpPr>
        <p:spPr>
          <a:xfrm>
            <a:off x="716280" y="7687106"/>
            <a:ext cx="166268" cy="203301"/>
          </a:xfrm>
          <a:prstGeom prst="rect">
            <a:avLst/>
          </a:prstGeom>
          <a:noFill/>
        </p:spPr>
        <p:txBody>
          <a:bodyPr wrap="none" lIns="0" tIns="0" rIns="0" bIns="0" anchor="t">
            <a:spAutoFit/>
          </a:bodyPr>
          <a:lstStyle/>
          <a:p>
            <a:pPr algn="l"/>
            <a:r>
              <a:rPr sz="1200" b="0" i="0">
                <a:solidFill>
                  <a:srgbClr val="000000"/>
                </a:solidFill>
                <a:latin typeface="Times New Roman"/>
              </a:rPr>
              <a:t>});</a:t>
            </a:r>
          </a:p>
        </p:txBody>
      </p:sp>
      <p:sp>
        <p:nvSpPr>
          <p:cNvPr id="37" name="TextBox 36"/>
          <p:cNvSpPr txBox="1"/>
          <p:nvPr/>
        </p:nvSpPr>
        <p:spPr>
          <a:xfrm>
            <a:off x="716280" y="7954060"/>
            <a:ext cx="3497325" cy="246253"/>
          </a:xfrm>
          <a:prstGeom prst="rect">
            <a:avLst/>
          </a:prstGeom>
          <a:noFill/>
        </p:spPr>
        <p:txBody>
          <a:bodyPr wrap="none" lIns="0" tIns="0" rIns="0" bIns="0" anchor="t">
            <a:spAutoFit/>
          </a:bodyPr>
          <a:lstStyle/>
          <a:p>
            <a:pPr algn="l"/>
            <a:r>
              <a:rPr sz="1400" b="1" i="0">
                <a:solidFill>
                  <a:srgbClr val="000000"/>
                </a:solidFill>
                <a:latin typeface="Times New Roman"/>
              </a:rPr>
              <a:t>Appendix C – Installation / Setup Instructions</a:t>
            </a:r>
          </a:p>
        </p:txBody>
      </p:sp>
      <p:sp>
        <p:nvSpPr>
          <p:cNvPr id="38" name="TextBox 37"/>
          <p:cNvSpPr txBox="1"/>
          <p:nvPr/>
        </p:nvSpPr>
        <p:spPr>
          <a:xfrm>
            <a:off x="716280" y="8258860"/>
            <a:ext cx="4252620" cy="246253"/>
          </a:xfrm>
          <a:prstGeom prst="rect">
            <a:avLst/>
          </a:prstGeom>
          <a:noFill/>
        </p:spPr>
        <p:txBody>
          <a:bodyPr wrap="none" lIns="0" tIns="0" rIns="0" bIns="0" anchor="t">
            <a:spAutoFit/>
          </a:bodyPr>
          <a:lstStyle/>
          <a:p>
            <a:pPr algn="l"/>
            <a:r>
              <a:rPr sz="1400" b="1" i="0">
                <a:solidFill>
                  <a:srgbClr val="000000"/>
                </a:solidFill>
                <a:latin typeface="Times New Roman"/>
              </a:rPr>
              <a:t>1. Install Node.js and npm on the development machine.</a:t>
            </a:r>
          </a:p>
        </p:txBody>
      </p:sp>
      <p:sp>
        <p:nvSpPr>
          <p:cNvPr id="39" name="TextBox 38"/>
          <p:cNvSpPr txBox="1"/>
          <p:nvPr/>
        </p:nvSpPr>
        <p:spPr>
          <a:xfrm>
            <a:off x="716280" y="8563660"/>
            <a:ext cx="5877178" cy="246253"/>
          </a:xfrm>
          <a:prstGeom prst="rect">
            <a:avLst/>
          </a:prstGeom>
          <a:noFill/>
        </p:spPr>
        <p:txBody>
          <a:bodyPr wrap="none" lIns="0" tIns="0" rIns="0" bIns="0" anchor="t">
            <a:spAutoFit/>
          </a:bodyPr>
          <a:lstStyle/>
          <a:p>
            <a:pPr algn="ctr"/>
            <a:r>
              <a:rPr sz="1400" b="1" i="0">
                <a:solidFill>
                  <a:srgbClr val="000000"/>
                </a:solidFill>
                <a:latin typeface="Times New Roman"/>
              </a:rPr>
              <a:t>2. Obtain the project source code and open the project folder in Visual Studio</a:t>
            </a:r>
          </a:p>
        </p:txBody>
      </p:sp>
      <p:sp>
        <p:nvSpPr>
          <p:cNvPr id="40" name="TextBox 39"/>
          <p:cNvSpPr txBox="1"/>
          <p:nvPr/>
        </p:nvSpPr>
        <p:spPr>
          <a:xfrm>
            <a:off x="716280" y="8779560"/>
            <a:ext cx="439521" cy="246253"/>
          </a:xfrm>
          <a:prstGeom prst="rect">
            <a:avLst/>
          </a:prstGeom>
          <a:noFill/>
        </p:spPr>
        <p:txBody>
          <a:bodyPr wrap="none" lIns="0" tIns="0" rIns="0" bIns="0" anchor="t">
            <a:spAutoFit/>
          </a:bodyPr>
          <a:lstStyle/>
          <a:p>
            <a:pPr algn="l"/>
            <a:r>
              <a:rPr sz="1400" b="1" i="0">
                <a:solidFill>
                  <a:srgbClr val="000000"/>
                </a:solidFill>
                <a:latin typeface="Times New Roman"/>
              </a:rPr>
              <a:t>Code.</a:t>
            </a:r>
          </a:p>
        </p:txBody>
      </p:sp>
      <p:sp>
        <p:nvSpPr>
          <p:cNvPr id="41" name="TextBox 40"/>
          <p:cNvSpPr txBox="1"/>
          <p:nvPr/>
        </p:nvSpPr>
        <p:spPr>
          <a:xfrm>
            <a:off x="716280" y="9084361"/>
            <a:ext cx="6010528" cy="246253"/>
          </a:xfrm>
          <a:prstGeom prst="rect">
            <a:avLst/>
          </a:prstGeom>
          <a:noFill/>
        </p:spPr>
        <p:txBody>
          <a:bodyPr wrap="none" lIns="0" tIns="0" rIns="0" bIns="0" anchor="t">
            <a:spAutoFit/>
          </a:bodyPr>
          <a:lstStyle/>
          <a:p>
            <a:pPr algn="ctr"/>
            <a:r>
              <a:rPr sz="1400" b="1" i="0">
                <a:solidFill>
                  <a:srgbClr val="000000"/>
                </a:solidFill>
                <a:latin typeface="Times New Roman"/>
              </a:rPr>
              <a:t>3. Open the terminal in the project folder and install the required dependencies</a:t>
            </a:r>
          </a:p>
        </p:txBody>
      </p:sp>
      <p:sp>
        <p:nvSpPr>
          <p:cNvPr id="42" name="TextBox 41"/>
          <p:cNvSpPr txBox="1"/>
          <p:nvPr/>
        </p:nvSpPr>
        <p:spPr>
          <a:xfrm>
            <a:off x="716280" y="9300261"/>
            <a:ext cx="2908986" cy="246253"/>
          </a:xfrm>
          <a:prstGeom prst="rect">
            <a:avLst/>
          </a:prstGeom>
          <a:noFill/>
        </p:spPr>
        <p:txBody>
          <a:bodyPr wrap="none" lIns="0" tIns="0" rIns="0" bIns="0" anchor="t">
            <a:spAutoFit/>
          </a:bodyPr>
          <a:lstStyle/>
          <a:p>
            <a:pPr algn="l"/>
            <a:r>
              <a:rPr sz="1400" b="1" i="0">
                <a:solidFill>
                  <a:srgbClr val="000000"/>
                </a:solidFill>
                <a:latin typeface="Times New Roman"/>
              </a:rPr>
              <a:t>using the project’s npm configuration.</a:t>
            </a:r>
          </a:p>
        </p:txBody>
      </p:sp>
      <p:sp>
        <p:nvSpPr>
          <p:cNvPr id="43" name="TextBox 42"/>
          <p:cNvSpPr txBox="1"/>
          <p:nvPr/>
        </p:nvSpPr>
        <p:spPr>
          <a:xfrm>
            <a:off x="716280" y="9605060"/>
            <a:ext cx="5734049" cy="246253"/>
          </a:xfrm>
          <a:prstGeom prst="rect">
            <a:avLst/>
          </a:prstGeom>
          <a:noFill/>
        </p:spPr>
        <p:txBody>
          <a:bodyPr wrap="none" lIns="0" tIns="0" rIns="0" bIns="0" anchor="t">
            <a:spAutoFit/>
          </a:bodyPr>
          <a:lstStyle/>
          <a:p>
            <a:pPr algn="ctr"/>
            <a:r>
              <a:rPr sz="1400" b="1" i="0">
                <a:solidFill>
                  <a:srgbClr val="000000"/>
                </a:solidFill>
                <a:latin typeface="Times New Roman"/>
              </a:rPr>
              <a:t>4. Configure the MongoDB connection using the environment configuration</a:t>
            </a:r>
          </a:p>
        </p:txBody>
      </p:sp>
      <p:sp>
        <p:nvSpPr>
          <p:cNvPr id="44" name="TextBox 43"/>
          <p:cNvSpPr txBox="1"/>
          <p:nvPr/>
        </p:nvSpPr>
        <p:spPr>
          <a:xfrm>
            <a:off x="716280" y="9820960"/>
            <a:ext cx="1807337" cy="246253"/>
          </a:xfrm>
          <a:prstGeom prst="rect">
            <a:avLst/>
          </a:prstGeom>
          <a:noFill/>
        </p:spPr>
        <p:txBody>
          <a:bodyPr wrap="none" lIns="0" tIns="0" rIns="0" bIns="0" anchor="t">
            <a:spAutoFit/>
          </a:bodyPr>
          <a:lstStyle/>
          <a:p>
            <a:pPr algn="l"/>
            <a:r>
              <a:rPr sz="1400" b="1" i="0">
                <a:solidFill>
                  <a:srgbClr val="000000"/>
                </a:solidFill>
                <a:latin typeface="Times New Roman"/>
              </a:rPr>
              <a:t>required by the project.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32</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382999" y="579322"/>
            <a:ext cx="2794000" cy="281432"/>
          </a:xfrm>
          <a:prstGeom prst="rect">
            <a:avLst/>
          </a:prstGeom>
          <a:noFill/>
        </p:spPr>
        <p:txBody>
          <a:bodyPr wrap="none" lIns="0" tIns="0" rIns="0" bIns="0" anchor="t">
            <a:spAutoFit/>
          </a:bodyPr>
          <a:lstStyle/>
          <a:p>
            <a:pPr algn="ctr"/>
            <a:r>
              <a:rPr sz="1600" b="1" i="0">
                <a:solidFill>
                  <a:srgbClr val="000000"/>
                </a:solidFill>
                <a:latin typeface="Times New Roman"/>
              </a:rPr>
              <a:t>CHAPTER - 12 CONCLUSION</a:t>
            </a:r>
          </a:p>
        </p:txBody>
      </p:sp>
      <p:sp>
        <p:nvSpPr>
          <p:cNvPr id="5" name="TextBox 4"/>
          <p:cNvSpPr txBox="1"/>
          <p:nvPr/>
        </p:nvSpPr>
        <p:spPr>
          <a:xfrm>
            <a:off x="716280" y="948740"/>
            <a:ext cx="2177517" cy="246252"/>
          </a:xfrm>
          <a:prstGeom prst="rect">
            <a:avLst/>
          </a:prstGeom>
          <a:noFill/>
        </p:spPr>
        <p:txBody>
          <a:bodyPr wrap="none" lIns="0" tIns="0" rIns="0" bIns="0" anchor="t">
            <a:spAutoFit/>
          </a:bodyPr>
          <a:lstStyle/>
          <a:p>
            <a:pPr algn="l"/>
            <a:r>
              <a:rPr sz="1400" b="1" i="0">
                <a:solidFill>
                  <a:srgbClr val="000000"/>
                </a:solidFill>
                <a:latin typeface="Times New Roman"/>
              </a:rPr>
              <a:t>12.1 Summary of the Project</a:t>
            </a:r>
          </a:p>
        </p:txBody>
      </p:sp>
      <p:sp>
        <p:nvSpPr>
          <p:cNvPr id="6" name="TextBox 5"/>
          <p:cNvSpPr txBox="1"/>
          <p:nvPr/>
        </p:nvSpPr>
        <p:spPr>
          <a:xfrm>
            <a:off x="944880" y="1227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demonstrates how a real-world pharmaceutical inventory problem can be translated</a:t>
            </a:r>
          </a:p>
        </p:txBody>
      </p:sp>
      <p:sp>
        <p:nvSpPr>
          <p:cNvPr id="7" name="TextBox 6"/>
          <p:cNvSpPr txBox="1"/>
          <p:nvPr/>
        </p:nvSpPr>
        <p:spPr>
          <a:xfrm>
            <a:off x="716280" y="14056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into a structured backend application. It connects data management, API design, business logic,</a:t>
            </a:r>
          </a:p>
        </p:txBody>
      </p:sp>
      <p:sp>
        <p:nvSpPr>
          <p:cNvPr id="8" name="TextBox 7"/>
          <p:cNvSpPr txBox="1"/>
          <p:nvPr/>
        </p:nvSpPr>
        <p:spPr>
          <a:xfrm>
            <a:off x="716280" y="1583486"/>
            <a:ext cx="2552547" cy="203301"/>
          </a:xfrm>
          <a:prstGeom prst="rect">
            <a:avLst/>
          </a:prstGeom>
          <a:noFill/>
        </p:spPr>
        <p:txBody>
          <a:bodyPr wrap="none" lIns="0" tIns="0" rIns="0" bIns="0" anchor="t">
            <a:spAutoFit/>
          </a:bodyPr>
          <a:lstStyle/>
          <a:p>
            <a:pPr algn="l"/>
            <a:r>
              <a:rPr sz="1200" b="0" i="0">
                <a:solidFill>
                  <a:srgbClr val="000000"/>
                </a:solidFill>
                <a:latin typeface="Times New Roman"/>
              </a:rPr>
              <a:t>validation, and testing into one workflow.</a:t>
            </a:r>
          </a:p>
        </p:txBody>
      </p:sp>
      <p:sp>
        <p:nvSpPr>
          <p:cNvPr id="9" name="TextBox 8"/>
          <p:cNvSpPr txBox="1"/>
          <p:nvPr/>
        </p:nvSpPr>
        <p:spPr>
          <a:xfrm>
            <a:off x="944880" y="18120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resulting architecture provides a foundation that can be extended as the organization's</a:t>
            </a:r>
          </a:p>
        </p:txBody>
      </p:sp>
      <p:sp>
        <p:nvSpPr>
          <p:cNvPr id="10" name="TextBox 9"/>
          <p:cNvSpPr txBox="1"/>
          <p:nvPr/>
        </p:nvSpPr>
        <p:spPr>
          <a:xfrm>
            <a:off x="716280" y="1989886"/>
            <a:ext cx="2882341" cy="203301"/>
          </a:xfrm>
          <a:prstGeom prst="rect">
            <a:avLst/>
          </a:prstGeom>
          <a:noFill/>
        </p:spPr>
        <p:txBody>
          <a:bodyPr wrap="none" lIns="0" tIns="0" rIns="0" bIns="0" anchor="t">
            <a:spAutoFit/>
          </a:bodyPr>
          <a:lstStyle/>
          <a:p>
            <a:pPr algn="l"/>
            <a:r>
              <a:rPr sz="1200" b="0" i="0">
                <a:solidFill>
                  <a:srgbClr val="000000"/>
                </a:solidFill>
                <a:latin typeface="Times New Roman"/>
              </a:rPr>
              <a:t>inventory requirements become more complex.</a:t>
            </a:r>
          </a:p>
        </p:txBody>
      </p:sp>
      <p:sp>
        <p:nvSpPr>
          <p:cNvPr id="11" name="TextBox 10"/>
          <p:cNvSpPr txBox="1"/>
          <p:nvPr/>
        </p:nvSpPr>
        <p:spPr>
          <a:xfrm>
            <a:off x="944880" y="2218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Enterprise Pharmaceutical Stock and Inventory Management System addresses the</a:t>
            </a:r>
          </a:p>
        </p:txBody>
      </p:sp>
      <p:sp>
        <p:nvSpPr>
          <p:cNvPr id="12" name="TextBox 11"/>
          <p:cNvSpPr txBox="1"/>
          <p:nvPr/>
        </p:nvSpPr>
        <p:spPr>
          <a:xfrm>
            <a:off x="716280" y="23962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operational challenges associated with manual pharmaceutical inventory management. The project</a:t>
            </a:r>
          </a:p>
        </p:txBody>
      </p:sp>
      <p:sp>
        <p:nvSpPr>
          <p:cNvPr id="13" name="TextBox 12"/>
          <p:cNvSpPr txBox="1"/>
          <p:nvPr/>
        </p:nvSpPr>
        <p:spPr>
          <a:xfrm>
            <a:off x="716280" y="2574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proposes a centralized backend application that brings medicines, suppliers, batches, purchases,</a:t>
            </a:r>
          </a:p>
        </p:txBody>
      </p:sp>
      <p:sp>
        <p:nvSpPr>
          <p:cNvPr id="14" name="TextBox 13"/>
          <p:cNvSpPr txBox="1"/>
          <p:nvPr/>
        </p:nvSpPr>
        <p:spPr>
          <a:xfrm>
            <a:off x="716280" y="2751886"/>
            <a:ext cx="3746144" cy="203301"/>
          </a:xfrm>
          <a:prstGeom prst="rect">
            <a:avLst/>
          </a:prstGeom>
          <a:noFill/>
        </p:spPr>
        <p:txBody>
          <a:bodyPr wrap="none" lIns="0" tIns="0" rIns="0" bIns="0" anchor="t">
            <a:spAutoFit/>
          </a:bodyPr>
          <a:lstStyle/>
          <a:p>
            <a:pPr algn="l"/>
            <a:r>
              <a:rPr sz="1200" b="0" i="0">
                <a:solidFill>
                  <a:srgbClr val="000000"/>
                </a:solidFill>
                <a:latin typeface="Times New Roman"/>
              </a:rPr>
              <a:t>sales, and stock information into one controlled environment.</a:t>
            </a:r>
          </a:p>
        </p:txBody>
      </p:sp>
      <p:sp>
        <p:nvSpPr>
          <p:cNvPr id="15" name="TextBox 14"/>
          <p:cNvSpPr txBox="1"/>
          <p:nvPr/>
        </p:nvSpPr>
        <p:spPr>
          <a:xfrm>
            <a:off x="944880" y="29804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Node.js and Express.js provide the runtime and RESTful API framework, while MongoDB</a:t>
            </a:r>
          </a:p>
        </p:txBody>
      </p:sp>
      <p:sp>
        <p:nvSpPr>
          <p:cNvPr id="16" name="TextBox 15"/>
          <p:cNvSpPr txBox="1"/>
          <p:nvPr/>
        </p:nvSpPr>
        <p:spPr>
          <a:xfrm>
            <a:off x="716280" y="31582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stores the inventory information. The system supports CRUD operations and provides mechanisms</a:t>
            </a:r>
          </a:p>
        </p:txBody>
      </p:sp>
      <p:sp>
        <p:nvSpPr>
          <p:cNvPr id="17" name="TextBox 16"/>
          <p:cNvSpPr txBox="1"/>
          <p:nvPr/>
        </p:nvSpPr>
        <p:spPr>
          <a:xfrm>
            <a:off x="716280" y="3336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for stock and expiry monitoring. This architecture provides a practical foundation for a</a:t>
            </a:r>
          </a:p>
        </p:txBody>
      </p:sp>
      <p:sp>
        <p:nvSpPr>
          <p:cNvPr id="18" name="TextBox 17"/>
          <p:cNvSpPr txBox="1"/>
          <p:nvPr/>
        </p:nvSpPr>
        <p:spPr>
          <a:xfrm>
            <a:off x="716280" y="3513886"/>
            <a:ext cx="4697730" cy="203301"/>
          </a:xfrm>
          <a:prstGeom prst="rect">
            <a:avLst/>
          </a:prstGeom>
          <a:noFill/>
        </p:spPr>
        <p:txBody>
          <a:bodyPr wrap="none" lIns="0" tIns="0" rIns="0" bIns="0" anchor="t">
            <a:spAutoFit/>
          </a:bodyPr>
          <a:lstStyle/>
          <a:p>
            <a:pPr algn="l"/>
            <a:r>
              <a:rPr sz="1200" b="0" i="0">
                <a:solidFill>
                  <a:srgbClr val="000000"/>
                </a:solidFill>
                <a:latin typeface="Times New Roman"/>
              </a:rPr>
              <a:t>pharmaceutical inventory service that can be extended as requirements grow.</a:t>
            </a:r>
          </a:p>
        </p:txBody>
      </p:sp>
      <p:sp>
        <p:nvSpPr>
          <p:cNvPr id="19" name="TextBox 18"/>
          <p:cNvSpPr txBox="1"/>
          <p:nvPr/>
        </p:nvSpPr>
        <p:spPr>
          <a:xfrm>
            <a:off x="944880" y="3742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also demonstrates the importance of separating data storage, business logic, API</a:t>
            </a:r>
          </a:p>
        </p:txBody>
      </p:sp>
      <p:sp>
        <p:nvSpPr>
          <p:cNvPr id="20" name="TextBox 19"/>
          <p:cNvSpPr txBox="1"/>
          <p:nvPr/>
        </p:nvSpPr>
        <p:spPr>
          <a:xfrm>
            <a:off x="716280" y="39202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communication, validation, and access control. Such separation improves maintainability and</a:t>
            </a:r>
          </a:p>
        </p:txBody>
      </p:sp>
      <p:sp>
        <p:nvSpPr>
          <p:cNvPr id="21" name="TextBox 20"/>
          <p:cNvSpPr txBox="1"/>
          <p:nvPr/>
        </p:nvSpPr>
        <p:spPr>
          <a:xfrm>
            <a:off x="716280" y="4098086"/>
            <a:ext cx="2941168" cy="203301"/>
          </a:xfrm>
          <a:prstGeom prst="rect">
            <a:avLst/>
          </a:prstGeom>
          <a:noFill/>
        </p:spPr>
        <p:txBody>
          <a:bodyPr wrap="none" lIns="0" tIns="0" rIns="0" bIns="0" anchor="t">
            <a:spAutoFit/>
          </a:bodyPr>
          <a:lstStyle/>
          <a:p>
            <a:pPr algn="l"/>
            <a:r>
              <a:rPr sz="1200" b="0" i="0">
                <a:solidFill>
                  <a:srgbClr val="000000"/>
                </a:solidFill>
                <a:latin typeface="Times New Roman"/>
              </a:rPr>
              <a:t>provides a clearer path for future enhancements.</a:t>
            </a:r>
          </a:p>
        </p:txBody>
      </p:sp>
      <p:sp>
        <p:nvSpPr>
          <p:cNvPr id="22" name="TextBox 21"/>
          <p:cNvSpPr txBox="1"/>
          <p:nvPr/>
        </p:nvSpPr>
        <p:spPr>
          <a:xfrm>
            <a:off x="716280" y="4365040"/>
            <a:ext cx="1906371" cy="246252"/>
          </a:xfrm>
          <a:prstGeom prst="rect">
            <a:avLst/>
          </a:prstGeom>
          <a:noFill/>
        </p:spPr>
        <p:txBody>
          <a:bodyPr wrap="none" lIns="0" tIns="0" rIns="0" bIns="0" anchor="t">
            <a:spAutoFit/>
          </a:bodyPr>
          <a:lstStyle/>
          <a:p>
            <a:pPr algn="l"/>
            <a:r>
              <a:rPr sz="1400" b="1" i="0">
                <a:solidFill>
                  <a:srgbClr val="000000"/>
                </a:solidFill>
                <a:latin typeface="Times New Roman"/>
              </a:rPr>
              <a:t>12.2 What Was Achieved</a:t>
            </a:r>
          </a:p>
        </p:txBody>
      </p:sp>
      <p:sp>
        <p:nvSpPr>
          <p:cNvPr id="23" name="TextBox 22"/>
          <p:cNvSpPr txBox="1"/>
          <p:nvPr/>
        </p:nvSpPr>
        <p:spPr>
          <a:xfrm>
            <a:off x="944880" y="46441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documented system covers the central inventory entities and operations identified in the</a:t>
            </a:r>
          </a:p>
        </p:txBody>
      </p:sp>
      <p:sp>
        <p:nvSpPr>
          <p:cNvPr id="24" name="TextBox 23"/>
          <p:cNvSpPr txBox="1"/>
          <p:nvPr/>
        </p:nvSpPr>
        <p:spPr>
          <a:xfrm>
            <a:off x="716280" y="48219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project abstract. It provides a basis for maintaining medicine and supplier information, tracking</a:t>
            </a:r>
          </a:p>
        </p:txBody>
      </p:sp>
      <p:sp>
        <p:nvSpPr>
          <p:cNvPr id="25" name="TextBox 24"/>
          <p:cNvSpPr txBox="1"/>
          <p:nvPr/>
        </p:nvSpPr>
        <p:spPr>
          <a:xfrm>
            <a:off x="716280" y="4999786"/>
            <a:ext cx="4367936" cy="203301"/>
          </a:xfrm>
          <a:prstGeom prst="rect">
            <a:avLst/>
          </a:prstGeom>
          <a:noFill/>
        </p:spPr>
        <p:txBody>
          <a:bodyPr wrap="none" lIns="0" tIns="0" rIns="0" bIns="0" anchor="t">
            <a:spAutoFit/>
          </a:bodyPr>
          <a:lstStyle/>
          <a:p>
            <a:pPr algn="l"/>
            <a:r>
              <a:rPr sz="1200" b="0" i="0">
                <a:solidFill>
                  <a:srgbClr val="000000"/>
                </a:solidFill>
                <a:latin typeface="Times New Roman"/>
              </a:rPr>
              <a:t>batches and dates, recording purchases and sales, and monitoring stock.</a:t>
            </a:r>
          </a:p>
        </p:txBody>
      </p:sp>
      <p:sp>
        <p:nvSpPr>
          <p:cNvPr id="26" name="TextBox 25"/>
          <p:cNvSpPr txBox="1"/>
          <p:nvPr/>
        </p:nvSpPr>
        <p:spPr>
          <a:xfrm>
            <a:off x="944880" y="52283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use of RESTful APIs also separates the backend from the user interface, allowing future</a:t>
            </a:r>
          </a:p>
        </p:txBody>
      </p:sp>
      <p:sp>
        <p:nvSpPr>
          <p:cNvPr id="27" name="TextBox 26"/>
          <p:cNvSpPr txBox="1"/>
          <p:nvPr/>
        </p:nvSpPr>
        <p:spPr>
          <a:xfrm>
            <a:off x="716280" y="5406186"/>
            <a:ext cx="2653893" cy="203301"/>
          </a:xfrm>
          <a:prstGeom prst="rect">
            <a:avLst/>
          </a:prstGeom>
          <a:noFill/>
        </p:spPr>
        <p:txBody>
          <a:bodyPr wrap="none" lIns="0" tIns="0" rIns="0" bIns="0" anchor="t">
            <a:spAutoFit/>
          </a:bodyPr>
          <a:lstStyle/>
          <a:p>
            <a:pPr algn="l"/>
            <a:r>
              <a:rPr sz="1200" b="0" i="0">
                <a:solidFill>
                  <a:srgbClr val="000000"/>
                </a:solidFill>
                <a:latin typeface="Times New Roman"/>
              </a:rPr>
              <a:t>client applications to use the same services.</a:t>
            </a:r>
          </a:p>
        </p:txBody>
      </p:sp>
      <p:sp>
        <p:nvSpPr>
          <p:cNvPr id="28" name="TextBox 27"/>
          <p:cNvSpPr txBox="1"/>
          <p:nvPr/>
        </p:nvSpPr>
        <p:spPr>
          <a:xfrm>
            <a:off x="944880" y="56347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establishes a structured approach to pharmaceutical inventory management by</a:t>
            </a:r>
          </a:p>
        </p:txBody>
      </p:sp>
      <p:sp>
        <p:nvSpPr>
          <p:cNvPr id="29" name="TextBox 28"/>
          <p:cNvSpPr txBox="1"/>
          <p:nvPr/>
        </p:nvSpPr>
        <p:spPr>
          <a:xfrm>
            <a:off x="716280" y="58125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replacing fragmented manual record handling with centralized backend services. The documented</a:t>
            </a:r>
          </a:p>
        </p:txBody>
      </p:sp>
      <p:sp>
        <p:nvSpPr>
          <p:cNvPr id="30" name="TextBox 29"/>
          <p:cNvSpPr txBox="1"/>
          <p:nvPr/>
        </p:nvSpPr>
        <p:spPr>
          <a:xfrm>
            <a:off x="716280" y="5990386"/>
            <a:ext cx="4901489" cy="203301"/>
          </a:xfrm>
          <a:prstGeom prst="rect">
            <a:avLst/>
          </a:prstGeom>
          <a:noFill/>
        </p:spPr>
        <p:txBody>
          <a:bodyPr wrap="none" lIns="0" tIns="0" rIns="0" bIns="0" anchor="t">
            <a:spAutoFit/>
          </a:bodyPr>
          <a:lstStyle/>
          <a:p>
            <a:pPr algn="l"/>
            <a:r>
              <a:rPr sz="1200" b="0" i="0">
                <a:solidFill>
                  <a:srgbClr val="000000"/>
                </a:solidFill>
                <a:latin typeface="Times New Roman"/>
              </a:rPr>
              <a:t>system covers the major entities and operations identified in the project abstract.</a:t>
            </a:r>
          </a:p>
        </p:txBody>
      </p:sp>
      <p:sp>
        <p:nvSpPr>
          <p:cNvPr id="31" name="TextBox 30"/>
          <p:cNvSpPr txBox="1"/>
          <p:nvPr/>
        </p:nvSpPr>
        <p:spPr>
          <a:xfrm>
            <a:off x="944880" y="62189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design provides a basis for maintaining accurate medicine and supplier information,</a:t>
            </a:r>
          </a:p>
        </p:txBody>
      </p:sp>
      <p:sp>
        <p:nvSpPr>
          <p:cNvPr id="32" name="TextBox 31"/>
          <p:cNvSpPr txBox="1"/>
          <p:nvPr/>
        </p:nvSpPr>
        <p:spPr>
          <a:xfrm>
            <a:off x="716280" y="63967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tracking batches and expiry dates, recording purchase and sales transactions, and identifying</a:t>
            </a:r>
          </a:p>
        </p:txBody>
      </p:sp>
      <p:sp>
        <p:nvSpPr>
          <p:cNvPr id="33" name="TextBox 32"/>
          <p:cNvSpPr txBox="1"/>
          <p:nvPr/>
        </p:nvSpPr>
        <p:spPr>
          <a:xfrm>
            <a:off x="716280" y="6574586"/>
            <a:ext cx="2200808" cy="203301"/>
          </a:xfrm>
          <a:prstGeom prst="rect">
            <a:avLst/>
          </a:prstGeom>
          <a:noFill/>
        </p:spPr>
        <p:txBody>
          <a:bodyPr wrap="none" lIns="0" tIns="0" rIns="0" bIns="0" anchor="t">
            <a:spAutoFit/>
          </a:bodyPr>
          <a:lstStyle/>
          <a:p>
            <a:pPr algn="l"/>
            <a:r>
              <a:rPr sz="1200" b="0" i="0">
                <a:solidFill>
                  <a:srgbClr val="000000"/>
                </a:solidFill>
                <a:latin typeface="Times New Roman"/>
              </a:rPr>
              <a:t>low-stock or near-expiry medicines.</a:t>
            </a:r>
          </a:p>
        </p:txBody>
      </p:sp>
      <p:sp>
        <p:nvSpPr>
          <p:cNvPr id="34" name="TextBox 33"/>
          <p:cNvSpPr txBox="1"/>
          <p:nvPr/>
        </p:nvSpPr>
        <p:spPr>
          <a:xfrm>
            <a:off x="944880" y="68031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From an academic perspective, the project demonstrates practical use of JavaScript, Node.js,</a:t>
            </a:r>
          </a:p>
        </p:txBody>
      </p:sp>
      <p:sp>
        <p:nvSpPr>
          <p:cNvPr id="35" name="TextBox 34"/>
          <p:cNvSpPr txBox="1"/>
          <p:nvPr/>
        </p:nvSpPr>
        <p:spPr>
          <a:xfrm>
            <a:off x="716280" y="6980986"/>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Express.js, RESTful APIs, MongoDB, Postman, MongoDB Compass, Visual Studio Code, and npm</a:t>
            </a:r>
          </a:p>
        </p:txBody>
      </p:sp>
      <p:sp>
        <p:nvSpPr>
          <p:cNvPr id="36" name="TextBox 35"/>
          <p:cNvSpPr txBox="1"/>
          <p:nvPr/>
        </p:nvSpPr>
        <p:spPr>
          <a:xfrm>
            <a:off x="716280" y="7158786"/>
            <a:ext cx="1985162" cy="203301"/>
          </a:xfrm>
          <a:prstGeom prst="rect">
            <a:avLst/>
          </a:prstGeom>
          <a:noFill/>
        </p:spPr>
        <p:txBody>
          <a:bodyPr wrap="none" lIns="0" tIns="0" rIns="0" bIns="0" anchor="t">
            <a:spAutoFit/>
          </a:bodyPr>
          <a:lstStyle/>
          <a:p>
            <a:pPr algn="l"/>
            <a:r>
              <a:rPr sz="1200" b="0" i="0">
                <a:solidFill>
                  <a:srgbClr val="000000"/>
                </a:solidFill>
                <a:latin typeface="Times New Roman"/>
              </a:rPr>
              <a:t>in a real-world business domain.</a:t>
            </a:r>
          </a:p>
        </p:txBody>
      </p:sp>
      <p:sp>
        <p:nvSpPr>
          <p:cNvPr id="37" name="TextBox 36"/>
          <p:cNvSpPr txBox="1"/>
          <p:nvPr/>
        </p:nvSpPr>
        <p:spPr>
          <a:xfrm>
            <a:off x="716280" y="7425739"/>
            <a:ext cx="3086963" cy="246253"/>
          </a:xfrm>
          <a:prstGeom prst="rect">
            <a:avLst/>
          </a:prstGeom>
          <a:noFill/>
        </p:spPr>
        <p:txBody>
          <a:bodyPr wrap="none" lIns="0" tIns="0" rIns="0" bIns="0" anchor="t">
            <a:spAutoFit/>
          </a:bodyPr>
          <a:lstStyle/>
          <a:p>
            <a:pPr algn="l"/>
            <a:r>
              <a:rPr sz="1400" b="1" i="0">
                <a:solidFill>
                  <a:srgbClr val="000000"/>
                </a:solidFill>
                <a:latin typeface="Times New Roman"/>
              </a:rPr>
              <a:t>12.3 Skills Learned During Development</a:t>
            </a:r>
          </a:p>
        </p:txBody>
      </p:sp>
      <p:sp>
        <p:nvSpPr>
          <p:cNvPr id="38" name="TextBox 37"/>
          <p:cNvSpPr txBox="1"/>
          <p:nvPr/>
        </p:nvSpPr>
        <p:spPr>
          <a:xfrm>
            <a:off x="944880" y="7704886"/>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provides practical experience in backend programming, REST API design, database</a:t>
            </a:r>
          </a:p>
        </p:txBody>
      </p:sp>
      <p:sp>
        <p:nvSpPr>
          <p:cNvPr id="39" name="TextBox 38"/>
          <p:cNvSpPr txBox="1"/>
          <p:nvPr/>
        </p:nvSpPr>
        <p:spPr>
          <a:xfrm>
            <a:off x="716280" y="7882686"/>
            <a:ext cx="6044641" cy="203301"/>
          </a:xfrm>
          <a:prstGeom prst="rect">
            <a:avLst/>
          </a:prstGeom>
          <a:noFill/>
        </p:spPr>
        <p:txBody>
          <a:bodyPr wrap="none" lIns="0" tIns="0" rIns="0" bIns="0" anchor="t">
            <a:spAutoFit/>
          </a:bodyPr>
          <a:lstStyle/>
          <a:p>
            <a:pPr algn="ctr"/>
            <a:r>
              <a:rPr sz="1200" b="0" i="0">
                <a:solidFill>
                  <a:srgbClr val="000000"/>
                </a:solidFill>
                <a:latin typeface="Times New Roman"/>
              </a:rPr>
              <a:t>modeling, validation, testing, debugging, configuration management, and technical documentation.</a:t>
            </a:r>
          </a:p>
        </p:txBody>
      </p:sp>
      <p:sp>
        <p:nvSpPr>
          <p:cNvPr id="40" name="TextBox 39"/>
          <p:cNvSpPr txBox="1"/>
          <p:nvPr/>
        </p:nvSpPr>
        <p:spPr>
          <a:xfrm>
            <a:off x="944880" y="81112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team also learns how to translate business requirements into modules and data relationships</a:t>
            </a:r>
          </a:p>
        </p:txBody>
      </p:sp>
      <p:sp>
        <p:nvSpPr>
          <p:cNvPr id="41" name="TextBox 40"/>
          <p:cNvSpPr txBox="1"/>
          <p:nvPr/>
        </p:nvSpPr>
        <p:spPr>
          <a:xfrm>
            <a:off x="716280" y="8289086"/>
            <a:ext cx="4876190" cy="203301"/>
          </a:xfrm>
          <a:prstGeom prst="rect">
            <a:avLst/>
          </a:prstGeom>
          <a:noFill/>
        </p:spPr>
        <p:txBody>
          <a:bodyPr wrap="none" lIns="0" tIns="0" rIns="0" bIns="0" anchor="t">
            <a:spAutoFit/>
          </a:bodyPr>
          <a:lstStyle/>
          <a:p>
            <a:pPr algn="l"/>
            <a:r>
              <a:rPr sz="1200" b="0" i="0">
                <a:solidFill>
                  <a:srgbClr val="000000"/>
                </a:solidFill>
                <a:latin typeface="Times New Roman"/>
              </a:rPr>
              <a:t>and how to verify those modules through independent API and database testing.</a:t>
            </a:r>
          </a:p>
        </p:txBody>
      </p:sp>
      <p:sp>
        <p:nvSpPr>
          <p:cNvPr id="42" name="TextBox 41"/>
          <p:cNvSpPr txBox="1"/>
          <p:nvPr/>
        </p:nvSpPr>
        <p:spPr>
          <a:xfrm>
            <a:off x="944880" y="85176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provides experience in backend application development, database modeling,</a:t>
            </a:r>
          </a:p>
        </p:txBody>
      </p:sp>
      <p:sp>
        <p:nvSpPr>
          <p:cNvPr id="43" name="TextBox 42"/>
          <p:cNvSpPr txBox="1"/>
          <p:nvPr/>
        </p:nvSpPr>
        <p:spPr>
          <a:xfrm>
            <a:off x="716280" y="86954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RESTful API design, request validation, error handling, and API testing. It also encourages</a:t>
            </a:r>
          </a:p>
        </p:txBody>
      </p:sp>
      <p:sp>
        <p:nvSpPr>
          <p:cNvPr id="44" name="TextBox 43"/>
          <p:cNvSpPr txBox="1"/>
          <p:nvPr/>
        </p:nvSpPr>
        <p:spPr>
          <a:xfrm>
            <a:off x="716280" y="8873286"/>
            <a:ext cx="4135221" cy="203301"/>
          </a:xfrm>
          <a:prstGeom prst="rect">
            <a:avLst/>
          </a:prstGeom>
          <a:noFill/>
        </p:spPr>
        <p:txBody>
          <a:bodyPr wrap="none" lIns="0" tIns="0" rIns="0" bIns="0" anchor="t">
            <a:spAutoFit/>
          </a:bodyPr>
          <a:lstStyle/>
          <a:p>
            <a:pPr algn="l"/>
            <a:r>
              <a:rPr sz="1200" b="0" i="0">
                <a:solidFill>
                  <a:srgbClr val="000000"/>
                </a:solidFill>
                <a:latin typeface="Times New Roman"/>
              </a:rPr>
              <a:t>disciplined handling of configuration and source-code organization.</a:t>
            </a:r>
          </a:p>
        </p:txBody>
      </p:sp>
      <p:sp>
        <p:nvSpPr>
          <p:cNvPr id="45" name="TextBox 44"/>
          <p:cNvSpPr txBox="1"/>
          <p:nvPr/>
        </p:nvSpPr>
        <p:spPr>
          <a:xfrm>
            <a:off x="944880" y="9101887"/>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team gains practical understanding of how a business process is converted into software</a:t>
            </a:r>
          </a:p>
        </p:txBody>
      </p:sp>
      <p:sp>
        <p:nvSpPr>
          <p:cNvPr id="46" name="TextBox 45"/>
          <p:cNvSpPr txBox="1"/>
          <p:nvPr/>
        </p:nvSpPr>
        <p:spPr>
          <a:xfrm>
            <a:off x="716280" y="9279687"/>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modules. Inventory concepts such as stock movement, batch traceability, and expiry monitoring</a:t>
            </a:r>
          </a:p>
        </p:txBody>
      </p:sp>
      <p:sp>
        <p:nvSpPr>
          <p:cNvPr id="47" name="TextBox 46"/>
          <p:cNvSpPr txBox="1"/>
          <p:nvPr/>
        </p:nvSpPr>
        <p:spPr>
          <a:xfrm>
            <a:off x="716280" y="9457487"/>
            <a:ext cx="4524908" cy="203301"/>
          </a:xfrm>
          <a:prstGeom prst="rect">
            <a:avLst/>
          </a:prstGeom>
          <a:noFill/>
        </p:spPr>
        <p:txBody>
          <a:bodyPr wrap="none" lIns="0" tIns="0" rIns="0" bIns="0" anchor="t">
            <a:spAutoFit/>
          </a:bodyPr>
          <a:lstStyle/>
          <a:p>
            <a:pPr algn="l"/>
            <a:r>
              <a:rPr sz="1200" b="0" i="0">
                <a:solidFill>
                  <a:srgbClr val="000000"/>
                </a:solidFill>
                <a:latin typeface="Times New Roman"/>
              </a:rPr>
              <a:t>must be translated into data structures, API operations, and business rules.</a:t>
            </a:r>
          </a:p>
        </p:txBody>
      </p:sp>
      <p:sp>
        <p:nvSpPr>
          <p:cNvPr id="48" name="TextBox 47"/>
          <p:cNvSpPr txBox="1"/>
          <p:nvPr/>
        </p:nvSpPr>
        <p:spPr>
          <a:xfrm>
            <a:off x="944880" y="9686087"/>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project also develops debugging and testing skills. Using Postman to reproduce API</a:t>
            </a:r>
          </a:p>
        </p:txBody>
      </p:sp>
      <p:sp>
        <p:nvSpPr>
          <p:cNvPr id="49" name="TextBox 48"/>
          <p:cNvSpPr txBox="1"/>
          <p:nvPr/>
        </p:nvSpPr>
        <p:spPr>
          <a:xfrm>
            <a:off x="716280" y="9863887"/>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requests and MongoDB Compass to inspect database state provides a systematic way to identify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33</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792960" y="917675"/>
            <a:ext cx="1533791" cy="184689"/>
          </a:xfrm>
          <a:prstGeom prst="rect">
            <a:avLst/>
          </a:prstGeom>
          <a:noFill/>
        </p:spPr>
        <p:txBody>
          <a:bodyPr wrap="none" lIns="0" tIns="0" rIns="0" bIns="0" anchor="t">
            <a:spAutoFit/>
          </a:bodyPr>
          <a:lstStyle/>
          <a:p>
            <a:pPr algn="l"/>
            <a:r>
              <a:rPr sz="1050" b="1" i="0">
                <a:solidFill>
                  <a:srgbClr val="000000"/>
                </a:solidFill>
                <a:latin typeface="Times New Roman"/>
              </a:rPr>
              <a:t>GEO-TAGGED PHOTO 1</a:t>
            </a:r>
          </a:p>
        </p:txBody>
      </p:sp>
      <p:sp>
        <p:nvSpPr>
          <p:cNvPr id="5" name="TextBox 4"/>
          <p:cNvSpPr txBox="1"/>
          <p:nvPr/>
        </p:nvSpPr>
        <p:spPr>
          <a:xfrm>
            <a:off x="792960" y="1830875"/>
            <a:ext cx="1266825" cy="177888"/>
          </a:xfrm>
          <a:prstGeom prst="rect">
            <a:avLst/>
          </a:prstGeom>
          <a:noFill/>
        </p:spPr>
        <p:txBody>
          <a:bodyPr wrap="none" lIns="0" tIns="0" rIns="0" bIns="0" anchor="t">
            <a:spAutoFit/>
          </a:bodyPr>
          <a:lstStyle/>
          <a:p>
            <a:pPr algn="l"/>
            <a:r>
              <a:rPr sz="1050" b="0" i="0">
                <a:solidFill>
                  <a:srgbClr val="000000"/>
                </a:solidFill>
                <a:latin typeface="Times New Roman"/>
              </a:rPr>
              <a:t>PASTE PHOTO HERE</a:t>
            </a:r>
          </a:p>
        </p:txBody>
      </p:sp>
      <p:sp>
        <p:nvSpPr>
          <p:cNvPr id="6" name="TextBox 5"/>
          <p:cNvSpPr txBox="1"/>
          <p:nvPr/>
        </p:nvSpPr>
        <p:spPr>
          <a:xfrm>
            <a:off x="3856199" y="917675"/>
            <a:ext cx="1533791" cy="184689"/>
          </a:xfrm>
          <a:prstGeom prst="rect">
            <a:avLst/>
          </a:prstGeom>
          <a:noFill/>
        </p:spPr>
        <p:txBody>
          <a:bodyPr wrap="none" lIns="0" tIns="0" rIns="0" bIns="0" anchor="t">
            <a:spAutoFit/>
          </a:bodyPr>
          <a:lstStyle/>
          <a:p>
            <a:pPr algn="l"/>
            <a:r>
              <a:rPr sz="1050" b="1" i="0">
                <a:solidFill>
                  <a:srgbClr val="000000"/>
                </a:solidFill>
                <a:latin typeface="Times New Roman"/>
              </a:rPr>
              <a:t>GEO-TAGGED PHOTO 2</a:t>
            </a:r>
          </a:p>
        </p:txBody>
      </p:sp>
      <p:sp>
        <p:nvSpPr>
          <p:cNvPr id="7" name="TextBox 6"/>
          <p:cNvSpPr txBox="1"/>
          <p:nvPr/>
        </p:nvSpPr>
        <p:spPr>
          <a:xfrm>
            <a:off x="3856199" y="1830875"/>
            <a:ext cx="1266825" cy="177888"/>
          </a:xfrm>
          <a:prstGeom prst="rect">
            <a:avLst/>
          </a:prstGeom>
          <a:noFill/>
        </p:spPr>
        <p:txBody>
          <a:bodyPr wrap="none" lIns="0" tIns="0" rIns="0" bIns="0" anchor="t">
            <a:spAutoFit/>
          </a:bodyPr>
          <a:lstStyle/>
          <a:p>
            <a:pPr algn="l"/>
            <a:r>
              <a:rPr sz="1050" b="0" i="0">
                <a:solidFill>
                  <a:srgbClr val="000000"/>
                </a:solidFill>
                <a:latin typeface="Times New Roman"/>
              </a:rPr>
              <a:t>PASTE PHOTO HERE</a:t>
            </a:r>
          </a:p>
        </p:txBody>
      </p:sp>
      <p:sp>
        <p:nvSpPr>
          <p:cNvPr id="8" name="TextBox 7"/>
          <p:cNvSpPr txBox="1"/>
          <p:nvPr/>
        </p:nvSpPr>
        <p:spPr>
          <a:xfrm>
            <a:off x="792960" y="2516675"/>
            <a:ext cx="1677809" cy="185890"/>
          </a:xfrm>
          <a:prstGeom prst="rect">
            <a:avLst/>
          </a:prstGeom>
          <a:noFill/>
        </p:spPr>
        <p:txBody>
          <a:bodyPr wrap="none" lIns="0" tIns="0" rIns="0" bIns="0" anchor="t">
            <a:spAutoFit/>
          </a:bodyPr>
          <a:lstStyle/>
          <a:p>
            <a:pPr algn="l"/>
            <a:r>
              <a:rPr sz="1050" b="1" i="0">
                <a:solidFill>
                  <a:srgbClr val="000000"/>
                </a:solidFill>
                <a:latin typeface="Times New Roman"/>
              </a:rPr>
              <a:t>Date: ____________________</a:t>
            </a:r>
          </a:p>
        </p:txBody>
      </p:sp>
      <p:sp>
        <p:nvSpPr>
          <p:cNvPr id="9" name="TextBox 8"/>
          <p:cNvSpPr txBox="1"/>
          <p:nvPr/>
        </p:nvSpPr>
        <p:spPr>
          <a:xfrm>
            <a:off x="792960" y="2669075"/>
            <a:ext cx="1900237" cy="185890"/>
          </a:xfrm>
          <a:prstGeom prst="rect">
            <a:avLst/>
          </a:prstGeom>
          <a:noFill/>
        </p:spPr>
        <p:txBody>
          <a:bodyPr wrap="none" lIns="0" tIns="0" rIns="0" bIns="0" anchor="t">
            <a:spAutoFit/>
          </a:bodyPr>
          <a:lstStyle/>
          <a:p>
            <a:pPr algn="l"/>
            <a:r>
              <a:rPr sz="1050" b="1" i="0">
                <a:solidFill>
                  <a:srgbClr val="000000"/>
                </a:solidFill>
                <a:latin typeface="Times New Roman"/>
              </a:rPr>
              <a:t>Latitude: ____________________</a:t>
            </a:r>
          </a:p>
        </p:txBody>
      </p:sp>
      <p:sp>
        <p:nvSpPr>
          <p:cNvPr id="10" name="TextBox 9"/>
          <p:cNvSpPr txBox="1"/>
          <p:nvPr/>
        </p:nvSpPr>
        <p:spPr>
          <a:xfrm>
            <a:off x="792960" y="2821475"/>
            <a:ext cx="1996649" cy="185890"/>
          </a:xfrm>
          <a:prstGeom prst="rect">
            <a:avLst/>
          </a:prstGeom>
          <a:noFill/>
        </p:spPr>
        <p:txBody>
          <a:bodyPr wrap="none" lIns="0" tIns="0" rIns="0" bIns="0" anchor="t">
            <a:spAutoFit/>
          </a:bodyPr>
          <a:lstStyle/>
          <a:p>
            <a:pPr algn="l"/>
            <a:r>
              <a:rPr sz="1050" b="1" i="0">
                <a:solidFill>
                  <a:srgbClr val="000000"/>
                </a:solidFill>
                <a:latin typeface="Times New Roman"/>
              </a:rPr>
              <a:t>Longitude: ____________________</a:t>
            </a:r>
          </a:p>
        </p:txBody>
      </p:sp>
      <p:sp>
        <p:nvSpPr>
          <p:cNvPr id="11" name="TextBox 10"/>
          <p:cNvSpPr txBox="1"/>
          <p:nvPr/>
        </p:nvSpPr>
        <p:spPr>
          <a:xfrm>
            <a:off x="792960" y="2973875"/>
            <a:ext cx="1915039" cy="185890"/>
          </a:xfrm>
          <a:prstGeom prst="rect">
            <a:avLst/>
          </a:prstGeom>
          <a:noFill/>
        </p:spPr>
        <p:txBody>
          <a:bodyPr wrap="none" lIns="0" tIns="0" rIns="0" bIns="0" anchor="t">
            <a:spAutoFit/>
          </a:bodyPr>
          <a:lstStyle/>
          <a:p>
            <a:pPr algn="l"/>
            <a:r>
              <a:rPr sz="1050" b="1" i="0">
                <a:solidFill>
                  <a:srgbClr val="000000"/>
                </a:solidFill>
                <a:latin typeface="Times New Roman"/>
              </a:rPr>
              <a:t>Location: ____________________</a:t>
            </a:r>
          </a:p>
        </p:txBody>
      </p:sp>
      <p:sp>
        <p:nvSpPr>
          <p:cNvPr id="12" name="TextBox 11"/>
          <p:cNvSpPr txBox="1"/>
          <p:nvPr/>
        </p:nvSpPr>
        <p:spPr>
          <a:xfrm>
            <a:off x="3856199" y="2516675"/>
            <a:ext cx="1677809" cy="185890"/>
          </a:xfrm>
          <a:prstGeom prst="rect">
            <a:avLst/>
          </a:prstGeom>
          <a:noFill/>
        </p:spPr>
        <p:txBody>
          <a:bodyPr wrap="none" lIns="0" tIns="0" rIns="0" bIns="0" anchor="t">
            <a:spAutoFit/>
          </a:bodyPr>
          <a:lstStyle/>
          <a:p>
            <a:pPr algn="l"/>
            <a:r>
              <a:rPr sz="1050" b="1" i="0">
                <a:solidFill>
                  <a:srgbClr val="000000"/>
                </a:solidFill>
                <a:latin typeface="Times New Roman"/>
              </a:rPr>
              <a:t>Date: ____________________</a:t>
            </a:r>
          </a:p>
        </p:txBody>
      </p:sp>
      <p:sp>
        <p:nvSpPr>
          <p:cNvPr id="13" name="TextBox 12"/>
          <p:cNvSpPr txBox="1"/>
          <p:nvPr/>
        </p:nvSpPr>
        <p:spPr>
          <a:xfrm>
            <a:off x="3856199" y="2669075"/>
            <a:ext cx="1900237" cy="185890"/>
          </a:xfrm>
          <a:prstGeom prst="rect">
            <a:avLst/>
          </a:prstGeom>
          <a:noFill/>
        </p:spPr>
        <p:txBody>
          <a:bodyPr wrap="none" lIns="0" tIns="0" rIns="0" bIns="0" anchor="t">
            <a:spAutoFit/>
          </a:bodyPr>
          <a:lstStyle/>
          <a:p>
            <a:pPr algn="l"/>
            <a:r>
              <a:rPr sz="1050" b="1" i="0">
                <a:solidFill>
                  <a:srgbClr val="000000"/>
                </a:solidFill>
                <a:latin typeface="Times New Roman"/>
              </a:rPr>
              <a:t>Latitude: ____________________</a:t>
            </a:r>
          </a:p>
        </p:txBody>
      </p:sp>
      <p:sp>
        <p:nvSpPr>
          <p:cNvPr id="14" name="TextBox 13"/>
          <p:cNvSpPr txBox="1"/>
          <p:nvPr/>
        </p:nvSpPr>
        <p:spPr>
          <a:xfrm>
            <a:off x="3856199" y="2821475"/>
            <a:ext cx="1996649" cy="185890"/>
          </a:xfrm>
          <a:prstGeom prst="rect">
            <a:avLst/>
          </a:prstGeom>
          <a:noFill/>
        </p:spPr>
        <p:txBody>
          <a:bodyPr wrap="none" lIns="0" tIns="0" rIns="0" bIns="0" anchor="t">
            <a:spAutoFit/>
          </a:bodyPr>
          <a:lstStyle/>
          <a:p>
            <a:pPr algn="l"/>
            <a:r>
              <a:rPr sz="1050" b="1" i="0">
                <a:solidFill>
                  <a:srgbClr val="000000"/>
                </a:solidFill>
                <a:latin typeface="Times New Roman"/>
              </a:rPr>
              <a:t>Longitude: ____________________</a:t>
            </a:r>
          </a:p>
        </p:txBody>
      </p:sp>
      <p:sp>
        <p:nvSpPr>
          <p:cNvPr id="15" name="TextBox 14"/>
          <p:cNvSpPr txBox="1"/>
          <p:nvPr/>
        </p:nvSpPr>
        <p:spPr>
          <a:xfrm>
            <a:off x="3856199" y="2973875"/>
            <a:ext cx="1915039" cy="185890"/>
          </a:xfrm>
          <a:prstGeom prst="rect">
            <a:avLst/>
          </a:prstGeom>
          <a:noFill/>
        </p:spPr>
        <p:txBody>
          <a:bodyPr wrap="none" lIns="0" tIns="0" rIns="0" bIns="0" anchor="t">
            <a:spAutoFit/>
          </a:bodyPr>
          <a:lstStyle/>
          <a:p>
            <a:pPr algn="l"/>
            <a:r>
              <a:rPr sz="1050" b="1" i="0">
                <a:solidFill>
                  <a:srgbClr val="000000"/>
                </a:solidFill>
                <a:latin typeface="Times New Roman"/>
              </a:rPr>
              <a:t>Location: ____________________</a:t>
            </a:r>
          </a:p>
        </p:txBody>
      </p:sp>
      <p:sp>
        <p:nvSpPr>
          <p:cNvPr id="16" name="TextBox 15"/>
          <p:cNvSpPr txBox="1"/>
          <p:nvPr/>
        </p:nvSpPr>
        <p:spPr>
          <a:xfrm>
            <a:off x="685800" y="3388365"/>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Project Evidence Instructions</a:t>
            </a:r>
          </a:p>
          <a:p>
            <a:pPr algn="l">
              <a:lnSpc>
                <a:spcPct val="100000"/>
              </a:lnSpc>
              <a:spcBef>
                <a:spcPts val="0"/>
              </a:spcBef>
              <a:spcAft>
                <a:spcPts val="200"/>
              </a:spcAft>
            </a:pPr>
            <a:r>
              <a:rPr sz="1050" b="0">
                <a:solidFill>
                  <a:srgbClr val="000000"/>
                </a:solidFill>
                <a:latin typeface="Times New Roman"/>
              </a:rPr>
              <a:t>Use this page to attach authentic photographs from the project implementation, laboratory work, project review, API testing, database verification, or guide-supervised activities. Each photograph should be accompanied by accurate metadata. The date, latitude, longitude, and location should be taken from the original device or photograph information wherever available.</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The photographs should show genuine project-related activity and should be clear enough for a reviewer to understand what was being demonstrated. Suitable evidence may include a development environment, API testing session, database inspection, project review, or other documented implementation activity. Do not invent or manually alter location coordinates.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34</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388587" y="579322"/>
            <a:ext cx="2782823" cy="281432"/>
          </a:xfrm>
          <a:prstGeom prst="rect">
            <a:avLst/>
          </a:prstGeom>
          <a:noFill/>
        </p:spPr>
        <p:txBody>
          <a:bodyPr wrap="none" lIns="0" tIns="0" rIns="0" bIns="0" anchor="t">
            <a:spAutoFit/>
          </a:bodyPr>
          <a:lstStyle/>
          <a:p>
            <a:pPr algn="ctr"/>
            <a:r>
              <a:rPr sz="1600" b="1" i="0">
                <a:solidFill>
                  <a:srgbClr val="000000"/>
                </a:solidFill>
                <a:latin typeface="Times New Roman"/>
              </a:rPr>
              <a:t>CHAPTER - 13 REFERENCES</a:t>
            </a:r>
          </a:p>
        </p:txBody>
      </p:sp>
      <p:sp>
        <p:nvSpPr>
          <p:cNvPr id="5" name="TextBox 4"/>
          <p:cNvSpPr txBox="1"/>
          <p:nvPr/>
        </p:nvSpPr>
        <p:spPr>
          <a:xfrm>
            <a:off x="716280" y="948740"/>
            <a:ext cx="3362909" cy="246252"/>
          </a:xfrm>
          <a:prstGeom prst="rect">
            <a:avLst/>
          </a:prstGeom>
          <a:noFill/>
        </p:spPr>
        <p:txBody>
          <a:bodyPr wrap="none" lIns="0" tIns="0" rIns="0" bIns="0" anchor="t">
            <a:spAutoFit/>
          </a:bodyPr>
          <a:lstStyle/>
          <a:p>
            <a:pPr algn="l"/>
            <a:r>
              <a:rPr sz="1400" b="1" i="0">
                <a:solidFill>
                  <a:srgbClr val="000000"/>
                </a:solidFill>
                <a:latin typeface="Times New Roman"/>
              </a:rPr>
              <a:t>13.1 References and Documentation Sources</a:t>
            </a:r>
          </a:p>
        </p:txBody>
      </p:sp>
      <p:sp>
        <p:nvSpPr>
          <p:cNvPr id="6" name="TextBox 5"/>
          <p:cNvSpPr txBox="1"/>
          <p:nvPr/>
        </p:nvSpPr>
        <p:spPr>
          <a:xfrm>
            <a:off x="944880" y="12278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following references are appropriate for understanding the technologies and software</a:t>
            </a:r>
          </a:p>
        </p:txBody>
      </p:sp>
      <p:sp>
        <p:nvSpPr>
          <p:cNvPr id="7" name="TextBox 6"/>
          <p:cNvSpPr txBox="1"/>
          <p:nvPr/>
        </p:nvSpPr>
        <p:spPr>
          <a:xfrm>
            <a:off x="716280" y="14056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engineering concepts used in the project. They should be retained as supporting documentation for</a:t>
            </a:r>
          </a:p>
        </p:txBody>
      </p:sp>
      <p:sp>
        <p:nvSpPr>
          <p:cNvPr id="8" name="TextBox 7"/>
          <p:cNvSpPr txBox="1"/>
          <p:nvPr/>
        </p:nvSpPr>
        <p:spPr>
          <a:xfrm>
            <a:off x="716280" y="1583486"/>
            <a:ext cx="1219199" cy="203301"/>
          </a:xfrm>
          <a:prstGeom prst="rect">
            <a:avLst/>
          </a:prstGeom>
          <a:noFill/>
        </p:spPr>
        <p:txBody>
          <a:bodyPr wrap="none" lIns="0" tIns="0" rIns="0" bIns="0" anchor="t">
            <a:spAutoFit/>
          </a:bodyPr>
          <a:lstStyle/>
          <a:p>
            <a:pPr algn="l"/>
            <a:r>
              <a:rPr sz="1200" b="0" i="0">
                <a:solidFill>
                  <a:srgbClr val="000000"/>
                </a:solidFill>
                <a:latin typeface="Times New Roman"/>
              </a:rPr>
              <a:t>the implementation.</a:t>
            </a:r>
          </a:p>
        </p:txBody>
      </p:sp>
      <p:sp>
        <p:nvSpPr>
          <p:cNvPr id="9" name="TextBox 8"/>
          <p:cNvSpPr txBox="1"/>
          <p:nvPr/>
        </p:nvSpPr>
        <p:spPr>
          <a:xfrm>
            <a:off x="716280" y="1812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 Node.js Documentation – Runtime concepts, modules, environment configuration, and server</a:t>
            </a:r>
          </a:p>
        </p:txBody>
      </p:sp>
      <p:sp>
        <p:nvSpPr>
          <p:cNvPr id="10" name="TextBox 9"/>
          <p:cNvSpPr txBox="1"/>
          <p:nvPr/>
        </p:nvSpPr>
        <p:spPr>
          <a:xfrm>
            <a:off x="716280" y="1989886"/>
            <a:ext cx="825398" cy="203301"/>
          </a:xfrm>
          <a:prstGeom prst="rect">
            <a:avLst/>
          </a:prstGeom>
          <a:noFill/>
        </p:spPr>
        <p:txBody>
          <a:bodyPr wrap="none" lIns="0" tIns="0" rIns="0" bIns="0" anchor="t">
            <a:spAutoFit/>
          </a:bodyPr>
          <a:lstStyle/>
          <a:p>
            <a:pPr algn="l"/>
            <a:r>
              <a:rPr sz="1200" b="0" i="0">
                <a:solidFill>
                  <a:srgbClr val="000000"/>
                </a:solidFill>
                <a:latin typeface="Times New Roman"/>
              </a:rPr>
              <a:t>development.</a:t>
            </a:r>
          </a:p>
        </p:txBody>
      </p:sp>
      <p:sp>
        <p:nvSpPr>
          <p:cNvPr id="11" name="TextBox 10"/>
          <p:cNvSpPr txBox="1"/>
          <p:nvPr/>
        </p:nvSpPr>
        <p:spPr>
          <a:xfrm>
            <a:off x="716280" y="2218486"/>
            <a:ext cx="6072683" cy="203301"/>
          </a:xfrm>
          <a:prstGeom prst="rect">
            <a:avLst/>
          </a:prstGeom>
          <a:noFill/>
        </p:spPr>
        <p:txBody>
          <a:bodyPr wrap="none" lIns="0" tIns="0" rIns="0" bIns="0" anchor="t">
            <a:spAutoFit/>
          </a:bodyPr>
          <a:lstStyle/>
          <a:p>
            <a:pPr algn="ctr"/>
            <a:r>
              <a:rPr sz="1200" b="0" i="0">
                <a:solidFill>
                  <a:srgbClr val="000000"/>
                </a:solidFill>
                <a:latin typeface="Times New Roman"/>
              </a:rPr>
              <a:t>• Express.js Documentation – Routing, middleware, request handling, and REST API development.</a:t>
            </a:r>
          </a:p>
        </p:txBody>
      </p:sp>
      <p:sp>
        <p:nvSpPr>
          <p:cNvPr id="12" name="TextBox 11"/>
          <p:cNvSpPr txBox="1"/>
          <p:nvPr/>
        </p:nvSpPr>
        <p:spPr>
          <a:xfrm>
            <a:off x="716280" y="24470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 MongoDB Documentation – Collections, documents, queries, indexing, and database</a:t>
            </a:r>
          </a:p>
        </p:txBody>
      </p:sp>
      <p:sp>
        <p:nvSpPr>
          <p:cNvPr id="13" name="TextBox 12"/>
          <p:cNvSpPr txBox="1"/>
          <p:nvPr/>
        </p:nvSpPr>
        <p:spPr>
          <a:xfrm>
            <a:off x="716280" y="2624886"/>
            <a:ext cx="918667" cy="203301"/>
          </a:xfrm>
          <a:prstGeom prst="rect">
            <a:avLst/>
          </a:prstGeom>
          <a:noFill/>
        </p:spPr>
        <p:txBody>
          <a:bodyPr wrap="none" lIns="0" tIns="0" rIns="0" bIns="0" anchor="t">
            <a:spAutoFit/>
          </a:bodyPr>
          <a:lstStyle/>
          <a:p>
            <a:pPr algn="l"/>
            <a:r>
              <a:rPr sz="1200" b="0" i="0">
                <a:solidFill>
                  <a:srgbClr val="000000"/>
                </a:solidFill>
                <a:latin typeface="Times New Roman"/>
              </a:rPr>
              <a:t>administration.</a:t>
            </a:r>
          </a:p>
        </p:txBody>
      </p:sp>
      <p:sp>
        <p:nvSpPr>
          <p:cNvPr id="14" name="TextBox 13"/>
          <p:cNvSpPr txBox="1"/>
          <p:nvPr/>
        </p:nvSpPr>
        <p:spPr>
          <a:xfrm>
            <a:off x="716280" y="2853486"/>
            <a:ext cx="4747565" cy="203301"/>
          </a:xfrm>
          <a:prstGeom prst="rect">
            <a:avLst/>
          </a:prstGeom>
          <a:noFill/>
        </p:spPr>
        <p:txBody>
          <a:bodyPr wrap="none" lIns="0" tIns="0" rIns="0" bIns="0" anchor="t">
            <a:spAutoFit/>
          </a:bodyPr>
          <a:lstStyle/>
          <a:p>
            <a:pPr algn="l"/>
            <a:r>
              <a:rPr sz="1200" b="0" i="0">
                <a:solidFill>
                  <a:srgbClr val="000000"/>
                </a:solidFill>
                <a:latin typeface="Times New Roman"/>
              </a:rPr>
              <a:t>• MongoDB Compass Documentation – Database browsing and management.</a:t>
            </a:r>
          </a:p>
        </p:txBody>
      </p:sp>
      <p:sp>
        <p:nvSpPr>
          <p:cNvPr id="15" name="TextBox 14"/>
          <p:cNvSpPr txBox="1"/>
          <p:nvPr/>
        </p:nvSpPr>
        <p:spPr>
          <a:xfrm>
            <a:off x="716280" y="3082086"/>
            <a:ext cx="5771997" cy="203301"/>
          </a:xfrm>
          <a:prstGeom prst="rect">
            <a:avLst/>
          </a:prstGeom>
          <a:noFill/>
        </p:spPr>
        <p:txBody>
          <a:bodyPr wrap="none" lIns="0" tIns="0" rIns="0" bIns="0" anchor="t">
            <a:spAutoFit/>
          </a:bodyPr>
          <a:lstStyle/>
          <a:p>
            <a:pPr algn="ctr"/>
            <a:r>
              <a:rPr sz="1200" b="0" i="0">
                <a:solidFill>
                  <a:srgbClr val="000000"/>
                </a:solidFill>
                <a:latin typeface="Times New Roman"/>
              </a:rPr>
              <a:t>• Postman Documentation – API request creation, testing, collections, and response validation.</a:t>
            </a:r>
          </a:p>
        </p:txBody>
      </p:sp>
      <p:sp>
        <p:nvSpPr>
          <p:cNvPr id="16" name="TextBox 15"/>
          <p:cNvSpPr txBox="1"/>
          <p:nvPr/>
        </p:nvSpPr>
        <p:spPr>
          <a:xfrm>
            <a:off x="716280" y="3310686"/>
            <a:ext cx="5780684" cy="203301"/>
          </a:xfrm>
          <a:prstGeom prst="rect">
            <a:avLst/>
          </a:prstGeom>
          <a:noFill/>
        </p:spPr>
        <p:txBody>
          <a:bodyPr wrap="none" lIns="0" tIns="0" rIns="0" bIns="0" anchor="t">
            <a:spAutoFit/>
          </a:bodyPr>
          <a:lstStyle/>
          <a:p>
            <a:pPr algn="ctr"/>
            <a:r>
              <a:rPr sz="1200" b="0" i="0">
                <a:solidFill>
                  <a:srgbClr val="000000"/>
                </a:solidFill>
                <a:latin typeface="Times New Roman"/>
              </a:rPr>
              <a:t>• Visual Studio Code Documentation – Development environment, debugging, and extensions.</a:t>
            </a:r>
          </a:p>
        </p:txBody>
      </p:sp>
      <p:sp>
        <p:nvSpPr>
          <p:cNvPr id="17" name="TextBox 16"/>
          <p:cNvSpPr txBox="1"/>
          <p:nvPr/>
        </p:nvSpPr>
        <p:spPr>
          <a:xfrm>
            <a:off x="716280" y="3539286"/>
            <a:ext cx="5107229" cy="203301"/>
          </a:xfrm>
          <a:prstGeom prst="rect">
            <a:avLst/>
          </a:prstGeom>
          <a:noFill/>
        </p:spPr>
        <p:txBody>
          <a:bodyPr wrap="none" lIns="0" tIns="0" rIns="0" bIns="0" anchor="t">
            <a:spAutoFit/>
          </a:bodyPr>
          <a:lstStyle/>
          <a:p>
            <a:pPr algn="l"/>
            <a:r>
              <a:rPr sz="1200" b="0" i="0">
                <a:solidFill>
                  <a:srgbClr val="000000"/>
                </a:solidFill>
                <a:latin typeface="Times New Roman"/>
              </a:rPr>
              <a:t>• npm Documentation – Package installation, scripts, and dependency management.</a:t>
            </a:r>
          </a:p>
        </p:txBody>
      </p:sp>
      <p:sp>
        <p:nvSpPr>
          <p:cNvPr id="18" name="TextBox 17"/>
          <p:cNvSpPr txBox="1"/>
          <p:nvPr/>
        </p:nvSpPr>
        <p:spPr>
          <a:xfrm>
            <a:off x="716280" y="37678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 REST architectural concepts – HTTP methods, resource-oriented APIs, status codes, and JSON</a:t>
            </a:r>
          </a:p>
        </p:txBody>
      </p:sp>
      <p:sp>
        <p:nvSpPr>
          <p:cNvPr id="19" name="TextBox 18"/>
          <p:cNvSpPr txBox="1"/>
          <p:nvPr/>
        </p:nvSpPr>
        <p:spPr>
          <a:xfrm>
            <a:off x="716280" y="3945686"/>
            <a:ext cx="986332" cy="203301"/>
          </a:xfrm>
          <a:prstGeom prst="rect">
            <a:avLst/>
          </a:prstGeom>
          <a:noFill/>
        </p:spPr>
        <p:txBody>
          <a:bodyPr wrap="none" lIns="0" tIns="0" rIns="0" bIns="0" anchor="t">
            <a:spAutoFit/>
          </a:bodyPr>
          <a:lstStyle/>
          <a:p>
            <a:pPr algn="l"/>
            <a:r>
              <a:rPr sz="1200" b="0" i="0">
                <a:solidFill>
                  <a:srgbClr val="000000"/>
                </a:solidFill>
                <a:latin typeface="Times New Roman"/>
              </a:rPr>
              <a:t>communication.</a:t>
            </a:r>
          </a:p>
        </p:txBody>
      </p:sp>
      <p:sp>
        <p:nvSpPr>
          <p:cNvPr id="20" name="TextBox 19"/>
          <p:cNvSpPr txBox="1"/>
          <p:nvPr/>
        </p:nvSpPr>
        <p:spPr>
          <a:xfrm>
            <a:off x="716280" y="41742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 JavaScript language documentation – Functions, objects, arrays, asynchronous programming, and</a:t>
            </a:r>
          </a:p>
        </p:txBody>
      </p:sp>
      <p:sp>
        <p:nvSpPr>
          <p:cNvPr id="21" name="TextBox 20"/>
          <p:cNvSpPr txBox="1"/>
          <p:nvPr/>
        </p:nvSpPr>
        <p:spPr>
          <a:xfrm>
            <a:off x="716280" y="4352086"/>
            <a:ext cx="905713" cy="203301"/>
          </a:xfrm>
          <a:prstGeom prst="rect">
            <a:avLst/>
          </a:prstGeom>
          <a:noFill/>
        </p:spPr>
        <p:txBody>
          <a:bodyPr wrap="none" lIns="0" tIns="0" rIns="0" bIns="0" anchor="t">
            <a:spAutoFit/>
          </a:bodyPr>
          <a:lstStyle/>
          <a:p>
            <a:pPr algn="l"/>
            <a:r>
              <a:rPr sz="1200" b="0" i="0">
                <a:solidFill>
                  <a:srgbClr val="000000"/>
                </a:solidFill>
                <a:latin typeface="Times New Roman"/>
              </a:rPr>
              <a:t>error handling.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60746"/>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35</a:t>
            </a:r>
          </a:p>
        </p:txBody>
      </p:sp>
      <p:sp>
        <p:nvSpPr>
          <p:cNvPr id="3" name="TextBox 2"/>
          <p:cNvSpPr txBox="1"/>
          <p:nvPr/>
        </p:nvSpPr>
        <p:spPr>
          <a:xfrm>
            <a:off x="1691510" y="204825"/>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716280" y="580440"/>
            <a:ext cx="6069557" cy="246253"/>
          </a:xfrm>
          <a:prstGeom prst="rect">
            <a:avLst/>
          </a:prstGeom>
          <a:noFill/>
        </p:spPr>
        <p:txBody>
          <a:bodyPr wrap="none" lIns="0" tIns="0" rIns="0" bIns="0" anchor="t">
            <a:spAutoFit/>
          </a:bodyPr>
          <a:lstStyle/>
          <a:p>
            <a:pPr algn="ctr"/>
            <a:r>
              <a:rPr sz="1400" b="1" i="0">
                <a:solidFill>
                  <a:srgbClr val="000000"/>
                </a:solidFill>
                <a:latin typeface="Times New Roman"/>
              </a:rPr>
              <a:t>5. Start the Node.js/Express.js backend using the project’s configured npm start</a:t>
            </a:r>
          </a:p>
        </p:txBody>
      </p:sp>
      <p:sp>
        <p:nvSpPr>
          <p:cNvPr id="5" name="TextBox 4"/>
          <p:cNvSpPr txBox="1"/>
          <p:nvPr/>
        </p:nvSpPr>
        <p:spPr>
          <a:xfrm>
            <a:off x="716280" y="796340"/>
            <a:ext cx="2019808" cy="246253"/>
          </a:xfrm>
          <a:prstGeom prst="rect">
            <a:avLst/>
          </a:prstGeom>
          <a:noFill/>
        </p:spPr>
        <p:txBody>
          <a:bodyPr wrap="none" lIns="0" tIns="0" rIns="0" bIns="0" anchor="t">
            <a:spAutoFit/>
          </a:bodyPr>
          <a:lstStyle/>
          <a:p>
            <a:pPr algn="l"/>
            <a:r>
              <a:rPr sz="1400" b="1" i="0">
                <a:solidFill>
                  <a:srgbClr val="000000"/>
                </a:solidFill>
                <a:latin typeface="Times New Roman"/>
              </a:rPr>
              <a:t>or development command.</a:t>
            </a:r>
          </a:p>
        </p:txBody>
      </p:sp>
      <p:sp>
        <p:nvSpPr>
          <p:cNvPr id="6" name="TextBox 5"/>
          <p:cNvSpPr txBox="1"/>
          <p:nvPr/>
        </p:nvSpPr>
        <p:spPr>
          <a:xfrm>
            <a:off x="716280" y="1101140"/>
            <a:ext cx="5886780" cy="246252"/>
          </a:xfrm>
          <a:prstGeom prst="rect">
            <a:avLst/>
          </a:prstGeom>
          <a:noFill/>
        </p:spPr>
        <p:txBody>
          <a:bodyPr wrap="none" lIns="0" tIns="0" rIns="0" bIns="0" anchor="t">
            <a:spAutoFit/>
          </a:bodyPr>
          <a:lstStyle/>
          <a:p>
            <a:pPr algn="ctr"/>
            <a:r>
              <a:rPr sz="1400" b="1" i="0">
                <a:solidFill>
                  <a:srgbClr val="000000"/>
                </a:solidFill>
                <a:latin typeface="Times New Roman"/>
              </a:rPr>
              <a:t>6. Use Postman to verify the API base address and test the medicine, supplier,</a:t>
            </a:r>
          </a:p>
        </p:txBody>
      </p:sp>
      <p:sp>
        <p:nvSpPr>
          <p:cNvPr id="7" name="TextBox 6"/>
          <p:cNvSpPr txBox="1"/>
          <p:nvPr/>
        </p:nvSpPr>
        <p:spPr>
          <a:xfrm>
            <a:off x="716280" y="1317040"/>
            <a:ext cx="3946093" cy="246252"/>
          </a:xfrm>
          <a:prstGeom prst="rect">
            <a:avLst/>
          </a:prstGeom>
          <a:noFill/>
        </p:spPr>
        <p:txBody>
          <a:bodyPr wrap="none" lIns="0" tIns="0" rIns="0" bIns="0" anchor="t">
            <a:spAutoFit/>
          </a:bodyPr>
          <a:lstStyle/>
          <a:p>
            <a:pPr algn="l"/>
            <a:r>
              <a:rPr sz="1400" b="1" i="0">
                <a:solidFill>
                  <a:srgbClr val="000000"/>
                </a:solidFill>
                <a:latin typeface="Times New Roman"/>
              </a:rPr>
              <a:t>batch, purchase, sales, and stock-related operations.</a:t>
            </a:r>
          </a:p>
        </p:txBody>
      </p:sp>
      <p:sp>
        <p:nvSpPr>
          <p:cNvPr id="8" name="TextBox 7"/>
          <p:cNvSpPr txBox="1"/>
          <p:nvPr/>
        </p:nvSpPr>
        <p:spPr>
          <a:xfrm>
            <a:off x="716280" y="1621840"/>
            <a:ext cx="5605500" cy="246252"/>
          </a:xfrm>
          <a:prstGeom prst="rect">
            <a:avLst/>
          </a:prstGeom>
          <a:noFill/>
        </p:spPr>
        <p:txBody>
          <a:bodyPr wrap="none" lIns="0" tIns="0" rIns="0" bIns="0" anchor="t">
            <a:spAutoFit/>
          </a:bodyPr>
          <a:lstStyle/>
          <a:p>
            <a:pPr algn="ctr"/>
            <a:r>
              <a:rPr sz="1400" b="1" i="0">
                <a:solidFill>
                  <a:srgbClr val="000000"/>
                </a:solidFill>
                <a:latin typeface="Times New Roman"/>
              </a:rPr>
              <a:t>7. Open MongoDB Compass and verify that successful API operations are</a:t>
            </a:r>
          </a:p>
        </p:txBody>
      </p:sp>
      <p:sp>
        <p:nvSpPr>
          <p:cNvPr id="9" name="TextBox 8"/>
          <p:cNvSpPr txBox="1"/>
          <p:nvPr/>
        </p:nvSpPr>
        <p:spPr>
          <a:xfrm>
            <a:off x="716280" y="1837740"/>
            <a:ext cx="2967838" cy="246252"/>
          </a:xfrm>
          <a:prstGeom prst="rect">
            <a:avLst/>
          </a:prstGeom>
          <a:noFill/>
        </p:spPr>
        <p:txBody>
          <a:bodyPr wrap="none" lIns="0" tIns="0" rIns="0" bIns="0" anchor="t">
            <a:spAutoFit/>
          </a:bodyPr>
          <a:lstStyle/>
          <a:p>
            <a:pPr algn="l"/>
            <a:r>
              <a:rPr sz="1400" b="1" i="0">
                <a:solidFill>
                  <a:srgbClr val="000000"/>
                </a:solidFill>
                <a:latin typeface="Times New Roman"/>
              </a:rPr>
              <a:t>reflected in the appropriate collections.</a:t>
            </a:r>
          </a:p>
        </p:txBody>
      </p:sp>
      <p:sp>
        <p:nvSpPr>
          <p:cNvPr id="10" name="TextBox 9"/>
          <p:cNvSpPr txBox="1"/>
          <p:nvPr/>
        </p:nvSpPr>
        <p:spPr>
          <a:xfrm>
            <a:off x="716280" y="2142540"/>
            <a:ext cx="5842508" cy="246252"/>
          </a:xfrm>
          <a:prstGeom prst="rect">
            <a:avLst/>
          </a:prstGeom>
          <a:noFill/>
        </p:spPr>
        <p:txBody>
          <a:bodyPr wrap="none" lIns="0" tIns="0" rIns="0" bIns="0" anchor="t">
            <a:spAutoFit/>
          </a:bodyPr>
          <a:lstStyle/>
          <a:p>
            <a:pPr algn="ctr"/>
            <a:r>
              <a:rPr sz="1400" b="1" i="0">
                <a:solidFill>
                  <a:srgbClr val="000000"/>
                </a:solidFill>
                <a:latin typeface="Times New Roman"/>
              </a:rPr>
              <a:t>8. Keep database credentials and other secrets outside publicly shared source</a:t>
            </a:r>
          </a:p>
        </p:txBody>
      </p:sp>
      <p:sp>
        <p:nvSpPr>
          <p:cNvPr id="11" name="TextBox 10"/>
          <p:cNvSpPr txBox="1"/>
          <p:nvPr/>
        </p:nvSpPr>
        <p:spPr>
          <a:xfrm>
            <a:off x="716280" y="2358440"/>
            <a:ext cx="350621" cy="246252"/>
          </a:xfrm>
          <a:prstGeom prst="rect">
            <a:avLst/>
          </a:prstGeom>
          <a:noFill/>
        </p:spPr>
        <p:txBody>
          <a:bodyPr wrap="none" lIns="0" tIns="0" rIns="0" bIns="0" anchor="t">
            <a:spAutoFit/>
          </a:bodyPr>
          <a:lstStyle/>
          <a:p>
            <a:pPr algn="l"/>
            <a:r>
              <a:rPr sz="1400" b="1" i="0">
                <a:solidFill>
                  <a:srgbClr val="000000"/>
                </a:solidFill>
                <a:latin typeface="Times New Roman"/>
              </a:rPr>
              <a:t>files.</a:t>
            </a:r>
          </a:p>
        </p:txBody>
      </p:sp>
      <p:sp>
        <p:nvSpPr>
          <p:cNvPr id="12" name="TextBox 11"/>
          <p:cNvSpPr txBox="1"/>
          <p:nvPr/>
        </p:nvSpPr>
        <p:spPr>
          <a:xfrm>
            <a:off x="716280" y="2663240"/>
            <a:ext cx="2687091" cy="246252"/>
          </a:xfrm>
          <a:prstGeom prst="rect">
            <a:avLst/>
          </a:prstGeom>
          <a:noFill/>
        </p:spPr>
        <p:txBody>
          <a:bodyPr wrap="none" lIns="0" tIns="0" rIns="0" bIns="0" anchor="t">
            <a:spAutoFit/>
          </a:bodyPr>
          <a:lstStyle/>
          <a:p>
            <a:pPr algn="l"/>
            <a:r>
              <a:rPr sz="1400" b="1" i="0">
                <a:solidFill>
                  <a:srgbClr val="000000"/>
                </a:solidFill>
                <a:latin typeface="Times New Roman"/>
              </a:rPr>
              <a:t>Appendix D – User Manual / Guide</a:t>
            </a:r>
          </a:p>
        </p:txBody>
      </p:sp>
      <p:sp>
        <p:nvSpPr>
          <p:cNvPr id="13" name="TextBox 12"/>
          <p:cNvSpPr txBox="1"/>
          <p:nvPr/>
        </p:nvSpPr>
        <p:spPr>
          <a:xfrm>
            <a:off x="944880" y="29423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system is intended for administrators and authorized staff. A typical workflow begins with</a:t>
            </a:r>
          </a:p>
        </p:txBody>
      </p:sp>
      <p:sp>
        <p:nvSpPr>
          <p:cNvPr id="14" name="TextBox 13"/>
          <p:cNvSpPr txBox="1"/>
          <p:nvPr/>
        </p:nvSpPr>
        <p:spPr>
          <a:xfrm>
            <a:off x="716280" y="31201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maintaining the medicine and supplier master records. Batch information is then associated with</a:t>
            </a:r>
          </a:p>
        </p:txBody>
      </p:sp>
      <p:sp>
        <p:nvSpPr>
          <p:cNvPr id="15" name="TextBox 14"/>
          <p:cNvSpPr txBox="1"/>
          <p:nvPr/>
        </p:nvSpPr>
        <p:spPr>
          <a:xfrm>
            <a:off x="716280" y="3297986"/>
            <a:ext cx="3978402" cy="203301"/>
          </a:xfrm>
          <a:prstGeom prst="rect">
            <a:avLst/>
          </a:prstGeom>
          <a:noFill/>
        </p:spPr>
        <p:txBody>
          <a:bodyPr wrap="none" lIns="0" tIns="0" rIns="0" bIns="0" anchor="t">
            <a:spAutoFit/>
          </a:bodyPr>
          <a:lstStyle/>
          <a:p>
            <a:pPr algn="l"/>
            <a:r>
              <a:rPr sz="1200" b="0" i="0">
                <a:solidFill>
                  <a:srgbClr val="000000"/>
                </a:solidFill>
                <a:latin typeface="Times New Roman"/>
              </a:rPr>
              <a:t>medicines so that manufacturing and expiry dates can be tracked.</a:t>
            </a:r>
          </a:p>
        </p:txBody>
      </p:sp>
      <p:sp>
        <p:nvSpPr>
          <p:cNvPr id="16" name="TextBox 15"/>
          <p:cNvSpPr txBox="1"/>
          <p:nvPr/>
        </p:nvSpPr>
        <p:spPr>
          <a:xfrm>
            <a:off x="944880" y="35265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When stock is received, the purchase workflow records the supplier and relevant medicine/batch</a:t>
            </a:r>
          </a:p>
        </p:txBody>
      </p:sp>
      <p:sp>
        <p:nvSpPr>
          <p:cNvPr id="17" name="TextBox 16"/>
          <p:cNvSpPr txBox="1"/>
          <p:nvPr/>
        </p:nvSpPr>
        <p:spPr>
          <a:xfrm>
            <a:off x="716280" y="37043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information. The corresponding inventory quantity is increased. When a sale or outgoing transaction</a:t>
            </a:r>
          </a:p>
        </p:txBody>
      </p:sp>
      <p:sp>
        <p:nvSpPr>
          <p:cNvPr id="18" name="TextBox 17"/>
          <p:cNvSpPr txBox="1"/>
          <p:nvPr/>
        </p:nvSpPr>
        <p:spPr>
          <a:xfrm>
            <a:off x="716280" y="38821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is recorded, the available quantity is reduced according to the business rules implemented by the</a:t>
            </a:r>
          </a:p>
        </p:txBody>
      </p:sp>
      <p:sp>
        <p:nvSpPr>
          <p:cNvPr id="19" name="TextBox 18"/>
          <p:cNvSpPr txBox="1"/>
          <p:nvPr/>
        </p:nvSpPr>
        <p:spPr>
          <a:xfrm>
            <a:off x="716280" y="4059986"/>
            <a:ext cx="545896" cy="203301"/>
          </a:xfrm>
          <a:prstGeom prst="rect">
            <a:avLst/>
          </a:prstGeom>
          <a:noFill/>
        </p:spPr>
        <p:txBody>
          <a:bodyPr wrap="none" lIns="0" tIns="0" rIns="0" bIns="0" anchor="t">
            <a:spAutoFit/>
          </a:bodyPr>
          <a:lstStyle/>
          <a:p>
            <a:pPr algn="l"/>
            <a:r>
              <a:rPr sz="1200" b="0" i="0">
                <a:solidFill>
                  <a:srgbClr val="000000"/>
                </a:solidFill>
                <a:latin typeface="Times New Roman"/>
              </a:rPr>
              <a:t>backend.</a:t>
            </a:r>
          </a:p>
        </p:txBody>
      </p:sp>
      <p:sp>
        <p:nvSpPr>
          <p:cNvPr id="20" name="TextBox 19"/>
          <p:cNvSpPr txBox="1"/>
          <p:nvPr/>
        </p:nvSpPr>
        <p:spPr>
          <a:xfrm>
            <a:off x="944880" y="4288586"/>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For routine monitoring, staff can retrieve current stock information and identify medicines below</a:t>
            </a:r>
          </a:p>
        </p:txBody>
      </p:sp>
      <p:sp>
        <p:nvSpPr>
          <p:cNvPr id="21" name="TextBox 20"/>
          <p:cNvSpPr txBox="1"/>
          <p:nvPr/>
        </p:nvSpPr>
        <p:spPr>
          <a:xfrm>
            <a:off x="716280" y="4466386"/>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the configured stock threshold. Near-expiry queries can be used to identify batches that require</a:t>
            </a:r>
          </a:p>
        </p:txBody>
      </p:sp>
      <p:sp>
        <p:nvSpPr>
          <p:cNvPr id="22" name="TextBox 21"/>
          <p:cNvSpPr txBox="1"/>
          <p:nvPr/>
        </p:nvSpPr>
        <p:spPr>
          <a:xfrm>
            <a:off x="716280" y="4644186"/>
            <a:ext cx="5299253" cy="203301"/>
          </a:xfrm>
          <a:prstGeom prst="rect">
            <a:avLst/>
          </a:prstGeom>
          <a:noFill/>
        </p:spPr>
        <p:txBody>
          <a:bodyPr wrap="none" lIns="0" tIns="0" rIns="0" bIns="0" anchor="t">
            <a:spAutoFit/>
          </a:bodyPr>
          <a:lstStyle/>
          <a:p>
            <a:pPr algn="l"/>
            <a:r>
              <a:rPr sz="1200" b="0" i="0">
                <a:solidFill>
                  <a:srgbClr val="000000"/>
                </a:solidFill>
                <a:latin typeface="Times New Roman"/>
              </a:rPr>
              <a:t>attention. Staff should verify the returned information before taking operational action.</a:t>
            </a:r>
          </a:p>
        </p:txBody>
      </p:sp>
      <p:sp>
        <p:nvSpPr>
          <p:cNvPr id="23" name="TextBox 22"/>
          <p:cNvSpPr txBox="1"/>
          <p:nvPr/>
        </p:nvSpPr>
        <p:spPr>
          <a:xfrm>
            <a:off x="944880" y="48727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Administrators should periodically review access permissions, database backups, and</a:t>
            </a:r>
          </a:p>
        </p:txBody>
      </p:sp>
      <p:sp>
        <p:nvSpPr>
          <p:cNvPr id="24" name="TextBox 23"/>
          <p:cNvSpPr txBox="1"/>
          <p:nvPr/>
        </p:nvSpPr>
        <p:spPr>
          <a:xfrm>
            <a:off x="716280" y="5050586"/>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application logs. Any unexpected API response should be investigated through the server logs and</a:t>
            </a:r>
          </a:p>
        </p:txBody>
      </p:sp>
      <p:sp>
        <p:nvSpPr>
          <p:cNvPr id="25" name="TextBox 24"/>
          <p:cNvSpPr txBox="1"/>
          <p:nvPr/>
        </p:nvSpPr>
        <p:spPr>
          <a:xfrm>
            <a:off x="716280" y="5228386"/>
            <a:ext cx="2843936" cy="203301"/>
          </a:xfrm>
          <a:prstGeom prst="rect">
            <a:avLst/>
          </a:prstGeom>
          <a:noFill/>
        </p:spPr>
        <p:txBody>
          <a:bodyPr wrap="none" lIns="0" tIns="0" rIns="0" bIns="0" anchor="t">
            <a:spAutoFit/>
          </a:bodyPr>
          <a:lstStyle/>
          <a:p>
            <a:pPr algn="l"/>
            <a:r>
              <a:rPr sz="1200" b="0" i="0">
                <a:solidFill>
                  <a:srgbClr val="000000"/>
                </a:solidFill>
                <a:latin typeface="Times New Roman"/>
              </a:rPr>
              <a:t>database state before repeating the transaction.</a:t>
            </a:r>
          </a:p>
        </p:txBody>
      </p:sp>
      <p:sp>
        <p:nvSpPr>
          <p:cNvPr id="26" name="TextBox 25"/>
          <p:cNvSpPr txBox="1"/>
          <p:nvPr/>
        </p:nvSpPr>
        <p:spPr>
          <a:xfrm>
            <a:off x="716280" y="5495340"/>
            <a:ext cx="3491991" cy="246252"/>
          </a:xfrm>
          <a:prstGeom prst="rect">
            <a:avLst/>
          </a:prstGeom>
          <a:noFill/>
        </p:spPr>
        <p:txBody>
          <a:bodyPr wrap="none" lIns="0" tIns="0" rIns="0" bIns="0" anchor="t">
            <a:spAutoFit/>
          </a:bodyPr>
          <a:lstStyle/>
          <a:p>
            <a:pPr algn="l"/>
            <a:r>
              <a:rPr sz="1400" b="1" i="0">
                <a:solidFill>
                  <a:srgbClr val="000000"/>
                </a:solidFill>
                <a:latin typeface="Times New Roman"/>
              </a:rPr>
              <a:t>Appendix E – Review / Guide Signature Form</a:t>
            </a:r>
          </a:p>
        </p:txBody>
      </p:sp>
      <p:sp>
        <p:nvSpPr>
          <p:cNvPr id="27" name="TextBox 26"/>
          <p:cNvSpPr txBox="1"/>
          <p:nvPr/>
        </p:nvSpPr>
        <p:spPr>
          <a:xfrm>
            <a:off x="944880" y="5774486"/>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This page is reserved for project review comments and signatures. The following format may be</a:t>
            </a:r>
          </a:p>
        </p:txBody>
      </p:sp>
      <p:sp>
        <p:nvSpPr>
          <p:cNvPr id="28" name="TextBox 27"/>
          <p:cNvSpPr txBox="1"/>
          <p:nvPr/>
        </p:nvSpPr>
        <p:spPr>
          <a:xfrm>
            <a:off x="716280" y="5952286"/>
            <a:ext cx="3479139" cy="203301"/>
          </a:xfrm>
          <a:prstGeom prst="rect">
            <a:avLst/>
          </a:prstGeom>
          <a:noFill/>
        </p:spPr>
        <p:txBody>
          <a:bodyPr wrap="none" lIns="0" tIns="0" rIns="0" bIns="0" anchor="t">
            <a:spAutoFit/>
          </a:bodyPr>
          <a:lstStyle/>
          <a:p>
            <a:pPr algn="l"/>
            <a:r>
              <a:rPr sz="1200" b="0" i="0">
                <a:solidFill>
                  <a:srgbClr val="000000"/>
                </a:solidFill>
                <a:latin typeface="Times New Roman"/>
              </a:rPr>
              <a:t>used during internal reviews and final project evaluation.</a:t>
            </a:r>
          </a:p>
        </p:txBody>
      </p:sp>
      <p:sp>
        <p:nvSpPr>
          <p:cNvPr id="29" name="TextBox 28"/>
          <p:cNvSpPr txBox="1"/>
          <p:nvPr/>
        </p:nvSpPr>
        <p:spPr>
          <a:xfrm>
            <a:off x="1085844" y="6320256"/>
            <a:ext cx="759161" cy="184689"/>
          </a:xfrm>
          <a:prstGeom prst="rect">
            <a:avLst/>
          </a:prstGeom>
          <a:noFill/>
        </p:spPr>
        <p:txBody>
          <a:bodyPr wrap="none" lIns="0" tIns="0" rIns="0" bIns="0" anchor="t">
            <a:spAutoFit/>
          </a:bodyPr>
          <a:lstStyle/>
          <a:p>
            <a:pPr algn="l"/>
            <a:r>
              <a:rPr sz="1050" b="1" i="0">
                <a:solidFill>
                  <a:srgbClr val="000000"/>
                </a:solidFill>
                <a:latin typeface="Times New Roman"/>
              </a:rPr>
              <a:t>Review Stage</a:t>
            </a:r>
          </a:p>
        </p:txBody>
      </p:sp>
      <p:sp>
        <p:nvSpPr>
          <p:cNvPr id="30" name="TextBox 29"/>
          <p:cNvSpPr txBox="1"/>
          <p:nvPr/>
        </p:nvSpPr>
        <p:spPr>
          <a:xfrm>
            <a:off x="2875191" y="6320256"/>
            <a:ext cx="266566" cy="184689"/>
          </a:xfrm>
          <a:prstGeom prst="rect">
            <a:avLst/>
          </a:prstGeom>
          <a:noFill/>
        </p:spPr>
        <p:txBody>
          <a:bodyPr wrap="none" lIns="0" tIns="0" rIns="0" bIns="0" anchor="t">
            <a:spAutoFit/>
          </a:bodyPr>
          <a:lstStyle/>
          <a:p>
            <a:pPr algn="l"/>
            <a:r>
              <a:rPr sz="1050" b="1" i="0">
                <a:solidFill>
                  <a:srgbClr val="000000"/>
                </a:solidFill>
                <a:latin typeface="Times New Roman"/>
              </a:rPr>
              <a:t>Date</a:t>
            </a:r>
          </a:p>
        </p:txBody>
      </p:sp>
      <p:sp>
        <p:nvSpPr>
          <p:cNvPr id="31" name="TextBox 30"/>
          <p:cNvSpPr txBox="1"/>
          <p:nvPr/>
        </p:nvSpPr>
        <p:spPr>
          <a:xfrm>
            <a:off x="4208948" y="6244056"/>
            <a:ext cx="685152" cy="184689"/>
          </a:xfrm>
          <a:prstGeom prst="rect">
            <a:avLst/>
          </a:prstGeom>
          <a:noFill/>
        </p:spPr>
        <p:txBody>
          <a:bodyPr wrap="none" lIns="0" tIns="0" rIns="0" bIns="0" anchor="t">
            <a:spAutoFit/>
          </a:bodyPr>
          <a:lstStyle/>
          <a:p>
            <a:pPr algn="l"/>
            <a:r>
              <a:rPr sz="1050" b="1" i="0">
                <a:solidFill>
                  <a:srgbClr val="000000"/>
                </a:solidFill>
                <a:latin typeface="Times New Roman"/>
              </a:rPr>
              <a:t>Comments /</a:t>
            </a:r>
          </a:p>
        </p:txBody>
      </p:sp>
      <p:sp>
        <p:nvSpPr>
          <p:cNvPr id="32" name="TextBox 31"/>
          <p:cNvSpPr txBox="1"/>
          <p:nvPr/>
        </p:nvSpPr>
        <p:spPr>
          <a:xfrm>
            <a:off x="4173677" y="6396456"/>
            <a:ext cx="755694" cy="184689"/>
          </a:xfrm>
          <a:prstGeom prst="rect">
            <a:avLst/>
          </a:prstGeom>
          <a:noFill/>
        </p:spPr>
        <p:txBody>
          <a:bodyPr wrap="none" lIns="0" tIns="0" rIns="0" bIns="0" anchor="t">
            <a:spAutoFit/>
          </a:bodyPr>
          <a:lstStyle/>
          <a:p>
            <a:pPr algn="l"/>
            <a:r>
              <a:rPr sz="1050" b="1" i="0">
                <a:solidFill>
                  <a:srgbClr val="000000"/>
                </a:solidFill>
                <a:latin typeface="Times New Roman"/>
              </a:rPr>
              <a:t>Observations</a:t>
            </a:r>
          </a:p>
        </p:txBody>
      </p:sp>
      <p:sp>
        <p:nvSpPr>
          <p:cNvPr id="33" name="TextBox 32"/>
          <p:cNvSpPr txBox="1"/>
          <p:nvPr/>
        </p:nvSpPr>
        <p:spPr>
          <a:xfrm>
            <a:off x="5625916" y="6320256"/>
            <a:ext cx="937317" cy="184689"/>
          </a:xfrm>
          <a:prstGeom prst="rect">
            <a:avLst/>
          </a:prstGeom>
          <a:noFill/>
        </p:spPr>
        <p:txBody>
          <a:bodyPr wrap="none" lIns="0" tIns="0" rIns="0" bIns="0" anchor="t">
            <a:spAutoFit/>
          </a:bodyPr>
          <a:lstStyle/>
          <a:p>
            <a:pPr algn="l"/>
            <a:r>
              <a:rPr sz="1050" b="1" i="0">
                <a:solidFill>
                  <a:srgbClr val="000000"/>
                </a:solidFill>
                <a:latin typeface="Times New Roman"/>
              </a:rPr>
              <a:t>Guide Signature</a:t>
            </a:r>
          </a:p>
        </p:txBody>
      </p:sp>
      <p:sp>
        <p:nvSpPr>
          <p:cNvPr id="34" name="TextBox 33"/>
          <p:cNvSpPr txBox="1"/>
          <p:nvPr/>
        </p:nvSpPr>
        <p:spPr>
          <a:xfrm>
            <a:off x="744700" y="6623856"/>
            <a:ext cx="507396" cy="177889"/>
          </a:xfrm>
          <a:prstGeom prst="rect">
            <a:avLst/>
          </a:prstGeom>
          <a:noFill/>
        </p:spPr>
        <p:txBody>
          <a:bodyPr wrap="none" lIns="0" tIns="0" rIns="0" bIns="0" anchor="t">
            <a:spAutoFit/>
          </a:bodyPr>
          <a:lstStyle/>
          <a:p>
            <a:pPr algn="l"/>
            <a:r>
              <a:rPr sz="1050" b="0" i="0">
                <a:solidFill>
                  <a:srgbClr val="000000"/>
                </a:solidFill>
                <a:latin typeface="Times New Roman"/>
              </a:rPr>
              <a:t>Review 1</a:t>
            </a:r>
          </a:p>
        </p:txBody>
      </p:sp>
      <p:sp>
        <p:nvSpPr>
          <p:cNvPr id="36" name="TextBox 35"/>
          <p:cNvSpPr txBox="1"/>
          <p:nvPr/>
        </p:nvSpPr>
        <p:spPr>
          <a:xfrm>
            <a:off x="744700" y="6852456"/>
            <a:ext cx="507396" cy="177889"/>
          </a:xfrm>
          <a:prstGeom prst="rect">
            <a:avLst/>
          </a:prstGeom>
          <a:noFill/>
        </p:spPr>
        <p:txBody>
          <a:bodyPr wrap="none" lIns="0" tIns="0" rIns="0" bIns="0" anchor="t">
            <a:spAutoFit/>
          </a:bodyPr>
          <a:lstStyle/>
          <a:p>
            <a:pPr algn="l"/>
            <a:r>
              <a:rPr sz="1050" b="0" i="0">
                <a:solidFill>
                  <a:srgbClr val="000000"/>
                </a:solidFill>
                <a:latin typeface="Times New Roman"/>
              </a:rPr>
              <a:t>Review 2</a:t>
            </a:r>
          </a:p>
        </p:txBody>
      </p:sp>
      <p:sp>
        <p:nvSpPr>
          <p:cNvPr id="38" name="TextBox 37"/>
          <p:cNvSpPr txBox="1"/>
          <p:nvPr/>
        </p:nvSpPr>
        <p:spPr>
          <a:xfrm>
            <a:off x="744700" y="7081056"/>
            <a:ext cx="507396" cy="177889"/>
          </a:xfrm>
          <a:prstGeom prst="rect">
            <a:avLst/>
          </a:prstGeom>
          <a:noFill/>
        </p:spPr>
        <p:txBody>
          <a:bodyPr wrap="none" lIns="0" tIns="0" rIns="0" bIns="0" anchor="t">
            <a:spAutoFit/>
          </a:bodyPr>
          <a:lstStyle/>
          <a:p>
            <a:pPr algn="l"/>
            <a:r>
              <a:rPr sz="1050" b="0" i="0">
                <a:solidFill>
                  <a:srgbClr val="000000"/>
                </a:solidFill>
                <a:latin typeface="Times New Roman"/>
              </a:rPr>
              <a:t>Review 3</a:t>
            </a:r>
          </a:p>
        </p:txBody>
      </p:sp>
      <p:sp>
        <p:nvSpPr>
          <p:cNvPr id="40" name="TextBox 39"/>
          <p:cNvSpPr txBox="1"/>
          <p:nvPr/>
        </p:nvSpPr>
        <p:spPr>
          <a:xfrm>
            <a:off x="744700" y="7309656"/>
            <a:ext cx="714889" cy="177889"/>
          </a:xfrm>
          <a:prstGeom prst="rect">
            <a:avLst/>
          </a:prstGeom>
          <a:noFill/>
        </p:spPr>
        <p:txBody>
          <a:bodyPr wrap="none" lIns="0" tIns="0" rIns="0" bIns="0" anchor="t">
            <a:spAutoFit/>
          </a:bodyPr>
          <a:lstStyle/>
          <a:p>
            <a:pPr algn="l"/>
            <a:r>
              <a:rPr sz="1050" b="0" i="0">
                <a:solidFill>
                  <a:srgbClr val="000000"/>
                </a:solidFill>
                <a:latin typeface="Times New Roman"/>
              </a:rPr>
              <a:t>Final Review</a:t>
            </a:r>
          </a:p>
        </p:txBody>
      </p:sp>
      <p:sp>
        <p:nvSpPr>
          <p:cNvPr id="41" name="TextBox 40"/>
          <p:cNvSpPr txBox="1"/>
          <p:nvPr/>
        </p:nvSpPr>
        <p:spPr>
          <a:xfrm>
            <a:off x="5373849" y="7309656"/>
            <a:ext cx="1066800" cy="177889"/>
          </a:xfrm>
          <a:prstGeom prst="rect">
            <a:avLst/>
          </a:prstGeom>
          <a:noFill/>
        </p:spPr>
        <p:txBody>
          <a:bodyPr wrap="none" lIns="0" tIns="0" rIns="0" bIns="0" anchor="t">
            <a:spAutoFit/>
          </a:bodyPr>
          <a:lstStyle/>
          <a:p>
            <a:pPr algn="l"/>
            <a:r>
              <a:rPr sz="1050" b="0" i="0">
                <a:solidFill>
                  <a:srgbClr val="000000"/>
                </a:solidFill>
                <a:latin typeface="Times New Roman"/>
              </a:rPr>
              <a:t>________________</a:t>
            </a:r>
          </a:p>
        </p:txBody>
      </p:sp>
      <p:sp>
        <p:nvSpPr>
          <p:cNvPr id="42" name="TextBox 41"/>
          <p:cNvSpPr txBox="1"/>
          <p:nvPr/>
        </p:nvSpPr>
        <p:spPr>
          <a:xfrm>
            <a:off x="716280" y="7620303"/>
            <a:ext cx="5453126" cy="246253"/>
          </a:xfrm>
          <a:prstGeom prst="rect">
            <a:avLst/>
          </a:prstGeom>
          <a:noFill/>
        </p:spPr>
        <p:txBody>
          <a:bodyPr wrap="none" lIns="0" tIns="0" rIns="0" bIns="0" anchor="t">
            <a:spAutoFit/>
          </a:bodyPr>
          <a:lstStyle/>
          <a:p>
            <a:pPr algn="ctr"/>
            <a:r>
              <a:rPr sz="1400" b="1" i="0">
                <a:solidFill>
                  <a:srgbClr val="000000"/>
                </a:solidFill>
                <a:latin typeface="Times New Roman"/>
              </a:rPr>
              <a:t>GEO-TAGGED PHOTOS – PROJECT IMPLEMENTATION / DEMO</a:t>
            </a:r>
          </a:p>
        </p:txBody>
      </p:sp>
      <p:sp>
        <p:nvSpPr>
          <p:cNvPr id="43" name="TextBox 42"/>
          <p:cNvSpPr txBox="1"/>
          <p:nvPr/>
        </p:nvSpPr>
        <p:spPr>
          <a:xfrm>
            <a:off x="716280" y="789945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Paste the actual geo-tagged project photographs below and enter the metadata from the original</a:t>
            </a:r>
          </a:p>
        </p:txBody>
      </p:sp>
      <p:sp>
        <p:nvSpPr>
          <p:cNvPr id="44" name="TextBox 43"/>
          <p:cNvSpPr txBox="1"/>
          <p:nvPr/>
        </p:nvSpPr>
        <p:spPr>
          <a:xfrm>
            <a:off x="716280" y="807725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photographs. These photographs may document project implementation, demonstration, laboratory</a:t>
            </a:r>
          </a:p>
        </p:txBody>
      </p:sp>
      <p:sp>
        <p:nvSpPr>
          <p:cNvPr id="45" name="TextBox 44"/>
          <p:cNvSpPr txBox="1"/>
          <p:nvPr/>
        </p:nvSpPr>
        <p:spPr>
          <a:xfrm>
            <a:off x="716280" y="8255050"/>
            <a:ext cx="2971190" cy="203301"/>
          </a:xfrm>
          <a:prstGeom prst="rect">
            <a:avLst/>
          </a:prstGeom>
          <a:noFill/>
        </p:spPr>
        <p:txBody>
          <a:bodyPr wrap="none" lIns="0" tIns="0" rIns="0" bIns="0" anchor="t">
            <a:spAutoFit/>
          </a:bodyPr>
          <a:lstStyle/>
          <a:p>
            <a:pPr algn="l"/>
            <a:r>
              <a:rPr sz="1200" b="0" i="0">
                <a:solidFill>
                  <a:srgbClr val="000000"/>
                </a:solidFill>
                <a:latin typeface="Times New Roman"/>
              </a:rPr>
              <a:t>work, review activity, or guide-supervised work.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79034"/>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36</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355722" y="542746"/>
            <a:ext cx="4848555" cy="281432"/>
          </a:xfrm>
          <a:prstGeom prst="rect">
            <a:avLst/>
          </a:prstGeom>
          <a:noFill/>
        </p:spPr>
        <p:txBody>
          <a:bodyPr wrap="none" lIns="0" tIns="0" rIns="0" bIns="0" anchor="t">
            <a:spAutoFit/>
          </a:bodyPr>
          <a:lstStyle/>
          <a:p>
            <a:pPr algn="ctr"/>
            <a:r>
              <a:rPr sz="1600" b="1" i="0">
                <a:solidFill>
                  <a:srgbClr val="000000"/>
                </a:solidFill>
                <a:latin typeface="Times New Roman"/>
              </a:rPr>
              <a:t>APPENDIX G – DETAILED API DOCUMENTATION</a:t>
            </a:r>
          </a:p>
        </p:txBody>
      </p:sp>
      <p:sp>
        <p:nvSpPr>
          <p:cNvPr id="5" name="TextBox 4"/>
          <p:cNvSpPr txBox="1"/>
          <p:nvPr/>
        </p:nvSpPr>
        <p:spPr>
          <a:xfrm>
            <a:off x="716280" y="899464"/>
            <a:ext cx="1985492" cy="246252"/>
          </a:xfrm>
          <a:prstGeom prst="rect">
            <a:avLst/>
          </a:prstGeom>
          <a:noFill/>
        </p:spPr>
        <p:txBody>
          <a:bodyPr wrap="none" lIns="0" tIns="0" rIns="0" bIns="0" anchor="t">
            <a:spAutoFit/>
          </a:bodyPr>
          <a:lstStyle/>
          <a:p>
            <a:pPr algn="l"/>
            <a:r>
              <a:rPr sz="1400" b="1" i="0">
                <a:solidFill>
                  <a:srgbClr val="000000"/>
                </a:solidFill>
                <a:latin typeface="Times New Roman"/>
              </a:rPr>
              <a:t>G.1 API Design Principles</a:t>
            </a:r>
          </a:p>
        </p:txBody>
      </p:sp>
      <p:sp>
        <p:nvSpPr>
          <p:cNvPr id="6" name="TextBox 5"/>
          <p:cNvSpPr txBox="1"/>
          <p:nvPr/>
        </p:nvSpPr>
        <p:spPr>
          <a:xfrm>
            <a:off x="944880" y="11913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All backend communication is organized around RESTful resources. The API should use clear</a:t>
            </a:r>
          </a:p>
        </p:txBody>
      </p:sp>
      <p:sp>
        <p:nvSpPr>
          <p:cNvPr id="7" name="TextBox 6"/>
          <p:cNvSpPr txBox="1"/>
          <p:nvPr/>
        </p:nvSpPr>
        <p:spPr>
          <a:xfrm>
            <a:off x="716280" y="136911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resource names, predictable HTTP methods, structured JSON responses, and meaningful status</a:t>
            </a:r>
          </a:p>
        </p:txBody>
      </p:sp>
      <p:sp>
        <p:nvSpPr>
          <p:cNvPr id="8" name="TextBox 7"/>
          <p:cNvSpPr txBox="1"/>
          <p:nvPr/>
        </p:nvSpPr>
        <p:spPr>
          <a:xfrm>
            <a:off x="716280" y="1546910"/>
            <a:ext cx="5760415" cy="203301"/>
          </a:xfrm>
          <a:prstGeom prst="rect">
            <a:avLst/>
          </a:prstGeom>
          <a:noFill/>
        </p:spPr>
        <p:txBody>
          <a:bodyPr wrap="none" lIns="0" tIns="0" rIns="0" bIns="0" anchor="t">
            <a:spAutoFit/>
          </a:bodyPr>
          <a:lstStyle/>
          <a:p>
            <a:pPr algn="ctr"/>
            <a:r>
              <a:rPr sz="1200" b="0" i="0">
                <a:solidFill>
                  <a:srgbClr val="000000"/>
                </a:solidFill>
                <a:latin typeface="Times New Roman"/>
              </a:rPr>
              <a:t>codes. The purpose of this design is to keep the backend independent from the client interface.</a:t>
            </a:r>
          </a:p>
        </p:txBody>
      </p:sp>
      <p:sp>
        <p:nvSpPr>
          <p:cNvPr id="9" name="TextBox 8"/>
          <p:cNvSpPr txBox="1"/>
          <p:nvPr/>
        </p:nvSpPr>
        <p:spPr>
          <a:xfrm>
            <a:off x="944880" y="18009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 consistent API also makes testing easier. A tester can create a resource, retrieve it, modify it,</a:t>
            </a:r>
          </a:p>
        </p:txBody>
      </p:sp>
      <p:sp>
        <p:nvSpPr>
          <p:cNvPr id="10" name="TextBox 9"/>
          <p:cNvSpPr txBox="1"/>
          <p:nvPr/>
        </p:nvSpPr>
        <p:spPr>
          <a:xfrm>
            <a:off x="716280" y="197871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and verify the final state using the same endpoint conventions. This consistency becomes especially</a:t>
            </a:r>
          </a:p>
        </p:txBody>
      </p:sp>
      <p:sp>
        <p:nvSpPr>
          <p:cNvPr id="11" name="TextBox 10"/>
          <p:cNvSpPr txBox="1"/>
          <p:nvPr/>
        </p:nvSpPr>
        <p:spPr>
          <a:xfrm>
            <a:off x="716280" y="2156510"/>
            <a:ext cx="4147566" cy="203301"/>
          </a:xfrm>
          <a:prstGeom prst="rect">
            <a:avLst/>
          </a:prstGeom>
          <a:noFill/>
        </p:spPr>
        <p:txBody>
          <a:bodyPr wrap="none" lIns="0" tIns="0" rIns="0" bIns="0" anchor="t">
            <a:spAutoFit/>
          </a:bodyPr>
          <a:lstStyle/>
          <a:p>
            <a:pPr algn="l"/>
            <a:r>
              <a:rPr sz="1200" b="0" i="0">
                <a:solidFill>
                  <a:srgbClr val="000000"/>
                </a:solidFill>
                <a:latin typeface="Times New Roman"/>
              </a:rPr>
              <a:t>valuable when a frontend is developed separately from the backend.</a:t>
            </a:r>
          </a:p>
        </p:txBody>
      </p:sp>
      <p:sp>
        <p:nvSpPr>
          <p:cNvPr id="12" name="TextBox 11"/>
          <p:cNvSpPr txBox="1"/>
          <p:nvPr/>
        </p:nvSpPr>
        <p:spPr>
          <a:xfrm>
            <a:off x="685800" y="2588411"/>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API Design Summary</a:t>
            </a:r>
          </a:p>
          <a:p>
            <a:pPr algn="l">
              <a:lnSpc>
                <a:spcPct val="100000"/>
              </a:lnSpc>
              <a:spcBef>
                <a:spcPts val="0"/>
              </a:spcBef>
              <a:spcAft>
                <a:spcPts val="200"/>
              </a:spcAft>
            </a:pPr>
            <a:r>
              <a:rPr sz="1050" b="0">
                <a:solidFill>
                  <a:srgbClr val="000000"/>
                </a:solidFill>
                <a:latin typeface="Times New Roman"/>
              </a:rPr>
              <a:t>The API is the main communication boundary between the client and the backend. Each resource should have a predictable endpoint, an appropriate HTTP method, validated input, and a structured response. Keeping the API contract consistent makes the system easier to test in Postman and easier for a future frontend to consume.</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Authentication and authorization can be applied to protected operations before business logic is executed. Error handling should distinguish validation errors, missing resources, unauthorized requests, and internal server failures. This approach makes API behavior easier to understand, debug, and maintain.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79034"/>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37</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998289" y="542746"/>
            <a:ext cx="1563420" cy="281432"/>
          </a:xfrm>
          <a:prstGeom prst="rect">
            <a:avLst/>
          </a:prstGeom>
          <a:noFill/>
        </p:spPr>
        <p:txBody>
          <a:bodyPr wrap="none" lIns="0" tIns="0" rIns="0" bIns="0" anchor="t">
            <a:spAutoFit/>
          </a:bodyPr>
          <a:lstStyle/>
          <a:p>
            <a:pPr algn="ctr"/>
            <a:r>
              <a:rPr sz="1600" b="1" i="0">
                <a:solidFill>
                  <a:srgbClr val="000000"/>
                </a:solidFill>
                <a:latin typeface="Times New Roman"/>
              </a:rPr>
              <a:t>G.2 Medicine API</a:t>
            </a:r>
          </a:p>
        </p:txBody>
      </p:sp>
      <p:sp>
        <p:nvSpPr>
          <p:cNvPr id="5" name="TextBox 4"/>
          <p:cNvSpPr txBox="1"/>
          <p:nvPr/>
        </p:nvSpPr>
        <p:spPr>
          <a:xfrm>
            <a:off x="944880" y="8992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Medicine operations form the core master-data interface. A create operation accepts the required</a:t>
            </a:r>
          </a:p>
        </p:txBody>
      </p:sp>
      <p:sp>
        <p:nvSpPr>
          <p:cNvPr id="6" name="TextBox 5"/>
          <p:cNvSpPr txBox="1"/>
          <p:nvPr/>
        </p:nvSpPr>
        <p:spPr>
          <a:xfrm>
            <a:off x="716280" y="107701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medicine information and stores it in MongoDB. A read operation retrieves one or more medicines,</a:t>
            </a:r>
          </a:p>
        </p:txBody>
      </p:sp>
      <p:sp>
        <p:nvSpPr>
          <p:cNvPr id="7" name="TextBox 6"/>
          <p:cNvSpPr txBox="1"/>
          <p:nvPr/>
        </p:nvSpPr>
        <p:spPr>
          <a:xfrm>
            <a:off x="716280" y="125481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while update operations modify permitted fields. Delete operations should be restricted to authorized</a:t>
            </a:r>
          </a:p>
        </p:txBody>
      </p:sp>
      <p:sp>
        <p:nvSpPr>
          <p:cNvPr id="8" name="TextBox 7"/>
          <p:cNvSpPr txBox="1"/>
          <p:nvPr/>
        </p:nvSpPr>
        <p:spPr>
          <a:xfrm>
            <a:off x="716280" y="1432610"/>
            <a:ext cx="3481273" cy="203301"/>
          </a:xfrm>
          <a:prstGeom prst="rect">
            <a:avLst/>
          </a:prstGeom>
          <a:noFill/>
        </p:spPr>
        <p:txBody>
          <a:bodyPr wrap="none" lIns="0" tIns="0" rIns="0" bIns="0" anchor="t">
            <a:spAutoFit/>
          </a:bodyPr>
          <a:lstStyle/>
          <a:p>
            <a:pPr algn="l"/>
            <a:r>
              <a:rPr sz="1200" b="0" i="0">
                <a:solidFill>
                  <a:srgbClr val="000000"/>
                </a:solidFill>
                <a:latin typeface="Times New Roman"/>
              </a:rPr>
              <a:t>users and should follow the project's data-retention rules.</a:t>
            </a:r>
          </a:p>
        </p:txBody>
      </p:sp>
      <p:sp>
        <p:nvSpPr>
          <p:cNvPr id="9" name="TextBox 8"/>
          <p:cNvSpPr txBox="1"/>
          <p:nvPr/>
        </p:nvSpPr>
        <p:spPr>
          <a:xfrm>
            <a:off x="944880" y="16866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Validation should confirm required fields, acceptable quantity values, and identifier formats.</a:t>
            </a:r>
          </a:p>
        </p:txBody>
      </p:sp>
      <p:sp>
        <p:nvSpPr>
          <p:cNvPr id="10" name="TextBox 9"/>
          <p:cNvSpPr txBox="1"/>
          <p:nvPr/>
        </p:nvSpPr>
        <p:spPr>
          <a:xfrm>
            <a:off x="716280" y="1864410"/>
            <a:ext cx="5806593" cy="203301"/>
          </a:xfrm>
          <a:prstGeom prst="rect">
            <a:avLst/>
          </a:prstGeom>
          <a:noFill/>
        </p:spPr>
        <p:txBody>
          <a:bodyPr wrap="none" lIns="0" tIns="0" rIns="0" bIns="0" anchor="t">
            <a:spAutoFit/>
          </a:bodyPr>
          <a:lstStyle/>
          <a:p>
            <a:pPr algn="ctr"/>
            <a:r>
              <a:rPr sz="1200" b="0" i="0">
                <a:solidFill>
                  <a:srgbClr val="000000"/>
                </a:solidFill>
                <a:latin typeface="Times New Roman"/>
              </a:rPr>
              <a:t>The response should clearly communicate whether the requested operation succeeded or failed.</a:t>
            </a:r>
          </a:p>
        </p:txBody>
      </p:sp>
      <p:sp>
        <p:nvSpPr>
          <p:cNvPr id="11" name="TextBox 10"/>
          <p:cNvSpPr txBox="1"/>
          <p:nvPr/>
        </p:nvSpPr>
        <p:spPr>
          <a:xfrm>
            <a:off x="1049246" y="22448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2" name="TextBox 11"/>
          <p:cNvSpPr txBox="1"/>
          <p:nvPr/>
        </p:nvSpPr>
        <p:spPr>
          <a:xfrm>
            <a:off x="3397730" y="22448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3" name="TextBox 12"/>
          <p:cNvSpPr txBox="1"/>
          <p:nvPr/>
        </p:nvSpPr>
        <p:spPr>
          <a:xfrm>
            <a:off x="5544728" y="22448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4" name="TextBox 13"/>
          <p:cNvSpPr txBox="1"/>
          <p:nvPr/>
        </p:nvSpPr>
        <p:spPr>
          <a:xfrm>
            <a:off x="744700" y="24850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5" name="TextBox 14"/>
          <p:cNvSpPr txBox="1"/>
          <p:nvPr/>
        </p:nvSpPr>
        <p:spPr>
          <a:xfrm>
            <a:off x="2573500" y="24850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6" name="TextBox 15"/>
          <p:cNvSpPr txBox="1"/>
          <p:nvPr/>
        </p:nvSpPr>
        <p:spPr>
          <a:xfrm>
            <a:off x="4768059" y="24850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7" name="TextBox 16"/>
          <p:cNvSpPr txBox="1"/>
          <p:nvPr/>
        </p:nvSpPr>
        <p:spPr>
          <a:xfrm>
            <a:off x="744700" y="27263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8" name="TextBox 17"/>
          <p:cNvSpPr txBox="1"/>
          <p:nvPr/>
        </p:nvSpPr>
        <p:spPr>
          <a:xfrm>
            <a:off x="2573500" y="27263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19" name="TextBox 18"/>
          <p:cNvSpPr txBox="1"/>
          <p:nvPr/>
        </p:nvSpPr>
        <p:spPr>
          <a:xfrm>
            <a:off x="4768059" y="27263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20" name="TextBox 19"/>
          <p:cNvSpPr txBox="1"/>
          <p:nvPr/>
        </p:nvSpPr>
        <p:spPr>
          <a:xfrm>
            <a:off x="744700" y="29676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21" name="TextBox 20"/>
          <p:cNvSpPr txBox="1"/>
          <p:nvPr/>
        </p:nvSpPr>
        <p:spPr>
          <a:xfrm>
            <a:off x="2573500" y="29676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2" name="TextBox 21"/>
          <p:cNvSpPr txBox="1"/>
          <p:nvPr/>
        </p:nvSpPr>
        <p:spPr>
          <a:xfrm>
            <a:off x="4768059" y="29676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79034"/>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38</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3026331" y="542746"/>
            <a:ext cx="1507337" cy="281432"/>
          </a:xfrm>
          <a:prstGeom prst="rect">
            <a:avLst/>
          </a:prstGeom>
          <a:noFill/>
        </p:spPr>
        <p:txBody>
          <a:bodyPr wrap="none" lIns="0" tIns="0" rIns="0" bIns="0" anchor="t">
            <a:spAutoFit/>
          </a:bodyPr>
          <a:lstStyle/>
          <a:p>
            <a:pPr algn="ctr"/>
            <a:r>
              <a:rPr sz="1600" b="1" i="0">
                <a:solidFill>
                  <a:srgbClr val="000000"/>
                </a:solidFill>
                <a:latin typeface="Times New Roman"/>
              </a:rPr>
              <a:t>G.3 Supplier API</a:t>
            </a:r>
          </a:p>
        </p:txBody>
      </p:sp>
      <p:sp>
        <p:nvSpPr>
          <p:cNvPr id="5" name="TextBox 4"/>
          <p:cNvSpPr txBox="1"/>
          <p:nvPr/>
        </p:nvSpPr>
        <p:spPr>
          <a:xfrm>
            <a:off x="944880" y="8992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Supplier APIs maintain the information required to identify the source of pharmaceutical stock.</a:t>
            </a:r>
          </a:p>
        </p:txBody>
      </p:sp>
      <p:sp>
        <p:nvSpPr>
          <p:cNvPr id="6" name="TextBox 5"/>
          <p:cNvSpPr txBox="1"/>
          <p:nvPr/>
        </p:nvSpPr>
        <p:spPr>
          <a:xfrm>
            <a:off x="716280" y="10770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Supplier records can contain identifiers, names, contact information, and other fields required by the</a:t>
            </a:r>
          </a:p>
        </p:txBody>
      </p:sp>
      <p:sp>
        <p:nvSpPr>
          <p:cNvPr id="7" name="TextBox 6"/>
          <p:cNvSpPr txBox="1"/>
          <p:nvPr/>
        </p:nvSpPr>
        <p:spPr>
          <a:xfrm>
            <a:off x="716280" y="1254810"/>
            <a:ext cx="1312316" cy="203301"/>
          </a:xfrm>
          <a:prstGeom prst="rect">
            <a:avLst/>
          </a:prstGeom>
          <a:noFill/>
        </p:spPr>
        <p:txBody>
          <a:bodyPr wrap="none" lIns="0" tIns="0" rIns="0" bIns="0" anchor="t">
            <a:spAutoFit/>
          </a:bodyPr>
          <a:lstStyle/>
          <a:p>
            <a:pPr algn="l"/>
            <a:r>
              <a:rPr sz="1200" b="0" i="0">
                <a:solidFill>
                  <a:srgbClr val="000000"/>
                </a:solidFill>
                <a:latin typeface="Times New Roman"/>
              </a:rPr>
              <a:t>final implementation.</a:t>
            </a:r>
          </a:p>
        </p:txBody>
      </p:sp>
      <p:sp>
        <p:nvSpPr>
          <p:cNvPr id="8" name="TextBox 7"/>
          <p:cNvSpPr txBox="1"/>
          <p:nvPr/>
        </p:nvSpPr>
        <p:spPr>
          <a:xfrm>
            <a:off x="944880" y="15088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Supplier data is particularly useful when purchase records need to be traced back to their source.</a:t>
            </a:r>
          </a:p>
        </p:txBody>
      </p:sp>
      <p:sp>
        <p:nvSpPr>
          <p:cNvPr id="9" name="TextBox 8"/>
          <p:cNvSpPr txBox="1"/>
          <p:nvPr/>
        </p:nvSpPr>
        <p:spPr>
          <a:xfrm>
            <a:off x="716280" y="16866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The API should therefore preserve stable identifiers for relationships between supplier and purchase</a:t>
            </a:r>
          </a:p>
        </p:txBody>
      </p:sp>
      <p:sp>
        <p:nvSpPr>
          <p:cNvPr id="10" name="TextBox 9"/>
          <p:cNvSpPr txBox="1"/>
          <p:nvPr/>
        </p:nvSpPr>
        <p:spPr>
          <a:xfrm>
            <a:off x="716280" y="1864410"/>
            <a:ext cx="757732" cy="203301"/>
          </a:xfrm>
          <a:prstGeom prst="rect">
            <a:avLst/>
          </a:prstGeom>
          <a:noFill/>
        </p:spPr>
        <p:txBody>
          <a:bodyPr wrap="none" lIns="0" tIns="0" rIns="0" bIns="0" anchor="t">
            <a:spAutoFit/>
          </a:bodyPr>
          <a:lstStyle/>
          <a:p>
            <a:pPr algn="l"/>
            <a:r>
              <a:rPr sz="1200" b="0" i="0">
                <a:solidFill>
                  <a:srgbClr val="000000"/>
                </a:solidFill>
                <a:latin typeface="Times New Roman"/>
              </a:rPr>
              <a:t>information.</a:t>
            </a:r>
          </a:p>
        </p:txBody>
      </p:sp>
      <p:sp>
        <p:nvSpPr>
          <p:cNvPr id="11" name="TextBox 10"/>
          <p:cNvSpPr txBox="1"/>
          <p:nvPr/>
        </p:nvSpPr>
        <p:spPr>
          <a:xfrm>
            <a:off x="685800" y="2296311"/>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Supplier API – Additional Details</a:t>
            </a:r>
          </a:p>
          <a:p>
            <a:pPr algn="l">
              <a:lnSpc>
                <a:spcPct val="100000"/>
              </a:lnSpc>
              <a:spcBef>
                <a:spcPts val="0"/>
              </a:spcBef>
              <a:spcAft>
                <a:spcPts val="200"/>
              </a:spcAft>
            </a:pPr>
            <a:r>
              <a:rPr sz="1050" b="0">
                <a:solidFill>
                  <a:srgbClr val="000000"/>
                </a:solidFill>
                <a:latin typeface="Times New Roman"/>
              </a:rPr>
              <a:t>Supplier records support procurement and traceability. A supplier operation should validate required fields such as the supplier identifier, name, and contact information before storing the document. Retrieval operations should return the information needed to associate incoming stock with its source.</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When supplier information is updated, the API should preserve the identifier used by related purchase records. Delete operations should be controlled carefully when historical transactions depend on a supplier record. Consistent status codes and structured JSON responses help API clients determine whether the requested supplier operation succeeded.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79034"/>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39</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3144999" y="542746"/>
            <a:ext cx="1270000" cy="281432"/>
          </a:xfrm>
          <a:prstGeom prst="rect">
            <a:avLst/>
          </a:prstGeom>
          <a:noFill/>
        </p:spPr>
        <p:txBody>
          <a:bodyPr wrap="none" lIns="0" tIns="0" rIns="0" bIns="0" anchor="t">
            <a:spAutoFit/>
          </a:bodyPr>
          <a:lstStyle/>
          <a:p>
            <a:pPr algn="ctr"/>
            <a:r>
              <a:rPr sz="1600" b="1" i="0">
                <a:solidFill>
                  <a:srgbClr val="000000"/>
                </a:solidFill>
                <a:latin typeface="Times New Roman"/>
              </a:rPr>
              <a:t>G.4 Batch API</a:t>
            </a:r>
          </a:p>
        </p:txBody>
      </p:sp>
      <p:sp>
        <p:nvSpPr>
          <p:cNvPr id="5" name="TextBox 4"/>
          <p:cNvSpPr txBox="1"/>
          <p:nvPr/>
        </p:nvSpPr>
        <p:spPr>
          <a:xfrm>
            <a:off x="944880" y="8992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Batch management provides traceability beyond the medicine-level record. A batch can be</a:t>
            </a:r>
          </a:p>
        </p:txBody>
      </p:sp>
      <p:sp>
        <p:nvSpPr>
          <p:cNvPr id="6" name="TextBox 5"/>
          <p:cNvSpPr txBox="1"/>
          <p:nvPr/>
        </p:nvSpPr>
        <p:spPr>
          <a:xfrm>
            <a:off x="716280" y="1077010"/>
            <a:ext cx="5921045" cy="203301"/>
          </a:xfrm>
          <a:prstGeom prst="rect">
            <a:avLst/>
          </a:prstGeom>
          <a:noFill/>
        </p:spPr>
        <p:txBody>
          <a:bodyPr wrap="none" lIns="0" tIns="0" rIns="0" bIns="0" anchor="t">
            <a:spAutoFit/>
          </a:bodyPr>
          <a:lstStyle/>
          <a:p>
            <a:pPr algn="ctr"/>
            <a:r>
              <a:rPr sz="1200" b="0" i="0">
                <a:solidFill>
                  <a:srgbClr val="000000"/>
                </a:solidFill>
                <a:latin typeface="Times New Roman"/>
              </a:rPr>
              <a:t>associated with a medicine and can contain a batch number, manufacturing date, and expiry date.</a:t>
            </a:r>
          </a:p>
        </p:txBody>
      </p:sp>
      <p:sp>
        <p:nvSpPr>
          <p:cNvPr id="7" name="TextBox 6"/>
          <p:cNvSpPr txBox="1"/>
          <p:nvPr/>
        </p:nvSpPr>
        <p:spPr>
          <a:xfrm>
            <a:off x="944880" y="13310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Expiry monitoring depends on the consistency of these date fields. The backend should store and</a:t>
            </a:r>
          </a:p>
        </p:txBody>
      </p:sp>
      <p:sp>
        <p:nvSpPr>
          <p:cNvPr id="8" name="TextBox 7"/>
          <p:cNvSpPr txBox="1"/>
          <p:nvPr/>
        </p:nvSpPr>
        <p:spPr>
          <a:xfrm>
            <a:off x="716280" y="15088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compare dates in a consistent manner and should reject malformed values before they enter the</a:t>
            </a:r>
          </a:p>
        </p:txBody>
      </p:sp>
      <p:sp>
        <p:nvSpPr>
          <p:cNvPr id="9" name="TextBox 8"/>
          <p:cNvSpPr txBox="1"/>
          <p:nvPr/>
        </p:nvSpPr>
        <p:spPr>
          <a:xfrm>
            <a:off x="716280" y="1686610"/>
            <a:ext cx="562813" cy="203301"/>
          </a:xfrm>
          <a:prstGeom prst="rect">
            <a:avLst/>
          </a:prstGeom>
          <a:noFill/>
        </p:spPr>
        <p:txBody>
          <a:bodyPr wrap="none" lIns="0" tIns="0" rIns="0" bIns="0" anchor="t">
            <a:spAutoFit/>
          </a:bodyPr>
          <a:lstStyle/>
          <a:p>
            <a:pPr algn="l"/>
            <a:r>
              <a:rPr sz="1200" b="0" i="0">
                <a:solidFill>
                  <a:srgbClr val="000000"/>
                </a:solidFill>
                <a:latin typeface="Times New Roman"/>
              </a:rPr>
              <a:t>database.</a:t>
            </a:r>
          </a:p>
        </p:txBody>
      </p:sp>
      <p:sp>
        <p:nvSpPr>
          <p:cNvPr id="10" name="TextBox 9"/>
          <p:cNvSpPr txBox="1"/>
          <p:nvPr/>
        </p:nvSpPr>
        <p:spPr>
          <a:xfrm>
            <a:off x="1049246" y="20670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1" name="TextBox 10"/>
          <p:cNvSpPr txBox="1"/>
          <p:nvPr/>
        </p:nvSpPr>
        <p:spPr>
          <a:xfrm>
            <a:off x="3397730" y="20670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2" name="TextBox 11"/>
          <p:cNvSpPr txBox="1"/>
          <p:nvPr/>
        </p:nvSpPr>
        <p:spPr>
          <a:xfrm>
            <a:off x="5544728" y="20670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3" name="TextBox 12"/>
          <p:cNvSpPr txBox="1"/>
          <p:nvPr/>
        </p:nvSpPr>
        <p:spPr>
          <a:xfrm>
            <a:off x="744700" y="23072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4" name="TextBox 13"/>
          <p:cNvSpPr txBox="1"/>
          <p:nvPr/>
        </p:nvSpPr>
        <p:spPr>
          <a:xfrm>
            <a:off x="2573500" y="23072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5" name="TextBox 14"/>
          <p:cNvSpPr txBox="1"/>
          <p:nvPr/>
        </p:nvSpPr>
        <p:spPr>
          <a:xfrm>
            <a:off x="4768059" y="23072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6" name="TextBox 15"/>
          <p:cNvSpPr txBox="1"/>
          <p:nvPr/>
        </p:nvSpPr>
        <p:spPr>
          <a:xfrm>
            <a:off x="744700" y="25485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7" name="TextBox 16"/>
          <p:cNvSpPr txBox="1"/>
          <p:nvPr/>
        </p:nvSpPr>
        <p:spPr>
          <a:xfrm>
            <a:off x="2573500" y="25485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18" name="TextBox 17"/>
          <p:cNvSpPr txBox="1"/>
          <p:nvPr/>
        </p:nvSpPr>
        <p:spPr>
          <a:xfrm>
            <a:off x="4768059" y="25485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19" name="TextBox 18"/>
          <p:cNvSpPr txBox="1"/>
          <p:nvPr/>
        </p:nvSpPr>
        <p:spPr>
          <a:xfrm>
            <a:off x="744700" y="27898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20" name="TextBox 19"/>
          <p:cNvSpPr txBox="1"/>
          <p:nvPr/>
        </p:nvSpPr>
        <p:spPr>
          <a:xfrm>
            <a:off x="2573500" y="27898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1" name="TextBox 20"/>
          <p:cNvSpPr txBox="1"/>
          <p:nvPr/>
        </p:nvSpPr>
        <p:spPr>
          <a:xfrm>
            <a:off x="4768059" y="27898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
        <p:nvSpPr>
          <p:cNvPr id="22" name="TextBox 21"/>
          <p:cNvSpPr txBox="1"/>
          <p:nvPr/>
        </p:nvSpPr>
        <p:spPr>
          <a:xfrm>
            <a:off x="685800" y="3187825"/>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Batch API – Additional Details</a:t>
            </a:r>
          </a:p>
          <a:p>
            <a:pPr algn="l">
              <a:lnSpc>
                <a:spcPct val="100000"/>
              </a:lnSpc>
              <a:spcBef>
                <a:spcPts val="0"/>
              </a:spcBef>
              <a:spcAft>
                <a:spcPts val="200"/>
              </a:spcAft>
            </a:pPr>
            <a:r>
              <a:rPr sz="1050" b="0">
                <a:solidFill>
                  <a:srgbClr val="000000"/>
                </a:solidFill>
                <a:latin typeface="Times New Roman"/>
              </a:rPr>
              <a:t>Batch information is important because the same medicine can exist in multiple batches with different manufacturing and expiry dates. The batch API should therefore preserve a clear medicine reference, batch number, manufacturing date, and expiry date.</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Batch retrieval can support stock traceability and expiry monitoring. Validation should reject incomplete date information or invalid relationships with medicine records. When batch information is displayed to authorized staff, the API should make it clear which medicine and quantity are associated with each batch.</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79034"/>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40</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563543" y="542746"/>
            <a:ext cx="2432913" cy="281432"/>
          </a:xfrm>
          <a:prstGeom prst="rect">
            <a:avLst/>
          </a:prstGeom>
          <a:noFill/>
        </p:spPr>
        <p:txBody>
          <a:bodyPr wrap="none" lIns="0" tIns="0" rIns="0" bIns="0" anchor="t">
            <a:spAutoFit/>
          </a:bodyPr>
          <a:lstStyle/>
          <a:p>
            <a:pPr algn="ctr"/>
            <a:r>
              <a:rPr sz="1600" b="1" i="0">
                <a:solidFill>
                  <a:srgbClr val="000000"/>
                </a:solidFill>
                <a:latin typeface="Times New Roman"/>
              </a:rPr>
              <a:t>G.5 Purchase and Sales API</a:t>
            </a:r>
          </a:p>
        </p:txBody>
      </p:sp>
      <p:sp>
        <p:nvSpPr>
          <p:cNvPr id="5" name="TextBox 4"/>
          <p:cNvSpPr txBox="1"/>
          <p:nvPr/>
        </p:nvSpPr>
        <p:spPr>
          <a:xfrm>
            <a:off x="944880" y="8992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Purchase and sales APIs represent the movement of inventory. A purchase adds stock, while a</a:t>
            </a:r>
          </a:p>
        </p:txBody>
      </p:sp>
      <p:sp>
        <p:nvSpPr>
          <p:cNvPr id="6" name="TextBox 5"/>
          <p:cNvSpPr txBox="1"/>
          <p:nvPr/>
        </p:nvSpPr>
        <p:spPr>
          <a:xfrm>
            <a:off x="716280" y="10770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sale reduces stock according to the implemented business rules. The backend should validate the</a:t>
            </a:r>
          </a:p>
        </p:txBody>
      </p:sp>
      <p:sp>
        <p:nvSpPr>
          <p:cNvPr id="7" name="TextBox 6"/>
          <p:cNvSpPr txBox="1"/>
          <p:nvPr/>
        </p:nvSpPr>
        <p:spPr>
          <a:xfrm>
            <a:off x="716280" y="1254810"/>
            <a:ext cx="5307330" cy="203301"/>
          </a:xfrm>
          <a:prstGeom prst="rect">
            <a:avLst/>
          </a:prstGeom>
          <a:noFill/>
        </p:spPr>
        <p:txBody>
          <a:bodyPr wrap="none" lIns="0" tIns="0" rIns="0" bIns="0" anchor="t">
            <a:spAutoFit/>
          </a:bodyPr>
          <a:lstStyle/>
          <a:p>
            <a:pPr algn="l"/>
            <a:r>
              <a:rPr sz="1200" b="0" i="0">
                <a:solidFill>
                  <a:srgbClr val="000000"/>
                </a:solidFill>
                <a:latin typeface="Times New Roman"/>
              </a:rPr>
              <a:t>medicine or batch reference and the transaction quantity before updating the inventory.</a:t>
            </a:r>
          </a:p>
        </p:txBody>
      </p:sp>
      <p:sp>
        <p:nvSpPr>
          <p:cNvPr id="8" name="TextBox 7"/>
          <p:cNvSpPr txBox="1"/>
          <p:nvPr/>
        </p:nvSpPr>
        <p:spPr>
          <a:xfrm>
            <a:off x="944880" y="15088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Because these operations affect stock, they should be tested carefully for insufficient quantities,</a:t>
            </a:r>
          </a:p>
        </p:txBody>
      </p:sp>
      <p:sp>
        <p:nvSpPr>
          <p:cNvPr id="9" name="TextBox 8"/>
          <p:cNvSpPr txBox="1"/>
          <p:nvPr/>
        </p:nvSpPr>
        <p:spPr>
          <a:xfrm>
            <a:off x="716280" y="1686610"/>
            <a:ext cx="3890010" cy="203301"/>
          </a:xfrm>
          <a:prstGeom prst="rect">
            <a:avLst/>
          </a:prstGeom>
          <a:noFill/>
        </p:spPr>
        <p:txBody>
          <a:bodyPr wrap="none" lIns="0" tIns="0" rIns="0" bIns="0" anchor="t">
            <a:spAutoFit/>
          </a:bodyPr>
          <a:lstStyle/>
          <a:p>
            <a:pPr algn="l"/>
            <a:r>
              <a:rPr sz="1200" b="0" i="0">
                <a:solidFill>
                  <a:srgbClr val="000000"/>
                </a:solidFill>
                <a:latin typeface="Times New Roman"/>
              </a:rPr>
              <a:t>invalid identifiers, duplicate submissions, and database failures.</a:t>
            </a:r>
          </a:p>
        </p:txBody>
      </p:sp>
      <p:sp>
        <p:nvSpPr>
          <p:cNvPr id="10" name="TextBox 9"/>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Purchase and Sales API – Additional Details</a:t>
            </a:r>
          </a:p>
          <a:p>
            <a:pPr algn="l">
              <a:lnSpc>
                <a:spcPct val="100000"/>
              </a:lnSpc>
              <a:spcBef>
                <a:spcPts val="0"/>
              </a:spcBef>
              <a:spcAft>
                <a:spcPts val="200"/>
              </a:spcAft>
            </a:pPr>
            <a:r>
              <a:rPr sz="1050" b="0">
                <a:solidFill>
                  <a:srgbClr val="000000"/>
                </a:solidFill>
                <a:latin typeface="Times New Roman"/>
              </a:rPr>
              <a:t>Purchase and sales operations represent the movement of pharmaceutical stock. A purchase normally creates a transaction and increases the relevant available quantity, while a sale creates a transaction and reduces stock after sufficient quantity has been confirmed.</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These operations should be treated as controlled business transactions. Validation, authorization, and consistent database updates are important because an error in one operation can make the stock balance inconsistent with the transaction history. Postman can be used to verify both the response and the resulting database state.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79034"/>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41</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533522" y="542746"/>
            <a:ext cx="4492955" cy="281432"/>
          </a:xfrm>
          <a:prstGeom prst="rect">
            <a:avLst/>
          </a:prstGeom>
          <a:noFill/>
        </p:spPr>
        <p:txBody>
          <a:bodyPr wrap="none" lIns="0" tIns="0" rIns="0" bIns="0" anchor="t">
            <a:spAutoFit/>
          </a:bodyPr>
          <a:lstStyle/>
          <a:p>
            <a:pPr algn="ctr"/>
            <a:r>
              <a:rPr sz="1600" b="1" i="0">
                <a:solidFill>
                  <a:srgbClr val="000000"/>
                </a:solidFill>
                <a:latin typeface="Times New Roman"/>
              </a:rPr>
              <a:t>APPENDIX H – DATABASE DOCUMENTATION</a:t>
            </a:r>
          </a:p>
        </p:txBody>
      </p:sp>
      <p:sp>
        <p:nvSpPr>
          <p:cNvPr id="5" name="TextBox 4"/>
          <p:cNvSpPr txBox="1"/>
          <p:nvPr/>
        </p:nvSpPr>
        <p:spPr>
          <a:xfrm>
            <a:off x="716280" y="899464"/>
            <a:ext cx="1901393" cy="246252"/>
          </a:xfrm>
          <a:prstGeom prst="rect">
            <a:avLst/>
          </a:prstGeom>
          <a:noFill/>
        </p:spPr>
        <p:txBody>
          <a:bodyPr wrap="none" lIns="0" tIns="0" rIns="0" bIns="0" anchor="t">
            <a:spAutoFit/>
          </a:bodyPr>
          <a:lstStyle/>
          <a:p>
            <a:pPr algn="l"/>
            <a:r>
              <a:rPr sz="1400" b="1" i="0">
                <a:solidFill>
                  <a:srgbClr val="000000"/>
                </a:solidFill>
                <a:latin typeface="Times New Roman"/>
              </a:rPr>
              <a:t>H.1 Database Collections</a:t>
            </a:r>
          </a:p>
        </p:txBody>
      </p:sp>
      <p:sp>
        <p:nvSpPr>
          <p:cNvPr id="6" name="TextBox 5"/>
          <p:cNvSpPr txBox="1"/>
          <p:nvPr/>
        </p:nvSpPr>
        <p:spPr>
          <a:xfrm>
            <a:off x="944880" y="11913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database can be organized into collections for medicines, suppliers, batches, purchases,</a:t>
            </a:r>
          </a:p>
        </p:txBody>
      </p:sp>
      <p:sp>
        <p:nvSpPr>
          <p:cNvPr id="7" name="TextBox 6"/>
          <p:cNvSpPr txBox="1"/>
          <p:nvPr/>
        </p:nvSpPr>
        <p:spPr>
          <a:xfrm>
            <a:off x="716280" y="136911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sales, stock, and users or authorized staff. The final implementation may use slightly different</a:t>
            </a:r>
          </a:p>
        </p:txBody>
      </p:sp>
      <p:sp>
        <p:nvSpPr>
          <p:cNvPr id="8" name="TextBox 7"/>
          <p:cNvSpPr txBox="1"/>
          <p:nvPr/>
        </p:nvSpPr>
        <p:spPr>
          <a:xfrm>
            <a:off x="716280" y="1546910"/>
            <a:ext cx="5176723" cy="203301"/>
          </a:xfrm>
          <a:prstGeom prst="rect">
            <a:avLst/>
          </a:prstGeom>
          <a:noFill/>
        </p:spPr>
        <p:txBody>
          <a:bodyPr wrap="none" lIns="0" tIns="0" rIns="0" bIns="0" anchor="t">
            <a:spAutoFit/>
          </a:bodyPr>
          <a:lstStyle/>
          <a:p>
            <a:pPr algn="l"/>
            <a:r>
              <a:rPr sz="1200" b="0" i="0">
                <a:solidFill>
                  <a:srgbClr val="000000"/>
                </a:solidFill>
                <a:latin typeface="Times New Roman"/>
              </a:rPr>
              <a:t>collection names, but the conceptual separation helps maintain clean responsibilities.</a:t>
            </a:r>
          </a:p>
        </p:txBody>
      </p:sp>
      <p:sp>
        <p:nvSpPr>
          <p:cNvPr id="9" name="TextBox 8"/>
          <p:cNvSpPr txBox="1"/>
          <p:nvPr/>
        </p:nvSpPr>
        <p:spPr>
          <a:xfrm>
            <a:off x="944880" y="18009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Each collection should use stable identifiers so that related records can be connected. The</a:t>
            </a:r>
          </a:p>
        </p:txBody>
      </p:sp>
      <p:sp>
        <p:nvSpPr>
          <p:cNvPr id="10" name="TextBox 9"/>
          <p:cNvSpPr txBox="1"/>
          <p:nvPr/>
        </p:nvSpPr>
        <p:spPr>
          <a:xfrm>
            <a:off x="716280" y="197871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database design should also avoid unnecessary duplication of values that can become inconsistent</a:t>
            </a:r>
          </a:p>
        </p:txBody>
      </p:sp>
      <p:sp>
        <p:nvSpPr>
          <p:cNvPr id="11" name="TextBox 10"/>
          <p:cNvSpPr txBox="1"/>
          <p:nvPr/>
        </p:nvSpPr>
        <p:spPr>
          <a:xfrm>
            <a:off x="716280" y="2156510"/>
            <a:ext cx="2205380" cy="203301"/>
          </a:xfrm>
          <a:prstGeom prst="rect">
            <a:avLst/>
          </a:prstGeom>
          <a:noFill/>
        </p:spPr>
        <p:txBody>
          <a:bodyPr wrap="none" lIns="0" tIns="0" rIns="0" bIns="0" anchor="t">
            <a:spAutoFit/>
          </a:bodyPr>
          <a:lstStyle/>
          <a:p>
            <a:pPr algn="l"/>
            <a:r>
              <a:rPr sz="1200" b="0" i="0">
                <a:solidFill>
                  <a:srgbClr val="000000"/>
                </a:solidFill>
                <a:latin typeface="Times New Roman"/>
              </a:rPr>
              <a:t>when changed in multiple locations.</a:t>
            </a:r>
          </a:p>
        </p:txBody>
      </p:sp>
      <p:sp>
        <p:nvSpPr>
          <p:cNvPr id="12" name="TextBox 11"/>
          <p:cNvSpPr txBox="1"/>
          <p:nvPr/>
        </p:nvSpPr>
        <p:spPr>
          <a:xfrm>
            <a:off x="1049246" y="25369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3" name="TextBox 12"/>
          <p:cNvSpPr txBox="1"/>
          <p:nvPr/>
        </p:nvSpPr>
        <p:spPr>
          <a:xfrm>
            <a:off x="3397730" y="25369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4" name="TextBox 13"/>
          <p:cNvSpPr txBox="1"/>
          <p:nvPr/>
        </p:nvSpPr>
        <p:spPr>
          <a:xfrm>
            <a:off x="5544728" y="25369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5" name="TextBox 14"/>
          <p:cNvSpPr txBox="1"/>
          <p:nvPr/>
        </p:nvSpPr>
        <p:spPr>
          <a:xfrm>
            <a:off x="744700" y="27771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6" name="TextBox 15"/>
          <p:cNvSpPr txBox="1"/>
          <p:nvPr/>
        </p:nvSpPr>
        <p:spPr>
          <a:xfrm>
            <a:off x="2573500" y="27771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7" name="TextBox 16"/>
          <p:cNvSpPr txBox="1"/>
          <p:nvPr/>
        </p:nvSpPr>
        <p:spPr>
          <a:xfrm>
            <a:off x="4768059" y="27771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8" name="TextBox 17"/>
          <p:cNvSpPr txBox="1"/>
          <p:nvPr/>
        </p:nvSpPr>
        <p:spPr>
          <a:xfrm>
            <a:off x="744700" y="30184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9" name="TextBox 18"/>
          <p:cNvSpPr txBox="1"/>
          <p:nvPr/>
        </p:nvSpPr>
        <p:spPr>
          <a:xfrm>
            <a:off x="2573500" y="30184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20" name="TextBox 19"/>
          <p:cNvSpPr txBox="1"/>
          <p:nvPr/>
        </p:nvSpPr>
        <p:spPr>
          <a:xfrm>
            <a:off x="4768059" y="30184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21" name="TextBox 20"/>
          <p:cNvSpPr txBox="1"/>
          <p:nvPr/>
        </p:nvSpPr>
        <p:spPr>
          <a:xfrm>
            <a:off x="744700" y="32597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22" name="TextBox 21"/>
          <p:cNvSpPr txBox="1"/>
          <p:nvPr/>
        </p:nvSpPr>
        <p:spPr>
          <a:xfrm>
            <a:off x="2573500" y="32597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3" name="TextBox 22"/>
          <p:cNvSpPr txBox="1"/>
          <p:nvPr/>
        </p:nvSpPr>
        <p:spPr>
          <a:xfrm>
            <a:off x="4768059" y="32597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79034"/>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42</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733012" y="542746"/>
            <a:ext cx="2093975" cy="281432"/>
          </a:xfrm>
          <a:prstGeom prst="rect">
            <a:avLst/>
          </a:prstGeom>
          <a:noFill/>
        </p:spPr>
        <p:txBody>
          <a:bodyPr wrap="none" lIns="0" tIns="0" rIns="0" bIns="0" anchor="t">
            <a:spAutoFit/>
          </a:bodyPr>
          <a:lstStyle/>
          <a:p>
            <a:pPr algn="ctr"/>
            <a:r>
              <a:rPr sz="1600" b="1" i="0">
                <a:solidFill>
                  <a:srgbClr val="000000"/>
                </a:solidFill>
                <a:latin typeface="Times New Roman"/>
              </a:rPr>
              <a:t>H.2 Medicine Collection</a:t>
            </a:r>
          </a:p>
        </p:txBody>
      </p:sp>
      <p:sp>
        <p:nvSpPr>
          <p:cNvPr id="5" name="TextBox 4"/>
          <p:cNvSpPr txBox="1"/>
          <p:nvPr/>
        </p:nvSpPr>
        <p:spPr>
          <a:xfrm>
            <a:off x="944880" y="8992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medicine collection represents the master information for each medicine. Typical</a:t>
            </a:r>
          </a:p>
        </p:txBody>
      </p:sp>
      <p:sp>
        <p:nvSpPr>
          <p:cNvPr id="6" name="TextBox 5"/>
          <p:cNvSpPr txBox="1"/>
          <p:nvPr/>
        </p:nvSpPr>
        <p:spPr>
          <a:xfrm>
            <a:off x="716280" y="10770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information can include a unique identifier, medicine name, category, quantity or stock reference,</a:t>
            </a:r>
          </a:p>
        </p:txBody>
      </p:sp>
      <p:sp>
        <p:nvSpPr>
          <p:cNvPr id="7" name="TextBox 6"/>
          <p:cNvSpPr txBox="1"/>
          <p:nvPr/>
        </p:nvSpPr>
        <p:spPr>
          <a:xfrm>
            <a:off x="716280" y="1254810"/>
            <a:ext cx="4101541" cy="203301"/>
          </a:xfrm>
          <a:prstGeom prst="rect">
            <a:avLst/>
          </a:prstGeom>
          <a:noFill/>
        </p:spPr>
        <p:txBody>
          <a:bodyPr wrap="none" lIns="0" tIns="0" rIns="0" bIns="0" anchor="t">
            <a:spAutoFit/>
          </a:bodyPr>
          <a:lstStyle/>
          <a:p>
            <a:pPr algn="l"/>
            <a:r>
              <a:rPr sz="1200" b="0" i="0">
                <a:solidFill>
                  <a:srgbClr val="000000"/>
                </a:solidFill>
                <a:latin typeface="Times New Roman"/>
              </a:rPr>
              <a:t>and status. The exact fields should match the implemented schema.</a:t>
            </a:r>
          </a:p>
        </p:txBody>
      </p:sp>
      <p:sp>
        <p:nvSpPr>
          <p:cNvPr id="8" name="TextBox 7"/>
          <p:cNvSpPr txBox="1"/>
          <p:nvPr/>
        </p:nvSpPr>
        <p:spPr>
          <a:xfrm>
            <a:off x="944880" y="15088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Medicine records are referenced by batch and transaction information so that stock movement</a:t>
            </a:r>
          </a:p>
        </p:txBody>
      </p:sp>
      <p:sp>
        <p:nvSpPr>
          <p:cNvPr id="9" name="TextBox 8"/>
          <p:cNvSpPr txBox="1"/>
          <p:nvPr/>
        </p:nvSpPr>
        <p:spPr>
          <a:xfrm>
            <a:off x="716280" y="1686610"/>
            <a:ext cx="2581503" cy="203301"/>
          </a:xfrm>
          <a:prstGeom prst="rect">
            <a:avLst/>
          </a:prstGeom>
          <a:noFill/>
        </p:spPr>
        <p:txBody>
          <a:bodyPr wrap="none" lIns="0" tIns="0" rIns="0" bIns="0" anchor="t">
            <a:spAutoFit/>
          </a:bodyPr>
          <a:lstStyle/>
          <a:p>
            <a:pPr algn="l"/>
            <a:r>
              <a:rPr sz="1200" b="0" i="0">
                <a:solidFill>
                  <a:srgbClr val="000000"/>
                </a:solidFill>
                <a:latin typeface="Times New Roman"/>
              </a:rPr>
              <a:t>can be traced back to the relevant product.</a:t>
            </a:r>
          </a:p>
        </p:txBody>
      </p:sp>
      <p:sp>
        <p:nvSpPr>
          <p:cNvPr id="10" name="TextBox 9"/>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Medicine Collection – Additional Details</a:t>
            </a:r>
          </a:p>
          <a:p>
            <a:pPr algn="l">
              <a:lnSpc>
                <a:spcPct val="100000"/>
              </a:lnSpc>
              <a:spcBef>
                <a:spcPts val="0"/>
              </a:spcBef>
              <a:spcAft>
                <a:spcPts val="200"/>
              </a:spcAft>
            </a:pPr>
            <a:r>
              <a:rPr sz="1050" b="0">
                <a:solidFill>
                  <a:srgbClr val="000000"/>
                </a:solidFill>
                <a:latin typeface="Times New Roman"/>
              </a:rPr>
              <a:t>The medicine collection acts as the master record for pharmaceutical products. Fields can include a unique medicine identifier, medicine name, category, quantity or status information, and other attributes required by the final implementation.</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The collection should use consistent identifiers so that batches and transactions can refer to the correct medicine. Validation reduces the possibility of duplicate or incomplete medicine records. Indexes can be introduced later for fields that are frequently searched, especially as the number of medicine records grows.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79034"/>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43</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761053" y="542746"/>
            <a:ext cx="2037892" cy="281432"/>
          </a:xfrm>
          <a:prstGeom prst="rect">
            <a:avLst/>
          </a:prstGeom>
          <a:noFill/>
        </p:spPr>
        <p:txBody>
          <a:bodyPr wrap="none" lIns="0" tIns="0" rIns="0" bIns="0" anchor="t">
            <a:spAutoFit/>
          </a:bodyPr>
          <a:lstStyle/>
          <a:p>
            <a:pPr algn="ctr"/>
            <a:r>
              <a:rPr sz="1600" b="1" i="0">
                <a:solidFill>
                  <a:srgbClr val="000000"/>
                </a:solidFill>
                <a:latin typeface="Times New Roman"/>
              </a:rPr>
              <a:t>H.3 Supplier Collection</a:t>
            </a:r>
          </a:p>
        </p:txBody>
      </p:sp>
      <p:sp>
        <p:nvSpPr>
          <p:cNvPr id="5" name="TextBox 4"/>
          <p:cNvSpPr txBox="1"/>
          <p:nvPr/>
        </p:nvSpPr>
        <p:spPr>
          <a:xfrm>
            <a:off x="944880" y="8992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supplier collection stores information required for procurement and traceability. A supplier</a:t>
            </a:r>
          </a:p>
        </p:txBody>
      </p:sp>
      <p:sp>
        <p:nvSpPr>
          <p:cNvPr id="6" name="TextBox 5"/>
          <p:cNvSpPr txBox="1"/>
          <p:nvPr/>
        </p:nvSpPr>
        <p:spPr>
          <a:xfrm>
            <a:off x="716280" y="1077010"/>
            <a:ext cx="4595927" cy="203301"/>
          </a:xfrm>
          <a:prstGeom prst="rect">
            <a:avLst/>
          </a:prstGeom>
          <a:noFill/>
        </p:spPr>
        <p:txBody>
          <a:bodyPr wrap="none" lIns="0" tIns="0" rIns="0" bIns="0" anchor="t">
            <a:spAutoFit/>
          </a:bodyPr>
          <a:lstStyle/>
          <a:p>
            <a:pPr algn="l"/>
            <a:r>
              <a:rPr sz="1200" b="0" i="0">
                <a:solidFill>
                  <a:srgbClr val="000000"/>
                </a:solidFill>
                <a:latin typeface="Times New Roman"/>
              </a:rPr>
              <a:t>identifier provides a stable reference that can be stored in purchase records.</a:t>
            </a:r>
          </a:p>
        </p:txBody>
      </p:sp>
      <p:sp>
        <p:nvSpPr>
          <p:cNvPr id="7" name="TextBox 6"/>
          <p:cNvSpPr txBox="1"/>
          <p:nvPr/>
        </p:nvSpPr>
        <p:spPr>
          <a:xfrm>
            <a:off x="944880" y="13310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Validation is important because supplier contact information should not contain malformed or</a:t>
            </a:r>
          </a:p>
        </p:txBody>
      </p:sp>
      <p:sp>
        <p:nvSpPr>
          <p:cNvPr id="8" name="TextBox 7"/>
          <p:cNvSpPr txBox="1"/>
          <p:nvPr/>
        </p:nvSpPr>
        <p:spPr>
          <a:xfrm>
            <a:off x="716280" y="1508810"/>
            <a:ext cx="4575505" cy="203301"/>
          </a:xfrm>
          <a:prstGeom prst="rect">
            <a:avLst/>
          </a:prstGeom>
          <a:noFill/>
        </p:spPr>
        <p:txBody>
          <a:bodyPr wrap="none" lIns="0" tIns="0" rIns="0" bIns="0" anchor="t">
            <a:spAutoFit/>
          </a:bodyPr>
          <a:lstStyle/>
          <a:p>
            <a:pPr algn="l"/>
            <a:r>
              <a:rPr sz="1200" b="0" i="0">
                <a:solidFill>
                  <a:srgbClr val="000000"/>
                </a:solidFill>
                <a:latin typeface="Times New Roman"/>
              </a:rPr>
              <a:t>incomplete values when those fields are mandatory in the final application.</a:t>
            </a:r>
          </a:p>
        </p:txBody>
      </p:sp>
      <p:sp>
        <p:nvSpPr>
          <p:cNvPr id="9" name="TextBox 8"/>
          <p:cNvSpPr txBox="1"/>
          <p:nvPr/>
        </p:nvSpPr>
        <p:spPr>
          <a:xfrm>
            <a:off x="1049246" y="18892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0" name="TextBox 9"/>
          <p:cNvSpPr txBox="1"/>
          <p:nvPr/>
        </p:nvSpPr>
        <p:spPr>
          <a:xfrm>
            <a:off x="3397730" y="18892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1" name="TextBox 10"/>
          <p:cNvSpPr txBox="1"/>
          <p:nvPr/>
        </p:nvSpPr>
        <p:spPr>
          <a:xfrm>
            <a:off x="5544728" y="18892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2" name="TextBox 11"/>
          <p:cNvSpPr txBox="1"/>
          <p:nvPr/>
        </p:nvSpPr>
        <p:spPr>
          <a:xfrm>
            <a:off x="744700" y="21294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3" name="TextBox 12"/>
          <p:cNvSpPr txBox="1"/>
          <p:nvPr/>
        </p:nvSpPr>
        <p:spPr>
          <a:xfrm>
            <a:off x="2573500" y="21294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4" name="TextBox 13"/>
          <p:cNvSpPr txBox="1"/>
          <p:nvPr/>
        </p:nvSpPr>
        <p:spPr>
          <a:xfrm>
            <a:off x="4768059" y="21294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5" name="TextBox 14"/>
          <p:cNvSpPr txBox="1"/>
          <p:nvPr/>
        </p:nvSpPr>
        <p:spPr>
          <a:xfrm>
            <a:off x="744700" y="23707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6" name="TextBox 15"/>
          <p:cNvSpPr txBox="1"/>
          <p:nvPr/>
        </p:nvSpPr>
        <p:spPr>
          <a:xfrm>
            <a:off x="2573500" y="23707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17" name="TextBox 16"/>
          <p:cNvSpPr txBox="1"/>
          <p:nvPr/>
        </p:nvSpPr>
        <p:spPr>
          <a:xfrm>
            <a:off x="4768059" y="23707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18" name="TextBox 17"/>
          <p:cNvSpPr txBox="1"/>
          <p:nvPr/>
        </p:nvSpPr>
        <p:spPr>
          <a:xfrm>
            <a:off x="744700" y="26120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19" name="TextBox 18"/>
          <p:cNvSpPr txBox="1"/>
          <p:nvPr/>
        </p:nvSpPr>
        <p:spPr>
          <a:xfrm>
            <a:off x="2573500" y="26120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0" name="TextBox 19"/>
          <p:cNvSpPr txBox="1"/>
          <p:nvPr/>
        </p:nvSpPr>
        <p:spPr>
          <a:xfrm>
            <a:off x="4768059" y="26120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
        <p:nvSpPr>
          <p:cNvPr id="21" name="TextBox 20"/>
          <p:cNvSpPr txBox="1"/>
          <p:nvPr/>
        </p:nvSpPr>
        <p:spPr>
          <a:xfrm>
            <a:off x="685800" y="3010025"/>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Supplier Collection – Additional Details</a:t>
            </a:r>
          </a:p>
          <a:p>
            <a:pPr algn="l">
              <a:lnSpc>
                <a:spcPct val="100000"/>
              </a:lnSpc>
              <a:spcBef>
                <a:spcPts val="0"/>
              </a:spcBef>
              <a:spcAft>
                <a:spcPts val="200"/>
              </a:spcAft>
            </a:pPr>
            <a:r>
              <a:rPr sz="1050" b="0">
                <a:solidFill>
                  <a:srgbClr val="000000"/>
                </a:solidFill>
                <a:latin typeface="Times New Roman"/>
              </a:rPr>
              <a:t>The supplier collection provides the source information needed for procurement and traceability. Maintaining supplier identifiers and contact information in one collection avoids repeated manual entry across purchase records.</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Supplier records can also support future reporting, such as identifying the suppliers associated with frequently purchased medicines. Access to supplier information should be restricted according to the role of the authenticated user. The final collection fields should always match the implemented database schema.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6037" y="10279034"/>
            <a:ext cx="307924" cy="152475"/>
          </a:xfrm>
          <a:prstGeom prst="rect">
            <a:avLst/>
          </a:prstGeom>
          <a:noFill/>
        </p:spPr>
        <p:txBody>
          <a:bodyPr wrap="none" lIns="0" tIns="0" rIns="0" bIns="0" anchor="t">
            <a:spAutoFit/>
          </a:bodyPr>
          <a:lstStyle/>
          <a:p>
            <a:pPr algn="ctr"/>
            <a:r>
              <a:rPr sz="900" b="0" i="0">
                <a:solidFill>
                  <a:srgbClr val="000000"/>
                </a:solidFill>
                <a:latin typeface="Times New Roman"/>
              </a:rPr>
              <a:t>Page 44</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879722" y="542746"/>
            <a:ext cx="1800555" cy="281432"/>
          </a:xfrm>
          <a:prstGeom prst="rect">
            <a:avLst/>
          </a:prstGeom>
          <a:noFill/>
        </p:spPr>
        <p:txBody>
          <a:bodyPr wrap="none" lIns="0" tIns="0" rIns="0" bIns="0" anchor="t">
            <a:spAutoFit/>
          </a:bodyPr>
          <a:lstStyle/>
          <a:p>
            <a:pPr algn="ctr"/>
            <a:r>
              <a:rPr sz="1600" b="1" i="0">
                <a:solidFill>
                  <a:srgbClr val="000000"/>
                </a:solidFill>
                <a:latin typeface="Times New Roman"/>
              </a:rPr>
              <a:t>H.4 Batch Collection</a:t>
            </a:r>
          </a:p>
        </p:txBody>
      </p:sp>
      <p:sp>
        <p:nvSpPr>
          <p:cNvPr id="5" name="TextBox 4"/>
          <p:cNvSpPr txBox="1"/>
          <p:nvPr/>
        </p:nvSpPr>
        <p:spPr>
          <a:xfrm>
            <a:off x="944880" y="8992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The batch collection supports pharmaceutical traceability. Each batch should identify the</a:t>
            </a:r>
          </a:p>
        </p:txBody>
      </p:sp>
      <p:sp>
        <p:nvSpPr>
          <p:cNvPr id="6" name="TextBox 5"/>
          <p:cNvSpPr txBox="1"/>
          <p:nvPr/>
        </p:nvSpPr>
        <p:spPr>
          <a:xfrm>
            <a:off x="716280" y="1077010"/>
            <a:ext cx="5980329" cy="203301"/>
          </a:xfrm>
          <a:prstGeom prst="rect">
            <a:avLst/>
          </a:prstGeom>
          <a:noFill/>
        </p:spPr>
        <p:txBody>
          <a:bodyPr wrap="none" lIns="0" tIns="0" rIns="0" bIns="0" anchor="t">
            <a:spAutoFit/>
          </a:bodyPr>
          <a:lstStyle/>
          <a:p>
            <a:pPr algn="ctr"/>
            <a:r>
              <a:rPr sz="1200" b="0" i="0">
                <a:solidFill>
                  <a:srgbClr val="000000"/>
                </a:solidFill>
                <a:latin typeface="Times New Roman"/>
              </a:rPr>
              <a:t>associated medicine and preserve the batch number together with manufacturing and expiry dates.</a:t>
            </a:r>
          </a:p>
        </p:txBody>
      </p:sp>
      <p:sp>
        <p:nvSpPr>
          <p:cNvPr id="7" name="TextBox 6"/>
          <p:cNvSpPr txBox="1"/>
          <p:nvPr/>
        </p:nvSpPr>
        <p:spPr>
          <a:xfrm>
            <a:off x="944880" y="13310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Batch-level storage makes it possible to distinguish stock with different expiry dates even when</a:t>
            </a:r>
          </a:p>
        </p:txBody>
      </p:sp>
      <p:sp>
        <p:nvSpPr>
          <p:cNvPr id="8" name="TextBox 7"/>
          <p:cNvSpPr txBox="1"/>
          <p:nvPr/>
        </p:nvSpPr>
        <p:spPr>
          <a:xfrm>
            <a:off x="716280" y="1508810"/>
            <a:ext cx="2425446" cy="203301"/>
          </a:xfrm>
          <a:prstGeom prst="rect">
            <a:avLst/>
          </a:prstGeom>
          <a:noFill/>
        </p:spPr>
        <p:txBody>
          <a:bodyPr wrap="none" lIns="0" tIns="0" rIns="0" bIns="0" anchor="t">
            <a:spAutoFit/>
          </a:bodyPr>
          <a:lstStyle/>
          <a:p>
            <a:pPr algn="l"/>
            <a:r>
              <a:rPr sz="1200" b="0" i="0">
                <a:solidFill>
                  <a:srgbClr val="000000"/>
                </a:solidFill>
                <a:latin typeface="Times New Roman"/>
              </a:rPr>
              <a:t>the stock belongs to the same medicine.</a:t>
            </a:r>
          </a:p>
        </p:txBody>
      </p:sp>
      <p:sp>
        <p:nvSpPr>
          <p:cNvPr id="9" name="TextBox 8"/>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Batch Collection – Additional Details</a:t>
            </a:r>
          </a:p>
          <a:p>
            <a:pPr algn="l">
              <a:lnSpc>
                <a:spcPct val="100000"/>
              </a:lnSpc>
              <a:spcBef>
                <a:spcPts val="0"/>
              </a:spcBef>
              <a:spcAft>
                <a:spcPts val="200"/>
              </a:spcAft>
            </a:pPr>
            <a:r>
              <a:rPr sz="1050" b="0">
                <a:solidFill>
                  <a:srgbClr val="000000"/>
                </a:solidFill>
                <a:latin typeface="Times New Roman"/>
              </a:rPr>
              <a:t>Batch-level information allows the system to distinguish different quantities of the same medicine. This is especially useful when batches have different expiry dates. A batch record can contain a unique identifier, medicine reference, batch number, manufacturing date, expiry date, and other fields required by the implementation.</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The collection supports both traceability and monitoring. Queries can identify batches approaching expiry, while stock records can associate available quantities with the appropriate batch. Consistent date storage is important so that comparisons remain reliable.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45</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569232" y="542746"/>
            <a:ext cx="2421534" cy="281432"/>
          </a:xfrm>
          <a:prstGeom prst="rect">
            <a:avLst/>
          </a:prstGeom>
          <a:noFill/>
        </p:spPr>
        <p:txBody>
          <a:bodyPr wrap="none" lIns="0" tIns="0" rIns="0" bIns="0" anchor="t">
            <a:spAutoFit/>
          </a:bodyPr>
          <a:lstStyle/>
          <a:p>
            <a:pPr algn="ctr"/>
            <a:r>
              <a:rPr sz="1600" b="1" i="0">
                <a:solidFill>
                  <a:srgbClr val="000000"/>
                </a:solidFill>
                <a:latin typeface="Times New Roman"/>
              </a:rPr>
              <a:t>H.5 Transaction Collections</a:t>
            </a:r>
          </a:p>
        </p:txBody>
      </p:sp>
      <p:sp>
        <p:nvSpPr>
          <p:cNvPr id="5" name="TextBox 4"/>
          <p:cNvSpPr txBox="1"/>
          <p:nvPr/>
        </p:nvSpPr>
        <p:spPr>
          <a:xfrm>
            <a:off x="944880" y="8992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Purchase and sales collections record inventory movement. These records provide a historical</a:t>
            </a:r>
          </a:p>
        </p:txBody>
      </p:sp>
      <p:sp>
        <p:nvSpPr>
          <p:cNvPr id="6" name="TextBox 5"/>
          <p:cNvSpPr txBox="1"/>
          <p:nvPr/>
        </p:nvSpPr>
        <p:spPr>
          <a:xfrm>
            <a:off x="716280" y="1077010"/>
            <a:ext cx="3267456" cy="203301"/>
          </a:xfrm>
          <a:prstGeom prst="rect">
            <a:avLst/>
          </a:prstGeom>
          <a:noFill/>
        </p:spPr>
        <p:txBody>
          <a:bodyPr wrap="none" lIns="0" tIns="0" rIns="0" bIns="0" anchor="t">
            <a:spAutoFit/>
          </a:bodyPr>
          <a:lstStyle/>
          <a:p>
            <a:pPr algn="l"/>
            <a:r>
              <a:rPr sz="1200" b="0" i="0">
                <a:solidFill>
                  <a:srgbClr val="000000"/>
                </a:solidFill>
                <a:latin typeface="Times New Roman"/>
              </a:rPr>
              <a:t>view of transactions and can support future reporting.</a:t>
            </a:r>
          </a:p>
        </p:txBody>
      </p:sp>
      <p:sp>
        <p:nvSpPr>
          <p:cNvPr id="7" name="TextBox 6"/>
          <p:cNvSpPr txBox="1"/>
          <p:nvPr/>
        </p:nvSpPr>
        <p:spPr>
          <a:xfrm>
            <a:off x="944880" y="13310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Stock information can be maintained directly or derived from transaction data according to the</a:t>
            </a:r>
          </a:p>
        </p:txBody>
      </p:sp>
      <p:sp>
        <p:nvSpPr>
          <p:cNvPr id="8" name="TextBox 7"/>
          <p:cNvSpPr txBox="1"/>
          <p:nvPr/>
        </p:nvSpPr>
        <p:spPr>
          <a:xfrm>
            <a:off x="716280" y="15088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final implementation. Whichever method is selected, the application should use one consistent rule</a:t>
            </a:r>
          </a:p>
        </p:txBody>
      </p:sp>
      <p:sp>
        <p:nvSpPr>
          <p:cNvPr id="9" name="TextBox 8"/>
          <p:cNvSpPr txBox="1"/>
          <p:nvPr/>
        </p:nvSpPr>
        <p:spPr>
          <a:xfrm>
            <a:off x="716280" y="1686610"/>
            <a:ext cx="3013710" cy="203301"/>
          </a:xfrm>
          <a:prstGeom prst="rect">
            <a:avLst/>
          </a:prstGeom>
          <a:noFill/>
        </p:spPr>
        <p:txBody>
          <a:bodyPr wrap="none" lIns="0" tIns="0" rIns="0" bIns="0" anchor="t">
            <a:spAutoFit/>
          </a:bodyPr>
          <a:lstStyle/>
          <a:p>
            <a:pPr algn="l"/>
            <a:r>
              <a:rPr sz="1200" b="0" i="0">
                <a:solidFill>
                  <a:srgbClr val="000000"/>
                </a:solidFill>
                <a:latin typeface="Times New Roman"/>
              </a:rPr>
              <a:t>so that stock values do not become contradictory.</a:t>
            </a:r>
          </a:p>
        </p:txBody>
      </p:sp>
      <p:sp>
        <p:nvSpPr>
          <p:cNvPr id="10" name="TextBox 9"/>
          <p:cNvSpPr txBox="1"/>
          <p:nvPr/>
        </p:nvSpPr>
        <p:spPr>
          <a:xfrm>
            <a:off x="1049246" y="20670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1" name="TextBox 10"/>
          <p:cNvSpPr txBox="1"/>
          <p:nvPr/>
        </p:nvSpPr>
        <p:spPr>
          <a:xfrm>
            <a:off x="3397730" y="20670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2" name="TextBox 11"/>
          <p:cNvSpPr txBox="1"/>
          <p:nvPr/>
        </p:nvSpPr>
        <p:spPr>
          <a:xfrm>
            <a:off x="5544728" y="20670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3" name="TextBox 12"/>
          <p:cNvSpPr txBox="1"/>
          <p:nvPr/>
        </p:nvSpPr>
        <p:spPr>
          <a:xfrm>
            <a:off x="744700" y="23072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4" name="TextBox 13"/>
          <p:cNvSpPr txBox="1"/>
          <p:nvPr/>
        </p:nvSpPr>
        <p:spPr>
          <a:xfrm>
            <a:off x="2573500" y="23072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5" name="TextBox 14"/>
          <p:cNvSpPr txBox="1"/>
          <p:nvPr/>
        </p:nvSpPr>
        <p:spPr>
          <a:xfrm>
            <a:off x="4768059" y="23072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6" name="TextBox 15"/>
          <p:cNvSpPr txBox="1"/>
          <p:nvPr/>
        </p:nvSpPr>
        <p:spPr>
          <a:xfrm>
            <a:off x="744700" y="25485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7" name="TextBox 16"/>
          <p:cNvSpPr txBox="1"/>
          <p:nvPr/>
        </p:nvSpPr>
        <p:spPr>
          <a:xfrm>
            <a:off x="2573500" y="25485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18" name="TextBox 17"/>
          <p:cNvSpPr txBox="1"/>
          <p:nvPr/>
        </p:nvSpPr>
        <p:spPr>
          <a:xfrm>
            <a:off x="4768059" y="25485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19" name="TextBox 18"/>
          <p:cNvSpPr txBox="1"/>
          <p:nvPr/>
        </p:nvSpPr>
        <p:spPr>
          <a:xfrm>
            <a:off x="744700" y="27898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20" name="TextBox 19"/>
          <p:cNvSpPr txBox="1"/>
          <p:nvPr/>
        </p:nvSpPr>
        <p:spPr>
          <a:xfrm>
            <a:off x="2573500" y="27898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1" name="TextBox 20"/>
          <p:cNvSpPr txBox="1"/>
          <p:nvPr/>
        </p:nvSpPr>
        <p:spPr>
          <a:xfrm>
            <a:off x="4768059" y="27898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46</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301976" y="542746"/>
            <a:ext cx="4956047" cy="281432"/>
          </a:xfrm>
          <a:prstGeom prst="rect">
            <a:avLst/>
          </a:prstGeom>
          <a:noFill/>
        </p:spPr>
        <p:txBody>
          <a:bodyPr wrap="none" lIns="0" tIns="0" rIns="0" bIns="0" anchor="t">
            <a:spAutoFit/>
          </a:bodyPr>
          <a:lstStyle/>
          <a:p>
            <a:pPr algn="ctr"/>
            <a:r>
              <a:rPr sz="1600" b="1" i="0">
                <a:solidFill>
                  <a:srgbClr val="000000"/>
                </a:solidFill>
                <a:latin typeface="Times New Roman"/>
              </a:rPr>
              <a:t>APPENDIX I – VALIDATION AND BUSINESS RULES</a:t>
            </a:r>
          </a:p>
        </p:txBody>
      </p:sp>
      <p:sp>
        <p:nvSpPr>
          <p:cNvPr id="5" name="TextBox 4"/>
          <p:cNvSpPr txBox="1"/>
          <p:nvPr/>
        </p:nvSpPr>
        <p:spPr>
          <a:xfrm>
            <a:off x="716280" y="899464"/>
            <a:ext cx="1516634" cy="246252"/>
          </a:xfrm>
          <a:prstGeom prst="rect">
            <a:avLst/>
          </a:prstGeom>
          <a:noFill/>
        </p:spPr>
        <p:txBody>
          <a:bodyPr wrap="none" lIns="0" tIns="0" rIns="0" bIns="0" anchor="t">
            <a:spAutoFit/>
          </a:bodyPr>
          <a:lstStyle/>
          <a:p>
            <a:pPr algn="l"/>
            <a:r>
              <a:rPr sz="1400" b="1" i="0">
                <a:solidFill>
                  <a:srgbClr val="000000"/>
                </a:solidFill>
                <a:latin typeface="Times New Roman"/>
              </a:rPr>
              <a:t>I.1 Input Validation</a:t>
            </a:r>
          </a:p>
        </p:txBody>
      </p:sp>
      <p:sp>
        <p:nvSpPr>
          <p:cNvPr id="6" name="TextBox 5"/>
          <p:cNvSpPr txBox="1"/>
          <p:nvPr/>
        </p:nvSpPr>
        <p:spPr>
          <a:xfrm>
            <a:off x="944880" y="11913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Input validation protects the database from incomplete or incorrect data. Required fields should</a:t>
            </a:r>
          </a:p>
        </p:txBody>
      </p:sp>
      <p:sp>
        <p:nvSpPr>
          <p:cNvPr id="7" name="TextBox 6"/>
          <p:cNvSpPr txBox="1"/>
          <p:nvPr/>
        </p:nvSpPr>
        <p:spPr>
          <a:xfrm>
            <a:off x="716280" y="13691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be checked before an operation is processed. Numeric fields such as quantities should be validated</a:t>
            </a:r>
          </a:p>
        </p:txBody>
      </p:sp>
      <p:sp>
        <p:nvSpPr>
          <p:cNvPr id="8" name="TextBox 7"/>
          <p:cNvSpPr txBox="1"/>
          <p:nvPr/>
        </p:nvSpPr>
        <p:spPr>
          <a:xfrm>
            <a:off x="716280" y="1546910"/>
            <a:ext cx="4084776" cy="203301"/>
          </a:xfrm>
          <a:prstGeom prst="rect">
            <a:avLst/>
          </a:prstGeom>
          <a:noFill/>
        </p:spPr>
        <p:txBody>
          <a:bodyPr wrap="none" lIns="0" tIns="0" rIns="0" bIns="0" anchor="t">
            <a:spAutoFit/>
          </a:bodyPr>
          <a:lstStyle/>
          <a:p>
            <a:pPr algn="l"/>
            <a:r>
              <a:rPr sz="1200" b="0" i="0">
                <a:solidFill>
                  <a:srgbClr val="000000"/>
                </a:solidFill>
                <a:latin typeface="Times New Roman"/>
              </a:rPr>
              <a:t>as numbers and should follow the business rules of the application.</a:t>
            </a:r>
          </a:p>
        </p:txBody>
      </p:sp>
      <p:sp>
        <p:nvSpPr>
          <p:cNvPr id="9" name="TextBox 8"/>
          <p:cNvSpPr txBox="1"/>
          <p:nvPr/>
        </p:nvSpPr>
        <p:spPr>
          <a:xfrm>
            <a:off x="944880" y="18009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Date values should be checked before storage. Validation errors should return a clear response</a:t>
            </a:r>
          </a:p>
        </p:txBody>
      </p:sp>
      <p:sp>
        <p:nvSpPr>
          <p:cNvPr id="10" name="TextBox 9"/>
          <p:cNvSpPr txBox="1"/>
          <p:nvPr/>
        </p:nvSpPr>
        <p:spPr>
          <a:xfrm>
            <a:off x="716280" y="1978710"/>
            <a:ext cx="5481523" cy="203301"/>
          </a:xfrm>
          <a:prstGeom prst="rect">
            <a:avLst/>
          </a:prstGeom>
          <a:noFill/>
        </p:spPr>
        <p:txBody>
          <a:bodyPr wrap="none" lIns="0" tIns="0" rIns="0" bIns="0" anchor="t">
            <a:spAutoFit/>
          </a:bodyPr>
          <a:lstStyle/>
          <a:p>
            <a:pPr algn="ctr"/>
            <a:r>
              <a:rPr sz="1200" b="0" i="0">
                <a:solidFill>
                  <a:srgbClr val="000000"/>
                </a:solidFill>
                <a:latin typeface="Times New Roman"/>
              </a:rPr>
              <a:t>so that the client can correct the request without exposing internal implementation details.</a:t>
            </a:r>
          </a:p>
        </p:txBody>
      </p:sp>
      <p:sp>
        <p:nvSpPr>
          <p:cNvPr id="11" name="TextBox 10"/>
          <p:cNvSpPr txBox="1"/>
          <p:nvPr/>
        </p:nvSpPr>
        <p:spPr>
          <a:xfrm>
            <a:off x="685800" y="2410611"/>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Validation Strategy – Additional Details</a:t>
            </a:r>
          </a:p>
          <a:p>
            <a:pPr algn="l">
              <a:lnSpc>
                <a:spcPct val="100000"/>
              </a:lnSpc>
              <a:spcBef>
                <a:spcPts val="0"/>
              </a:spcBef>
              <a:spcAft>
                <a:spcPts val="200"/>
              </a:spcAft>
            </a:pPr>
            <a:r>
              <a:rPr sz="1050" b="0">
                <a:solidFill>
                  <a:srgbClr val="000000"/>
                </a:solidFill>
                <a:latin typeface="Times New Roman"/>
              </a:rPr>
              <a:t>Validation should be performed before data reaches the database. Required fields, data types, quantity limits, date formats, identifiers, and permitted values should be checked according to the rules of each module.</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Clear validation messages help API clients correct their requests without exposing internal implementation details. Validation should be combined with authorization so that a request is not accepted simply because its data format is correct. Together, validation and authorization provide two separate controls over protected inventory operations.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47</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3128032" y="542746"/>
            <a:ext cx="1303934" cy="281432"/>
          </a:xfrm>
          <a:prstGeom prst="rect">
            <a:avLst/>
          </a:prstGeom>
          <a:noFill/>
        </p:spPr>
        <p:txBody>
          <a:bodyPr wrap="none" lIns="0" tIns="0" rIns="0" bIns="0" anchor="t">
            <a:spAutoFit/>
          </a:bodyPr>
          <a:lstStyle/>
          <a:p>
            <a:pPr algn="ctr"/>
            <a:r>
              <a:rPr sz="1600" b="1" i="0">
                <a:solidFill>
                  <a:srgbClr val="000000"/>
                </a:solidFill>
                <a:latin typeface="Times New Roman"/>
              </a:rPr>
              <a:t>I.2 Stock Rules</a:t>
            </a:r>
          </a:p>
        </p:txBody>
      </p:sp>
      <p:sp>
        <p:nvSpPr>
          <p:cNvPr id="5" name="TextBox 4"/>
          <p:cNvSpPr txBox="1"/>
          <p:nvPr/>
        </p:nvSpPr>
        <p:spPr>
          <a:xfrm>
            <a:off x="944880" y="8992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Stock-changing operations require controlled business logic. A purchase should increase the</a:t>
            </a:r>
          </a:p>
        </p:txBody>
      </p:sp>
      <p:sp>
        <p:nvSpPr>
          <p:cNvPr id="6" name="TextBox 5"/>
          <p:cNvSpPr txBox="1"/>
          <p:nvPr/>
        </p:nvSpPr>
        <p:spPr>
          <a:xfrm>
            <a:off x="716280" y="10770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appropriate inventory quantity only after the transaction has passed validation. A sale should not</a:t>
            </a:r>
          </a:p>
        </p:txBody>
      </p:sp>
      <p:sp>
        <p:nvSpPr>
          <p:cNvPr id="7" name="TextBox 6"/>
          <p:cNvSpPr txBox="1"/>
          <p:nvPr/>
        </p:nvSpPr>
        <p:spPr>
          <a:xfrm>
            <a:off x="716280" y="1254810"/>
            <a:ext cx="2861310" cy="203301"/>
          </a:xfrm>
          <a:prstGeom prst="rect">
            <a:avLst/>
          </a:prstGeom>
          <a:noFill/>
        </p:spPr>
        <p:txBody>
          <a:bodyPr wrap="none" lIns="0" tIns="0" rIns="0" bIns="0" anchor="t">
            <a:spAutoFit/>
          </a:bodyPr>
          <a:lstStyle/>
          <a:p>
            <a:pPr algn="l"/>
            <a:r>
              <a:rPr sz="1200" b="0" i="0">
                <a:solidFill>
                  <a:srgbClr val="000000"/>
                </a:solidFill>
                <a:latin typeface="Times New Roman"/>
              </a:rPr>
              <a:t>reduce inventory below the permitted quantity.</a:t>
            </a:r>
          </a:p>
        </p:txBody>
      </p:sp>
      <p:sp>
        <p:nvSpPr>
          <p:cNvPr id="8" name="TextBox 7"/>
          <p:cNvSpPr txBox="1"/>
          <p:nvPr/>
        </p:nvSpPr>
        <p:spPr>
          <a:xfrm>
            <a:off x="944880" y="15088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The system should also consider duplicate submissions. If the same transaction can be submitted</a:t>
            </a:r>
          </a:p>
        </p:txBody>
      </p:sp>
      <p:sp>
        <p:nvSpPr>
          <p:cNvPr id="9" name="TextBox 8"/>
          <p:cNvSpPr txBox="1"/>
          <p:nvPr/>
        </p:nvSpPr>
        <p:spPr>
          <a:xfrm>
            <a:off x="716280" y="168661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more than once, an appropriate transaction identifier or other control should be considered in the</a:t>
            </a:r>
          </a:p>
        </p:txBody>
      </p:sp>
      <p:sp>
        <p:nvSpPr>
          <p:cNvPr id="10" name="TextBox 9"/>
          <p:cNvSpPr txBox="1"/>
          <p:nvPr/>
        </p:nvSpPr>
        <p:spPr>
          <a:xfrm>
            <a:off x="716280" y="1864410"/>
            <a:ext cx="1312316" cy="203301"/>
          </a:xfrm>
          <a:prstGeom prst="rect">
            <a:avLst/>
          </a:prstGeom>
          <a:noFill/>
        </p:spPr>
        <p:txBody>
          <a:bodyPr wrap="none" lIns="0" tIns="0" rIns="0" bIns="0" anchor="t">
            <a:spAutoFit/>
          </a:bodyPr>
          <a:lstStyle/>
          <a:p>
            <a:pPr algn="l"/>
            <a:r>
              <a:rPr sz="1200" b="0" i="0">
                <a:solidFill>
                  <a:srgbClr val="000000"/>
                </a:solidFill>
                <a:latin typeface="Times New Roman"/>
              </a:rPr>
              <a:t>final implementation.</a:t>
            </a:r>
          </a:p>
        </p:txBody>
      </p:sp>
      <p:sp>
        <p:nvSpPr>
          <p:cNvPr id="11" name="TextBox 10"/>
          <p:cNvSpPr txBox="1"/>
          <p:nvPr/>
        </p:nvSpPr>
        <p:spPr>
          <a:xfrm>
            <a:off x="1049246" y="22448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2" name="TextBox 11"/>
          <p:cNvSpPr txBox="1"/>
          <p:nvPr/>
        </p:nvSpPr>
        <p:spPr>
          <a:xfrm>
            <a:off x="3397730" y="22448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3" name="TextBox 12"/>
          <p:cNvSpPr txBox="1"/>
          <p:nvPr/>
        </p:nvSpPr>
        <p:spPr>
          <a:xfrm>
            <a:off x="5544728" y="22448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4" name="TextBox 13"/>
          <p:cNvSpPr txBox="1"/>
          <p:nvPr/>
        </p:nvSpPr>
        <p:spPr>
          <a:xfrm>
            <a:off x="744700" y="24850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5" name="TextBox 14"/>
          <p:cNvSpPr txBox="1"/>
          <p:nvPr/>
        </p:nvSpPr>
        <p:spPr>
          <a:xfrm>
            <a:off x="2573500" y="24850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6" name="TextBox 15"/>
          <p:cNvSpPr txBox="1"/>
          <p:nvPr/>
        </p:nvSpPr>
        <p:spPr>
          <a:xfrm>
            <a:off x="4768059" y="24850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7" name="TextBox 16"/>
          <p:cNvSpPr txBox="1"/>
          <p:nvPr/>
        </p:nvSpPr>
        <p:spPr>
          <a:xfrm>
            <a:off x="744700" y="27263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8" name="TextBox 17"/>
          <p:cNvSpPr txBox="1"/>
          <p:nvPr/>
        </p:nvSpPr>
        <p:spPr>
          <a:xfrm>
            <a:off x="2573500" y="27263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19" name="TextBox 18"/>
          <p:cNvSpPr txBox="1"/>
          <p:nvPr/>
        </p:nvSpPr>
        <p:spPr>
          <a:xfrm>
            <a:off x="4768059" y="27263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20" name="TextBox 19"/>
          <p:cNvSpPr txBox="1"/>
          <p:nvPr/>
        </p:nvSpPr>
        <p:spPr>
          <a:xfrm>
            <a:off x="744700" y="29676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21" name="TextBox 20"/>
          <p:cNvSpPr txBox="1"/>
          <p:nvPr/>
        </p:nvSpPr>
        <p:spPr>
          <a:xfrm>
            <a:off x="2573500" y="29676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2" name="TextBox 21"/>
          <p:cNvSpPr txBox="1"/>
          <p:nvPr/>
        </p:nvSpPr>
        <p:spPr>
          <a:xfrm>
            <a:off x="4768059" y="29676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48</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3071543" y="542746"/>
            <a:ext cx="1416913" cy="281432"/>
          </a:xfrm>
          <a:prstGeom prst="rect">
            <a:avLst/>
          </a:prstGeom>
          <a:noFill/>
        </p:spPr>
        <p:txBody>
          <a:bodyPr wrap="none" lIns="0" tIns="0" rIns="0" bIns="0" anchor="t">
            <a:spAutoFit/>
          </a:bodyPr>
          <a:lstStyle/>
          <a:p>
            <a:pPr algn="ctr"/>
            <a:r>
              <a:rPr sz="1600" b="1" i="0">
                <a:solidFill>
                  <a:srgbClr val="000000"/>
                </a:solidFill>
                <a:latin typeface="Times New Roman"/>
              </a:rPr>
              <a:t>I.3 Expiry Rules</a:t>
            </a:r>
          </a:p>
        </p:txBody>
      </p:sp>
      <p:sp>
        <p:nvSpPr>
          <p:cNvPr id="5" name="TextBox 4"/>
          <p:cNvSpPr txBox="1"/>
          <p:nvPr/>
        </p:nvSpPr>
        <p:spPr>
          <a:xfrm>
            <a:off x="944880" y="8992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Expiry monitoring depends on comparing the stored expiry date with the current date or a</a:t>
            </a:r>
          </a:p>
        </p:txBody>
      </p:sp>
      <p:sp>
        <p:nvSpPr>
          <p:cNvPr id="6" name="TextBox 5"/>
          <p:cNvSpPr txBox="1"/>
          <p:nvPr/>
        </p:nvSpPr>
        <p:spPr>
          <a:xfrm>
            <a:off x="716280" y="1077010"/>
            <a:ext cx="5497678" cy="203301"/>
          </a:xfrm>
          <a:prstGeom prst="rect">
            <a:avLst/>
          </a:prstGeom>
          <a:noFill/>
        </p:spPr>
        <p:txBody>
          <a:bodyPr wrap="none" lIns="0" tIns="0" rIns="0" bIns="0" anchor="t">
            <a:spAutoFit/>
          </a:bodyPr>
          <a:lstStyle/>
          <a:p>
            <a:pPr algn="ctr"/>
            <a:r>
              <a:rPr sz="1200" b="0" i="0">
                <a:solidFill>
                  <a:srgbClr val="000000"/>
                </a:solidFill>
                <a:latin typeface="Times New Roman"/>
              </a:rPr>
              <a:t>configured future window. Records approaching expiry can be returned for staff attention.</a:t>
            </a:r>
          </a:p>
        </p:txBody>
      </p:sp>
      <p:sp>
        <p:nvSpPr>
          <p:cNvPr id="7" name="TextBox 6"/>
          <p:cNvSpPr txBox="1"/>
          <p:nvPr/>
        </p:nvSpPr>
        <p:spPr>
          <a:xfrm>
            <a:off x="944880" y="13310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Expired records should be clearly distinguishable from near-expiry records. The application</a:t>
            </a:r>
          </a:p>
        </p:txBody>
      </p:sp>
      <p:sp>
        <p:nvSpPr>
          <p:cNvPr id="8" name="TextBox 7"/>
          <p:cNvSpPr txBox="1"/>
          <p:nvPr/>
        </p:nvSpPr>
        <p:spPr>
          <a:xfrm>
            <a:off x="716280" y="15088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should not silently treat an expired medicine as normal available stock without applying the business</a:t>
            </a:r>
          </a:p>
        </p:txBody>
      </p:sp>
      <p:sp>
        <p:nvSpPr>
          <p:cNvPr id="9" name="TextBox 8"/>
          <p:cNvSpPr txBox="1"/>
          <p:nvPr/>
        </p:nvSpPr>
        <p:spPr>
          <a:xfrm>
            <a:off x="716280" y="1686610"/>
            <a:ext cx="1730959" cy="203301"/>
          </a:xfrm>
          <a:prstGeom prst="rect">
            <a:avLst/>
          </a:prstGeom>
          <a:noFill/>
        </p:spPr>
        <p:txBody>
          <a:bodyPr wrap="none" lIns="0" tIns="0" rIns="0" bIns="0" anchor="t">
            <a:spAutoFit/>
          </a:bodyPr>
          <a:lstStyle/>
          <a:p>
            <a:pPr algn="l"/>
            <a:r>
              <a:rPr sz="1200" b="0" i="0">
                <a:solidFill>
                  <a:srgbClr val="000000"/>
                </a:solidFill>
                <a:latin typeface="Times New Roman"/>
              </a:rPr>
              <a:t>rules defined for the project.</a:t>
            </a:r>
          </a:p>
        </p:txBody>
      </p:sp>
      <p:sp>
        <p:nvSpPr>
          <p:cNvPr id="10" name="TextBox 9"/>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Expiry Monitoring – Additional Details</a:t>
            </a:r>
          </a:p>
          <a:p>
            <a:pPr algn="l">
              <a:lnSpc>
                <a:spcPct val="100000"/>
              </a:lnSpc>
              <a:spcBef>
                <a:spcPts val="0"/>
              </a:spcBef>
              <a:spcAft>
                <a:spcPts val="200"/>
              </a:spcAft>
            </a:pPr>
            <a:r>
              <a:rPr sz="1050" b="0">
                <a:solidFill>
                  <a:srgbClr val="000000"/>
                </a:solidFill>
                <a:latin typeface="Times New Roman"/>
              </a:rPr>
              <a:t>Expiry monitoring depends on reliable date information. The backend can compare a stored expiry date with the current date or with a configured warning window. Records can then be categorized as valid, approaching expiry, or expired according to the implemented rule.</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The monitoring logic should be consistent for all batches. Test data should include dates in different ranges so that the team can verify boundary conditions. The report should describe the actual rule implemented in the final code if it differs from this documented design.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49</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902277" y="542746"/>
            <a:ext cx="1755444" cy="281432"/>
          </a:xfrm>
          <a:prstGeom prst="rect">
            <a:avLst/>
          </a:prstGeom>
          <a:noFill/>
        </p:spPr>
        <p:txBody>
          <a:bodyPr wrap="none" lIns="0" tIns="0" rIns="0" bIns="0" anchor="t">
            <a:spAutoFit/>
          </a:bodyPr>
          <a:lstStyle/>
          <a:p>
            <a:pPr algn="ctr"/>
            <a:r>
              <a:rPr sz="1600" b="1" i="0">
                <a:solidFill>
                  <a:srgbClr val="000000"/>
                </a:solidFill>
                <a:latin typeface="Times New Roman"/>
              </a:rPr>
              <a:t>I.4 Low-Stock Rules</a:t>
            </a:r>
          </a:p>
        </p:txBody>
      </p:sp>
      <p:sp>
        <p:nvSpPr>
          <p:cNvPr id="5" name="TextBox 4"/>
          <p:cNvSpPr txBox="1"/>
          <p:nvPr/>
        </p:nvSpPr>
        <p:spPr>
          <a:xfrm>
            <a:off x="944880" y="8992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Low-stock monitoring can compare the current quantity against a configured threshold. The</a:t>
            </a:r>
          </a:p>
        </p:txBody>
      </p:sp>
      <p:sp>
        <p:nvSpPr>
          <p:cNvPr id="6" name="TextBox 5"/>
          <p:cNvSpPr txBox="1"/>
          <p:nvPr/>
        </p:nvSpPr>
        <p:spPr>
          <a:xfrm>
            <a:off x="716280" y="1077010"/>
            <a:ext cx="5515356" cy="203301"/>
          </a:xfrm>
          <a:prstGeom prst="rect">
            <a:avLst/>
          </a:prstGeom>
          <a:noFill/>
        </p:spPr>
        <p:txBody>
          <a:bodyPr wrap="none" lIns="0" tIns="0" rIns="0" bIns="0" anchor="t">
            <a:spAutoFit/>
          </a:bodyPr>
          <a:lstStyle/>
          <a:p>
            <a:pPr algn="ctr"/>
            <a:r>
              <a:rPr sz="1200" b="0" i="0">
                <a:solidFill>
                  <a:srgbClr val="000000"/>
                </a:solidFill>
                <a:latin typeface="Times New Roman"/>
              </a:rPr>
              <a:t>threshold may be defined globally or per medicine depending on the final implementation.</a:t>
            </a:r>
          </a:p>
        </p:txBody>
      </p:sp>
      <p:sp>
        <p:nvSpPr>
          <p:cNvPr id="7" name="TextBox 6"/>
          <p:cNvSpPr txBox="1"/>
          <p:nvPr/>
        </p:nvSpPr>
        <p:spPr>
          <a:xfrm>
            <a:off x="944880" y="13310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The purpose of this feature is to make replenishment needs visible. It should provide information</a:t>
            </a:r>
          </a:p>
        </p:txBody>
      </p:sp>
      <p:sp>
        <p:nvSpPr>
          <p:cNvPr id="8" name="TextBox 7"/>
          <p:cNvSpPr txBox="1"/>
          <p:nvPr/>
        </p:nvSpPr>
        <p:spPr>
          <a:xfrm>
            <a:off x="716280" y="150881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rather than automatically purchasing stock unless an automated procurement feature is explicitly</a:t>
            </a:r>
          </a:p>
        </p:txBody>
      </p:sp>
      <p:sp>
        <p:nvSpPr>
          <p:cNvPr id="9" name="TextBox 8"/>
          <p:cNvSpPr txBox="1"/>
          <p:nvPr/>
        </p:nvSpPr>
        <p:spPr>
          <a:xfrm>
            <a:off x="716280" y="1686610"/>
            <a:ext cx="833932" cy="203301"/>
          </a:xfrm>
          <a:prstGeom prst="rect">
            <a:avLst/>
          </a:prstGeom>
          <a:noFill/>
        </p:spPr>
        <p:txBody>
          <a:bodyPr wrap="none" lIns="0" tIns="0" rIns="0" bIns="0" anchor="t">
            <a:spAutoFit/>
          </a:bodyPr>
          <a:lstStyle/>
          <a:p>
            <a:pPr algn="l"/>
            <a:r>
              <a:rPr sz="1200" b="0" i="0">
                <a:solidFill>
                  <a:srgbClr val="000000"/>
                </a:solidFill>
                <a:latin typeface="Times New Roman"/>
              </a:rPr>
              <a:t>implemented.</a:t>
            </a:r>
          </a:p>
        </p:txBody>
      </p:sp>
      <p:sp>
        <p:nvSpPr>
          <p:cNvPr id="10" name="TextBox 9"/>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Low-Stock Monitoring – Additional Details</a:t>
            </a:r>
          </a:p>
          <a:p>
            <a:pPr algn="l">
              <a:lnSpc>
                <a:spcPct val="100000"/>
              </a:lnSpc>
              <a:spcBef>
                <a:spcPts val="0"/>
              </a:spcBef>
              <a:spcAft>
                <a:spcPts val="200"/>
              </a:spcAft>
            </a:pPr>
            <a:r>
              <a:rPr sz="1050" b="0">
                <a:solidFill>
                  <a:srgbClr val="000000"/>
                </a:solidFill>
                <a:latin typeface="Times New Roman"/>
              </a:rPr>
              <a:t>Low-stock monitoring provides a simple operational indicator for replenishment. The backend can compare the available quantity with a configured minimum threshold and return medicines that fall below the required level.</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The threshold should be defined consistently so that users do not receive different results for the same quantity. The monitoring query should be read-oriented and should not change stock values. In a future version, the same rule can support dashboard indicators or automated notifications.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50</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590012" y="542746"/>
            <a:ext cx="4379975" cy="281432"/>
          </a:xfrm>
          <a:prstGeom prst="rect">
            <a:avLst/>
          </a:prstGeom>
          <a:noFill/>
        </p:spPr>
        <p:txBody>
          <a:bodyPr wrap="none" lIns="0" tIns="0" rIns="0" bIns="0" anchor="t">
            <a:spAutoFit/>
          </a:bodyPr>
          <a:lstStyle/>
          <a:p>
            <a:pPr algn="ctr"/>
            <a:r>
              <a:rPr sz="1600" b="1" i="0">
                <a:solidFill>
                  <a:srgbClr val="000000"/>
                </a:solidFill>
                <a:latin typeface="Times New Roman"/>
              </a:rPr>
              <a:t>APPENDIX J – SECURITY DOCUMENTATION</a:t>
            </a:r>
          </a:p>
        </p:txBody>
      </p:sp>
      <p:sp>
        <p:nvSpPr>
          <p:cNvPr id="5" name="TextBox 4"/>
          <p:cNvSpPr txBox="1"/>
          <p:nvPr/>
        </p:nvSpPr>
        <p:spPr>
          <a:xfrm>
            <a:off x="716280" y="899464"/>
            <a:ext cx="1402664" cy="246252"/>
          </a:xfrm>
          <a:prstGeom prst="rect">
            <a:avLst/>
          </a:prstGeom>
          <a:noFill/>
        </p:spPr>
        <p:txBody>
          <a:bodyPr wrap="none" lIns="0" tIns="0" rIns="0" bIns="0" anchor="t">
            <a:spAutoFit/>
          </a:bodyPr>
          <a:lstStyle/>
          <a:p>
            <a:pPr algn="l"/>
            <a:r>
              <a:rPr sz="1400" b="1" i="0">
                <a:solidFill>
                  <a:srgbClr val="000000"/>
                </a:solidFill>
                <a:latin typeface="Times New Roman"/>
              </a:rPr>
              <a:t>J.1 Authentication</a:t>
            </a:r>
          </a:p>
        </p:txBody>
      </p:sp>
      <p:sp>
        <p:nvSpPr>
          <p:cNvPr id="6" name="TextBox 5"/>
          <p:cNvSpPr txBox="1"/>
          <p:nvPr/>
        </p:nvSpPr>
        <p:spPr>
          <a:xfrm>
            <a:off x="944880" y="11913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Authentication establishes the identity of the user making an API request. A production</a:t>
            </a:r>
          </a:p>
        </p:txBody>
      </p:sp>
      <p:sp>
        <p:nvSpPr>
          <p:cNvPr id="7" name="TextBox 6"/>
          <p:cNvSpPr txBox="1"/>
          <p:nvPr/>
        </p:nvSpPr>
        <p:spPr>
          <a:xfrm>
            <a:off x="716280" y="13691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implementation can use a suitable token or session mechanism, while credentials should be</a:t>
            </a:r>
          </a:p>
        </p:txBody>
      </p:sp>
      <p:sp>
        <p:nvSpPr>
          <p:cNvPr id="8" name="TextBox 7"/>
          <p:cNvSpPr txBox="1"/>
          <p:nvPr/>
        </p:nvSpPr>
        <p:spPr>
          <a:xfrm>
            <a:off x="716280" y="1546910"/>
            <a:ext cx="3072536" cy="203301"/>
          </a:xfrm>
          <a:prstGeom prst="rect">
            <a:avLst/>
          </a:prstGeom>
          <a:noFill/>
        </p:spPr>
        <p:txBody>
          <a:bodyPr wrap="none" lIns="0" tIns="0" rIns="0" bIns="0" anchor="t">
            <a:spAutoFit/>
          </a:bodyPr>
          <a:lstStyle/>
          <a:p>
            <a:pPr algn="l"/>
            <a:r>
              <a:rPr sz="1200" b="0" i="0">
                <a:solidFill>
                  <a:srgbClr val="000000"/>
                </a:solidFill>
                <a:latin typeface="Times New Roman"/>
              </a:rPr>
              <a:t>protected using secure password storage practices.</a:t>
            </a:r>
          </a:p>
        </p:txBody>
      </p:sp>
      <p:sp>
        <p:nvSpPr>
          <p:cNvPr id="9" name="TextBox 8"/>
          <p:cNvSpPr txBox="1"/>
          <p:nvPr/>
        </p:nvSpPr>
        <p:spPr>
          <a:xfrm>
            <a:off x="944880" y="18009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Authentication should be applied before protected operations are executed. Public endpoints, if</a:t>
            </a:r>
          </a:p>
        </p:txBody>
      </p:sp>
      <p:sp>
        <p:nvSpPr>
          <p:cNvPr id="10" name="TextBox 9"/>
          <p:cNvSpPr txBox="1"/>
          <p:nvPr/>
        </p:nvSpPr>
        <p:spPr>
          <a:xfrm>
            <a:off x="716280" y="1978710"/>
            <a:ext cx="4308653" cy="203301"/>
          </a:xfrm>
          <a:prstGeom prst="rect">
            <a:avLst/>
          </a:prstGeom>
          <a:noFill/>
        </p:spPr>
        <p:txBody>
          <a:bodyPr wrap="none" lIns="0" tIns="0" rIns="0" bIns="0" anchor="t">
            <a:spAutoFit/>
          </a:bodyPr>
          <a:lstStyle/>
          <a:p>
            <a:pPr algn="l"/>
            <a:r>
              <a:rPr sz="1200" b="0" i="0">
                <a:solidFill>
                  <a:srgbClr val="000000"/>
                </a:solidFill>
                <a:latin typeface="Times New Roman"/>
              </a:rPr>
              <a:t>any, should be deliberately identified rather than exposed accidentally.</a:t>
            </a:r>
          </a:p>
        </p:txBody>
      </p:sp>
      <p:sp>
        <p:nvSpPr>
          <p:cNvPr id="11" name="TextBox 10"/>
          <p:cNvSpPr txBox="1"/>
          <p:nvPr/>
        </p:nvSpPr>
        <p:spPr>
          <a:xfrm>
            <a:off x="1049246" y="23591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2" name="TextBox 11"/>
          <p:cNvSpPr txBox="1"/>
          <p:nvPr/>
        </p:nvSpPr>
        <p:spPr>
          <a:xfrm>
            <a:off x="3397730" y="23591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3" name="TextBox 12"/>
          <p:cNvSpPr txBox="1"/>
          <p:nvPr/>
        </p:nvSpPr>
        <p:spPr>
          <a:xfrm>
            <a:off x="5544728" y="23591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4" name="TextBox 13"/>
          <p:cNvSpPr txBox="1"/>
          <p:nvPr/>
        </p:nvSpPr>
        <p:spPr>
          <a:xfrm>
            <a:off x="744700" y="25993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5" name="TextBox 14"/>
          <p:cNvSpPr txBox="1"/>
          <p:nvPr/>
        </p:nvSpPr>
        <p:spPr>
          <a:xfrm>
            <a:off x="2573500" y="25993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6" name="TextBox 15"/>
          <p:cNvSpPr txBox="1"/>
          <p:nvPr/>
        </p:nvSpPr>
        <p:spPr>
          <a:xfrm>
            <a:off x="4768059" y="25993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7" name="TextBox 16"/>
          <p:cNvSpPr txBox="1"/>
          <p:nvPr/>
        </p:nvSpPr>
        <p:spPr>
          <a:xfrm>
            <a:off x="744700" y="28406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8" name="TextBox 17"/>
          <p:cNvSpPr txBox="1"/>
          <p:nvPr/>
        </p:nvSpPr>
        <p:spPr>
          <a:xfrm>
            <a:off x="2573500" y="28406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19" name="TextBox 18"/>
          <p:cNvSpPr txBox="1"/>
          <p:nvPr/>
        </p:nvSpPr>
        <p:spPr>
          <a:xfrm>
            <a:off x="4768059" y="28406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20" name="TextBox 19"/>
          <p:cNvSpPr txBox="1"/>
          <p:nvPr/>
        </p:nvSpPr>
        <p:spPr>
          <a:xfrm>
            <a:off x="744700" y="30819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21" name="TextBox 20"/>
          <p:cNvSpPr txBox="1"/>
          <p:nvPr/>
        </p:nvSpPr>
        <p:spPr>
          <a:xfrm>
            <a:off x="2573500" y="30819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2" name="TextBox 21"/>
          <p:cNvSpPr txBox="1"/>
          <p:nvPr/>
        </p:nvSpPr>
        <p:spPr>
          <a:xfrm>
            <a:off x="4768059" y="30819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51</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566387" y="542746"/>
            <a:ext cx="2427223" cy="281432"/>
          </a:xfrm>
          <a:prstGeom prst="rect">
            <a:avLst/>
          </a:prstGeom>
          <a:noFill/>
        </p:spPr>
        <p:txBody>
          <a:bodyPr wrap="none" lIns="0" tIns="0" rIns="0" bIns="0" anchor="t">
            <a:spAutoFit/>
          </a:bodyPr>
          <a:lstStyle/>
          <a:p>
            <a:pPr algn="ctr"/>
            <a:r>
              <a:rPr sz="1600" b="1" i="0">
                <a:solidFill>
                  <a:srgbClr val="000000"/>
                </a:solidFill>
                <a:latin typeface="Times New Roman"/>
              </a:rPr>
              <a:t>J.2 Authorization and Roles</a:t>
            </a:r>
          </a:p>
        </p:txBody>
      </p:sp>
      <p:sp>
        <p:nvSpPr>
          <p:cNvPr id="5" name="TextBox 4"/>
          <p:cNvSpPr txBox="1"/>
          <p:nvPr/>
        </p:nvSpPr>
        <p:spPr>
          <a:xfrm>
            <a:off x="944880" y="8992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Authorization determines what an authenticated user is permitted to do. Administrative functions</a:t>
            </a:r>
          </a:p>
        </p:txBody>
      </p:sp>
      <p:sp>
        <p:nvSpPr>
          <p:cNvPr id="6" name="TextBox 5"/>
          <p:cNvSpPr txBox="1"/>
          <p:nvPr/>
        </p:nvSpPr>
        <p:spPr>
          <a:xfrm>
            <a:off x="716280" y="1077010"/>
            <a:ext cx="5866942" cy="203301"/>
          </a:xfrm>
          <a:prstGeom prst="rect">
            <a:avLst/>
          </a:prstGeom>
          <a:noFill/>
        </p:spPr>
        <p:txBody>
          <a:bodyPr wrap="none" lIns="0" tIns="0" rIns="0" bIns="0" anchor="t">
            <a:spAutoFit/>
          </a:bodyPr>
          <a:lstStyle/>
          <a:p>
            <a:pPr algn="ctr"/>
            <a:r>
              <a:rPr sz="1200" b="0" i="0">
                <a:solidFill>
                  <a:srgbClr val="000000"/>
                </a:solidFill>
                <a:latin typeface="Times New Roman"/>
              </a:rPr>
              <a:t>such as deleting records or modifying sensitive configuration should be limited to suitable roles.</a:t>
            </a:r>
          </a:p>
        </p:txBody>
      </p:sp>
      <p:sp>
        <p:nvSpPr>
          <p:cNvPr id="7" name="TextBox 6"/>
          <p:cNvSpPr txBox="1"/>
          <p:nvPr/>
        </p:nvSpPr>
        <p:spPr>
          <a:xfrm>
            <a:off x="944880" y="13310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Role definitions should be documented so that developers and reviewers understand why a</a:t>
            </a:r>
          </a:p>
        </p:txBody>
      </p:sp>
      <p:sp>
        <p:nvSpPr>
          <p:cNvPr id="8" name="TextBox 7"/>
          <p:cNvSpPr txBox="1"/>
          <p:nvPr/>
        </p:nvSpPr>
        <p:spPr>
          <a:xfrm>
            <a:off x="716280" y="150881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particular endpoint is protected. Future versions can add more detailed permissions as the number of</a:t>
            </a:r>
          </a:p>
        </p:txBody>
      </p:sp>
      <p:sp>
        <p:nvSpPr>
          <p:cNvPr id="9" name="TextBox 8"/>
          <p:cNvSpPr txBox="1"/>
          <p:nvPr/>
        </p:nvSpPr>
        <p:spPr>
          <a:xfrm>
            <a:off x="716280" y="1686610"/>
            <a:ext cx="1544574" cy="203301"/>
          </a:xfrm>
          <a:prstGeom prst="rect">
            <a:avLst/>
          </a:prstGeom>
          <a:noFill/>
        </p:spPr>
        <p:txBody>
          <a:bodyPr wrap="none" lIns="0" tIns="0" rIns="0" bIns="0" anchor="t">
            <a:spAutoFit/>
          </a:bodyPr>
          <a:lstStyle/>
          <a:p>
            <a:pPr algn="l"/>
            <a:r>
              <a:rPr sz="1200" b="0" i="0">
                <a:solidFill>
                  <a:srgbClr val="000000"/>
                </a:solidFill>
                <a:latin typeface="Times New Roman"/>
              </a:rPr>
              <a:t>user categories increases.</a:t>
            </a:r>
          </a:p>
        </p:txBody>
      </p:sp>
      <p:sp>
        <p:nvSpPr>
          <p:cNvPr id="10" name="TextBox 9"/>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Authorization and Roles – Additional Details</a:t>
            </a:r>
          </a:p>
          <a:p>
            <a:pPr algn="l">
              <a:lnSpc>
                <a:spcPct val="100000"/>
              </a:lnSpc>
              <a:spcBef>
                <a:spcPts val="0"/>
              </a:spcBef>
              <a:spcAft>
                <a:spcPts val="200"/>
              </a:spcAft>
            </a:pPr>
            <a:r>
              <a:rPr sz="1050" b="0">
                <a:solidFill>
                  <a:srgbClr val="000000"/>
                </a:solidFill>
                <a:latin typeface="Times New Roman"/>
              </a:rPr>
              <a:t>Authorization should be based on the permissions associated with the authenticated user. Administrative users may manage core records and sensitive operations, while other authorized staff may receive a more limited set of permissions.</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Role checks should be performed on protected routes before the request reaches the business operation. This prevents a user from bypassing the interface and directly calling a restricted API endpoint. The exact roles should be updated in the report to match the final implementation.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52</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942003" y="542746"/>
            <a:ext cx="1675993" cy="281432"/>
          </a:xfrm>
          <a:prstGeom prst="rect">
            <a:avLst/>
          </a:prstGeom>
          <a:noFill/>
        </p:spPr>
        <p:txBody>
          <a:bodyPr wrap="none" lIns="0" tIns="0" rIns="0" bIns="0" anchor="t">
            <a:spAutoFit/>
          </a:bodyPr>
          <a:lstStyle/>
          <a:p>
            <a:pPr algn="ctr"/>
            <a:r>
              <a:rPr sz="1600" b="1" i="0">
                <a:solidFill>
                  <a:srgbClr val="000000"/>
                </a:solidFill>
                <a:latin typeface="Times New Roman"/>
              </a:rPr>
              <a:t>J.3 Data Protection</a:t>
            </a:r>
          </a:p>
        </p:txBody>
      </p:sp>
      <p:sp>
        <p:nvSpPr>
          <p:cNvPr id="5" name="TextBox 4"/>
          <p:cNvSpPr txBox="1"/>
          <p:nvPr/>
        </p:nvSpPr>
        <p:spPr>
          <a:xfrm>
            <a:off x="944880" y="8992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Database connection strings, authentication secrets, and other sensitive configuration values</a:t>
            </a:r>
          </a:p>
        </p:txBody>
      </p:sp>
      <p:sp>
        <p:nvSpPr>
          <p:cNvPr id="6" name="TextBox 5"/>
          <p:cNvSpPr txBox="1"/>
          <p:nvPr/>
        </p:nvSpPr>
        <p:spPr>
          <a:xfrm>
            <a:off x="716280" y="1077010"/>
            <a:ext cx="6127440" cy="203301"/>
          </a:xfrm>
          <a:prstGeom prst="rect">
            <a:avLst/>
          </a:prstGeom>
          <a:noFill/>
        </p:spPr>
        <p:txBody>
          <a:bodyPr wrap="none" lIns="0" tIns="0" rIns="0" bIns="0" anchor="t">
            <a:spAutoFit/>
          </a:bodyPr>
          <a:lstStyle/>
          <a:p>
            <a:pPr algn="ctr"/>
            <a:r>
              <a:rPr sz="1200" b="0" i="0">
                <a:solidFill>
                  <a:srgbClr val="000000"/>
                </a:solidFill>
                <a:latin typeface="Times New Roman"/>
              </a:rPr>
              <a:t>should be stored outside the source code. Environment variables are a common mechanism for</a:t>
            </a:r>
          </a:p>
        </p:txBody>
      </p:sp>
      <p:sp>
        <p:nvSpPr>
          <p:cNvPr id="7" name="TextBox 6"/>
          <p:cNvSpPr txBox="1"/>
          <p:nvPr/>
        </p:nvSpPr>
        <p:spPr>
          <a:xfrm>
            <a:off x="716280" y="1254810"/>
            <a:ext cx="2505913" cy="203301"/>
          </a:xfrm>
          <a:prstGeom prst="rect">
            <a:avLst/>
          </a:prstGeom>
          <a:noFill/>
        </p:spPr>
        <p:txBody>
          <a:bodyPr wrap="none" lIns="0" tIns="0" rIns="0" bIns="0" anchor="t">
            <a:spAutoFit/>
          </a:bodyPr>
          <a:lstStyle/>
          <a:p>
            <a:pPr algn="l"/>
            <a:r>
              <a:rPr sz="1200" b="0" i="0">
                <a:solidFill>
                  <a:srgbClr val="000000"/>
                </a:solidFill>
                <a:latin typeface="Times New Roman"/>
              </a:rPr>
              <a:t>providing these values to the application.</a:t>
            </a:r>
          </a:p>
        </p:txBody>
      </p:sp>
      <p:sp>
        <p:nvSpPr>
          <p:cNvPr id="8" name="TextBox 7"/>
          <p:cNvSpPr txBox="1"/>
          <p:nvPr/>
        </p:nvSpPr>
        <p:spPr>
          <a:xfrm>
            <a:off x="944880" y="15088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Production deployment should restrict database network access, use encrypted communication</a:t>
            </a:r>
          </a:p>
        </p:txBody>
      </p:sp>
      <p:sp>
        <p:nvSpPr>
          <p:cNvPr id="9" name="TextBox 8"/>
          <p:cNvSpPr txBox="1"/>
          <p:nvPr/>
        </p:nvSpPr>
        <p:spPr>
          <a:xfrm>
            <a:off x="716280" y="1686610"/>
            <a:ext cx="3859682" cy="203301"/>
          </a:xfrm>
          <a:prstGeom prst="rect">
            <a:avLst/>
          </a:prstGeom>
          <a:noFill/>
        </p:spPr>
        <p:txBody>
          <a:bodyPr wrap="none" lIns="0" tIns="0" rIns="0" bIns="0" anchor="t">
            <a:spAutoFit/>
          </a:bodyPr>
          <a:lstStyle/>
          <a:p>
            <a:pPr algn="l"/>
            <a:r>
              <a:rPr sz="1200" b="0" i="0">
                <a:solidFill>
                  <a:srgbClr val="000000"/>
                </a:solidFill>
                <a:latin typeface="Times New Roman"/>
              </a:rPr>
              <a:t>where applicable, and maintain appropriate backup procedures.</a:t>
            </a:r>
          </a:p>
        </p:txBody>
      </p:sp>
      <p:sp>
        <p:nvSpPr>
          <p:cNvPr id="10" name="TextBox 9"/>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Data Protection – Additional Details</a:t>
            </a:r>
          </a:p>
          <a:p>
            <a:pPr algn="l">
              <a:lnSpc>
                <a:spcPct val="100000"/>
              </a:lnSpc>
              <a:spcBef>
                <a:spcPts val="0"/>
              </a:spcBef>
              <a:spcAft>
                <a:spcPts val="200"/>
              </a:spcAft>
            </a:pPr>
            <a:r>
              <a:rPr sz="1050" b="0">
                <a:solidFill>
                  <a:srgbClr val="000000"/>
                </a:solidFill>
                <a:latin typeface="Times New Roman"/>
              </a:rPr>
              <a:t>Sensitive configuration should remain outside the source code. Database connection strings, authentication secrets, and other private values should be supplied through environment variables and protected configuration.</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The application should also avoid returning unnecessary sensitive information in API responses or logs. Database access should be restricted, credentials should be protected, and production deployments should use appropriate transport security. These practices reduce the risk of accidental exposure while keeping configuration manageable across development and deployment environments.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53</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035731" y="542746"/>
            <a:ext cx="3488537" cy="281432"/>
          </a:xfrm>
          <a:prstGeom prst="rect">
            <a:avLst/>
          </a:prstGeom>
          <a:noFill/>
        </p:spPr>
        <p:txBody>
          <a:bodyPr wrap="none" lIns="0" tIns="0" rIns="0" bIns="0" anchor="t">
            <a:spAutoFit/>
          </a:bodyPr>
          <a:lstStyle/>
          <a:p>
            <a:pPr algn="ctr"/>
            <a:r>
              <a:rPr sz="1600" b="1" i="0">
                <a:solidFill>
                  <a:srgbClr val="000000"/>
                </a:solidFill>
                <a:latin typeface="Times New Roman"/>
              </a:rPr>
              <a:t>APPENDIX K – TESTING EVIDENCE</a:t>
            </a:r>
          </a:p>
        </p:txBody>
      </p:sp>
      <p:sp>
        <p:nvSpPr>
          <p:cNvPr id="5" name="TextBox 4"/>
          <p:cNvSpPr txBox="1"/>
          <p:nvPr/>
        </p:nvSpPr>
        <p:spPr>
          <a:xfrm>
            <a:off x="716280" y="899464"/>
            <a:ext cx="2084171" cy="246252"/>
          </a:xfrm>
          <a:prstGeom prst="rect">
            <a:avLst/>
          </a:prstGeom>
          <a:noFill/>
        </p:spPr>
        <p:txBody>
          <a:bodyPr wrap="none" lIns="0" tIns="0" rIns="0" bIns="0" anchor="t">
            <a:spAutoFit/>
          </a:bodyPr>
          <a:lstStyle/>
          <a:p>
            <a:pPr algn="l"/>
            <a:r>
              <a:rPr sz="1400" b="1" i="0">
                <a:solidFill>
                  <a:srgbClr val="000000"/>
                </a:solidFill>
                <a:latin typeface="Times New Roman"/>
              </a:rPr>
              <a:t>K.1 Functional Test Matrix</a:t>
            </a:r>
          </a:p>
        </p:txBody>
      </p:sp>
      <p:sp>
        <p:nvSpPr>
          <p:cNvPr id="6" name="TextBox 5"/>
          <p:cNvSpPr txBox="1"/>
          <p:nvPr/>
        </p:nvSpPr>
        <p:spPr>
          <a:xfrm>
            <a:off x="944880" y="11913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Functional testing checks whether each feature performs its intended operation. The medicine,</a:t>
            </a:r>
          </a:p>
        </p:txBody>
      </p:sp>
      <p:sp>
        <p:nvSpPr>
          <p:cNvPr id="7" name="TextBox 6"/>
          <p:cNvSpPr txBox="1"/>
          <p:nvPr/>
        </p:nvSpPr>
        <p:spPr>
          <a:xfrm>
            <a:off x="716280" y="13691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supplier, batch, purchase, sales, stock, and monitoring functions should each have at least one</a:t>
            </a:r>
          </a:p>
        </p:txBody>
      </p:sp>
      <p:sp>
        <p:nvSpPr>
          <p:cNvPr id="8" name="TextBox 7"/>
          <p:cNvSpPr txBox="1"/>
          <p:nvPr/>
        </p:nvSpPr>
        <p:spPr>
          <a:xfrm>
            <a:off x="716280" y="1546910"/>
            <a:ext cx="2776728" cy="203301"/>
          </a:xfrm>
          <a:prstGeom prst="rect">
            <a:avLst/>
          </a:prstGeom>
          <a:noFill/>
        </p:spPr>
        <p:txBody>
          <a:bodyPr wrap="none" lIns="0" tIns="0" rIns="0" bIns="0" anchor="t">
            <a:spAutoFit/>
          </a:bodyPr>
          <a:lstStyle/>
          <a:p>
            <a:pPr algn="l"/>
            <a:r>
              <a:rPr sz="1200" b="0" i="0">
                <a:solidFill>
                  <a:srgbClr val="000000"/>
                </a:solidFill>
                <a:latin typeface="Times New Roman"/>
              </a:rPr>
              <a:t>successful test and several invalid-input tests.</a:t>
            </a:r>
          </a:p>
        </p:txBody>
      </p:sp>
      <p:sp>
        <p:nvSpPr>
          <p:cNvPr id="9" name="TextBox 8"/>
          <p:cNvSpPr txBox="1"/>
          <p:nvPr/>
        </p:nvSpPr>
        <p:spPr>
          <a:xfrm>
            <a:off x="944880" y="18009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Testing evidence should include the request used, the response received, and where appropriate</a:t>
            </a:r>
          </a:p>
        </p:txBody>
      </p:sp>
      <p:sp>
        <p:nvSpPr>
          <p:cNvPr id="10" name="TextBox 9"/>
          <p:cNvSpPr txBox="1"/>
          <p:nvPr/>
        </p:nvSpPr>
        <p:spPr>
          <a:xfrm>
            <a:off x="716280" y="1978710"/>
            <a:ext cx="2124456" cy="203301"/>
          </a:xfrm>
          <a:prstGeom prst="rect">
            <a:avLst/>
          </a:prstGeom>
          <a:noFill/>
        </p:spPr>
        <p:txBody>
          <a:bodyPr wrap="none" lIns="0" tIns="0" rIns="0" bIns="0" anchor="t">
            <a:spAutoFit/>
          </a:bodyPr>
          <a:lstStyle/>
          <a:p>
            <a:pPr algn="l"/>
            <a:r>
              <a:rPr sz="1200" b="0" i="0">
                <a:solidFill>
                  <a:srgbClr val="000000"/>
                </a:solidFill>
                <a:latin typeface="Times New Roman"/>
              </a:rPr>
              <a:t>the database state after the request.</a:t>
            </a:r>
          </a:p>
        </p:txBody>
      </p:sp>
      <p:sp>
        <p:nvSpPr>
          <p:cNvPr id="11" name="TextBox 10"/>
          <p:cNvSpPr txBox="1"/>
          <p:nvPr/>
        </p:nvSpPr>
        <p:spPr>
          <a:xfrm>
            <a:off x="1049246" y="23591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2" name="TextBox 11"/>
          <p:cNvSpPr txBox="1"/>
          <p:nvPr/>
        </p:nvSpPr>
        <p:spPr>
          <a:xfrm>
            <a:off x="3397730" y="23591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3" name="TextBox 12"/>
          <p:cNvSpPr txBox="1"/>
          <p:nvPr/>
        </p:nvSpPr>
        <p:spPr>
          <a:xfrm>
            <a:off x="5544728" y="23591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4" name="TextBox 13"/>
          <p:cNvSpPr txBox="1"/>
          <p:nvPr/>
        </p:nvSpPr>
        <p:spPr>
          <a:xfrm>
            <a:off x="744700" y="25993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5" name="TextBox 14"/>
          <p:cNvSpPr txBox="1"/>
          <p:nvPr/>
        </p:nvSpPr>
        <p:spPr>
          <a:xfrm>
            <a:off x="2573500" y="25993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6" name="TextBox 15"/>
          <p:cNvSpPr txBox="1"/>
          <p:nvPr/>
        </p:nvSpPr>
        <p:spPr>
          <a:xfrm>
            <a:off x="4768059" y="25993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7" name="TextBox 16"/>
          <p:cNvSpPr txBox="1"/>
          <p:nvPr/>
        </p:nvSpPr>
        <p:spPr>
          <a:xfrm>
            <a:off x="744700" y="28406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8" name="TextBox 17"/>
          <p:cNvSpPr txBox="1"/>
          <p:nvPr/>
        </p:nvSpPr>
        <p:spPr>
          <a:xfrm>
            <a:off x="2573500" y="28406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19" name="TextBox 18"/>
          <p:cNvSpPr txBox="1"/>
          <p:nvPr/>
        </p:nvSpPr>
        <p:spPr>
          <a:xfrm>
            <a:off x="4768059" y="28406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20" name="TextBox 19"/>
          <p:cNvSpPr txBox="1"/>
          <p:nvPr/>
        </p:nvSpPr>
        <p:spPr>
          <a:xfrm>
            <a:off x="744700" y="30819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21" name="TextBox 20"/>
          <p:cNvSpPr txBox="1"/>
          <p:nvPr/>
        </p:nvSpPr>
        <p:spPr>
          <a:xfrm>
            <a:off x="2573500" y="30819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2" name="TextBox 21"/>
          <p:cNvSpPr txBox="1"/>
          <p:nvPr/>
        </p:nvSpPr>
        <p:spPr>
          <a:xfrm>
            <a:off x="4768059" y="30819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54</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874134" y="542746"/>
            <a:ext cx="1811730" cy="281432"/>
          </a:xfrm>
          <a:prstGeom prst="rect">
            <a:avLst/>
          </a:prstGeom>
          <a:noFill/>
        </p:spPr>
        <p:txBody>
          <a:bodyPr wrap="none" lIns="0" tIns="0" rIns="0" bIns="0" anchor="t">
            <a:spAutoFit/>
          </a:bodyPr>
          <a:lstStyle/>
          <a:p>
            <a:pPr algn="ctr"/>
            <a:r>
              <a:rPr sz="1600" b="1" i="0">
                <a:solidFill>
                  <a:srgbClr val="000000"/>
                </a:solidFill>
                <a:latin typeface="Times New Roman"/>
              </a:rPr>
              <a:t>K.2 Negative Testing</a:t>
            </a:r>
          </a:p>
        </p:txBody>
      </p:sp>
      <p:sp>
        <p:nvSpPr>
          <p:cNvPr id="5" name="TextBox 4"/>
          <p:cNvSpPr txBox="1"/>
          <p:nvPr/>
        </p:nvSpPr>
        <p:spPr>
          <a:xfrm>
            <a:off x="944880" y="8992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Negative testing deliberately submits invalid information to confirm that the backend rejects</a:t>
            </a:r>
          </a:p>
        </p:txBody>
      </p:sp>
      <p:sp>
        <p:nvSpPr>
          <p:cNvPr id="6" name="TextBox 5"/>
          <p:cNvSpPr txBox="1"/>
          <p:nvPr/>
        </p:nvSpPr>
        <p:spPr>
          <a:xfrm>
            <a:off x="716280" y="10770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unsafe or incomplete requests. Examples include missing required fields, invalid identifiers,</a:t>
            </a:r>
          </a:p>
        </p:txBody>
      </p:sp>
      <p:sp>
        <p:nvSpPr>
          <p:cNvPr id="7" name="TextBox 6"/>
          <p:cNvSpPr txBox="1"/>
          <p:nvPr/>
        </p:nvSpPr>
        <p:spPr>
          <a:xfrm>
            <a:off x="716280" y="1254810"/>
            <a:ext cx="3669792" cy="203301"/>
          </a:xfrm>
          <a:prstGeom prst="rect">
            <a:avLst/>
          </a:prstGeom>
          <a:noFill/>
        </p:spPr>
        <p:txBody>
          <a:bodyPr wrap="none" lIns="0" tIns="0" rIns="0" bIns="0" anchor="t">
            <a:spAutoFit/>
          </a:bodyPr>
          <a:lstStyle/>
          <a:p>
            <a:pPr algn="l"/>
            <a:r>
              <a:rPr sz="1200" b="0" i="0">
                <a:solidFill>
                  <a:srgbClr val="000000"/>
                </a:solidFill>
                <a:latin typeface="Times New Roman"/>
              </a:rPr>
              <a:t>negative quantities, malformed dates, and insufficient stock.</a:t>
            </a:r>
          </a:p>
        </p:txBody>
      </p:sp>
      <p:sp>
        <p:nvSpPr>
          <p:cNvPr id="8" name="TextBox 7"/>
          <p:cNvSpPr txBox="1"/>
          <p:nvPr/>
        </p:nvSpPr>
        <p:spPr>
          <a:xfrm>
            <a:off x="944880" y="15088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Negative testing is important because a system that works only for valid input may still corrupt</a:t>
            </a:r>
          </a:p>
        </p:txBody>
      </p:sp>
      <p:sp>
        <p:nvSpPr>
          <p:cNvPr id="9" name="TextBox 8"/>
          <p:cNvSpPr txBox="1"/>
          <p:nvPr/>
        </p:nvSpPr>
        <p:spPr>
          <a:xfrm>
            <a:off x="716280" y="1686610"/>
            <a:ext cx="2746553" cy="203301"/>
          </a:xfrm>
          <a:prstGeom prst="rect">
            <a:avLst/>
          </a:prstGeom>
          <a:noFill/>
        </p:spPr>
        <p:txBody>
          <a:bodyPr wrap="none" lIns="0" tIns="0" rIns="0" bIns="0" anchor="t">
            <a:spAutoFit/>
          </a:bodyPr>
          <a:lstStyle/>
          <a:p>
            <a:pPr algn="l"/>
            <a:r>
              <a:rPr sz="1200" b="0" i="0">
                <a:solidFill>
                  <a:srgbClr val="000000"/>
                </a:solidFill>
                <a:latin typeface="Times New Roman"/>
              </a:rPr>
              <a:t>data when an unexpected request is received.</a:t>
            </a:r>
          </a:p>
        </p:txBody>
      </p:sp>
      <p:sp>
        <p:nvSpPr>
          <p:cNvPr id="10" name="TextBox 9"/>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Negative Testing – Additional Details</a:t>
            </a:r>
          </a:p>
          <a:p>
            <a:pPr algn="l">
              <a:lnSpc>
                <a:spcPct val="100000"/>
              </a:lnSpc>
              <a:spcBef>
                <a:spcPts val="0"/>
              </a:spcBef>
              <a:spcAft>
                <a:spcPts val="200"/>
              </a:spcAft>
            </a:pPr>
            <a:r>
              <a:rPr sz="1050" b="0">
                <a:solidFill>
                  <a:srgbClr val="000000"/>
                </a:solidFill>
                <a:latin typeface="Times New Roman"/>
              </a:rPr>
              <a:t>Negative tests deliberately send incorrect or incomplete requests to verify that the backend fails safely. Examples include missing required fields, invalid identifiers, insufficient stock, invalid dates, malformed JSON, unauthorized requests, and requests for resources that do not exist.</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A useful negative test should record the input condition, expected status code, actual response, and whether the database remained unchanged when the operation was rejected. This evidence helps demonstrate that validation and error handling protect the inventory data.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55</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476167" y="542746"/>
            <a:ext cx="2607665" cy="281432"/>
          </a:xfrm>
          <a:prstGeom prst="rect">
            <a:avLst/>
          </a:prstGeom>
          <a:noFill/>
        </p:spPr>
        <p:txBody>
          <a:bodyPr wrap="none" lIns="0" tIns="0" rIns="0" bIns="0" anchor="t">
            <a:spAutoFit/>
          </a:bodyPr>
          <a:lstStyle/>
          <a:p>
            <a:pPr algn="ctr"/>
            <a:r>
              <a:rPr sz="1600" b="1" i="0">
                <a:solidFill>
                  <a:srgbClr val="000000"/>
                </a:solidFill>
                <a:latin typeface="Times New Roman"/>
              </a:rPr>
              <a:t>K.3 Integration Test Evidence</a:t>
            </a:r>
          </a:p>
        </p:txBody>
      </p:sp>
      <p:sp>
        <p:nvSpPr>
          <p:cNvPr id="5" name="TextBox 4"/>
          <p:cNvSpPr txBox="1"/>
          <p:nvPr/>
        </p:nvSpPr>
        <p:spPr>
          <a:xfrm>
            <a:off x="944880" y="8992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Integration tests should verify relationships between modules. A purchase should be linked to</a:t>
            </a:r>
          </a:p>
        </p:txBody>
      </p:sp>
      <p:sp>
        <p:nvSpPr>
          <p:cNvPr id="6" name="TextBox 5"/>
          <p:cNvSpPr txBox="1"/>
          <p:nvPr/>
        </p:nvSpPr>
        <p:spPr>
          <a:xfrm>
            <a:off x="716280" y="1077010"/>
            <a:ext cx="5700675" cy="203301"/>
          </a:xfrm>
          <a:prstGeom prst="rect">
            <a:avLst/>
          </a:prstGeom>
          <a:noFill/>
        </p:spPr>
        <p:txBody>
          <a:bodyPr wrap="none" lIns="0" tIns="0" rIns="0" bIns="0" anchor="t">
            <a:spAutoFit/>
          </a:bodyPr>
          <a:lstStyle/>
          <a:p>
            <a:pPr algn="ctr"/>
            <a:r>
              <a:rPr sz="1200" b="0" i="0">
                <a:solidFill>
                  <a:srgbClr val="000000"/>
                </a:solidFill>
                <a:latin typeface="Times New Roman"/>
              </a:rPr>
              <a:t>the correct supplier and medicine or batch, while a sale should affect the correct stock record.</a:t>
            </a:r>
          </a:p>
        </p:txBody>
      </p:sp>
      <p:sp>
        <p:nvSpPr>
          <p:cNvPr id="7" name="TextBox 6"/>
          <p:cNvSpPr txBox="1"/>
          <p:nvPr/>
        </p:nvSpPr>
        <p:spPr>
          <a:xfrm>
            <a:off x="944880" y="13310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Expiry and low-stock queries should be tested using controlled records so that the expected</a:t>
            </a:r>
          </a:p>
        </p:txBody>
      </p:sp>
      <p:sp>
        <p:nvSpPr>
          <p:cNvPr id="8" name="TextBox 7"/>
          <p:cNvSpPr txBox="1"/>
          <p:nvPr/>
        </p:nvSpPr>
        <p:spPr>
          <a:xfrm>
            <a:off x="716280" y="1508810"/>
            <a:ext cx="2954121" cy="203301"/>
          </a:xfrm>
          <a:prstGeom prst="rect">
            <a:avLst/>
          </a:prstGeom>
          <a:noFill/>
        </p:spPr>
        <p:txBody>
          <a:bodyPr wrap="none" lIns="0" tIns="0" rIns="0" bIns="0" anchor="t">
            <a:spAutoFit/>
          </a:bodyPr>
          <a:lstStyle/>
          <a:p>
            <a:pPr algn="l"/>
            <a:r>
              <a:rPr sz="1200" b="0" i="0">
                <a:solidFill>
                  <a:srgbClr val="000000"/>
                </a:solidFill>
                <a:latin typeface="Times New Roman"/>
              </a:rPr>
              <a:t>result can be compared with the actual response.</a:t>
            </a:r>
          </a:p>
        </p:txBody>
      </p:sp>
      <p:sp>
        <p:nvSpPr>
          <p:cNvPr id="9" name="TextBox 8"/>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Integration Test Evidence – Additional Details</a:t>
            </a:r>
          </a:p>
          <a:p>
            <a:pPr algn="l">
              <a:lnSpc>
                <a:spcPct val="100000"/>
              </a:lnSpc>
              <a:spcBef>
                <a:spcPts val="0"/>
              </a:spcBef>
              <a:spcAft>
                <a:spcPts val="200"/>
              </a:spcAft>
            </a:pPr>
            <a:r>
              <a:rPr sz="1050" b="0">
                <a:solidFill>
                  <a:srgbClr val="000000"/>
                </a:solidFill>
                <a:latin typeface="Times New Roman"/>
              </a:rPr>
              <a:t>Integration evidence should demonstrate that connected modules produce consistent results. A purchase test can verify the transaction record and the corresponding increase in stock. A sales test can verify the transaction and the corresponding decrease after sufficient stock is confirmed.</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Database inspection should be used alongside API responses so that the team can verify both the external behavior and the persisted result. Evidence should use actual test outputs or screenshots from the final implementation rather than assumed results.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56</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282468" y="542746"/>
            <a:ext cx="4995062" cy="281432"/>
          </a:xfrm>
          <a:prstGeom prst="rect">
            <a:avLst/>
          </a:prstGeom>
          <a:noFill/>
        </p:spPr>
        <p:txBody>
          <a:bodyPr wrap="none" lIns="0" tIns="0" rIns="0" bIns="0" anchor="t">
            <a:spAutoFit/>
          </a:bodyPr>
          <a:lstStyle/>
          <a:p>
            <a:pPr algn="ctr"/>
            <a:r>
              <a:rPr sz="1600" b="1" i="0">
                <a:solidFill>
                  <a:srgbClr val="000000"/>
                </a:solidFill>
                <a:latin typeface="Times New Roman"/>
              </a:rPr>
              <a:t>APPENDIX L – DEPLOYMENT AND MAINTENANCE</a:t>
            </a:r>
          </a:p>
        </p:txBody>
      </p:sp>
      <p:sp>
        <p:nvSpPr>
          <p:cNvPr id="5" name="TextBox 4"/>
          <p:cNvSpPr txBox="1"/>
          <p:nvPr/>
        </p:nvSpPr>
        <p:spPr>
          <a:xfrm>
            <a:off x="716280" y="899464"/>
            <a:ext cx="2000250" cy="246252"/>
          </a:xfrm>
          <a:prstGeom prst="rect">
            <a:avLst/>
          </a:prstGeom>
          <a:noFill/>
        </p:spPr>
        <p:txBody>
          <a:bodyPr wrap="none" lIns="0" tIns="0" rIns="0" bIns="0" anchor="t">
            <a:spAutoFit/>
          </a:bodyPr>
          <a:lstStyle/>
          <a:p>
            <a:pPr algn="l"/>
            <a:r>
              <a:rPr sz="1400" b="1" i="0">
                <a:solidFill>
                  <a:srgbClr val="000000"/>
                </a:solidFill>
                <a:latin typeface="Times New Roman"/>
              </a:rPr>
              <a:t>L.1 Installation Procedure</a:t>
            </a:r>
          </a:p>
        </p:txBody>
      </p:sp>
      <p:sp>
        <p:nvSpPr>
          <p:cNvPr id="6" name="TextBox 5"/>
          <p:cNvSpPr txBox="1"/>
          <p:nvPr/>
        </p:nvSpPr>
        <p:spPr>
          <a:xfrm>
            <a:off x="944880" y="11913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Prepare the machine with Node.js and npm, obtain the project source, install dependencies, and</a:t>
            </a:r>
          </a:p>
        </p:txBody>
      </p:sp>
      <p:sp>
        <p:nvSpPr>
          <p:cNvPr id="7" name="TextBox 6"/>
          <p:cNvSpPr txBox="1"/>
          <p:nvPr/>
        </p:nvSpPr>
        <p:spPr>
          <a:xfrm>
            <a:off x="716280" y="136911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configure the MongoDB connection. After configuration, start the backend and verify that the server</a:t>
            </a:r>
          </a:p>
        </p:txBody>
      </p:sp>
      <p:sp>
        <p:nvSpPr>
          <p:cNvPr id="8" name="TextBox 7"/>
          <p:cNvSpPr txBox="1"/>
          <p:nvPr/>
        </p:nvSpPr>
        <p:spPr>
          <a:xfrm>
            <a:off x="716280" y="1546910"/>
            <a:ext cx="1981047" cy="203301"/>
          </a:xfrm>
          <a:prstGeom prst="rect">
            <a:avLst/>
          </a:prstGeom>
          <a:noFill/>
        </p:spPr>
        <p:txBody>
          <a:bodyPr wrap="none" lIns="0" tIns="0" rIns="0" bIns="0" anchor="t">
            <a:spAutoFit/>
          </a:bodyPr>
          <a:lstStyle/>
          <a:p>
            <a:pPr algn="l"/>
            <a:r>
              <a:rPr sz="1200" b="0" i="0">
                <a:solidFill>
                  <a:srgbClr val="000000"/>
                </a:solidFill>
                <a:latin typeface="Times New Roman"/>
              </a:rPr>
              <a:t>is listening on the expected port.</a:t>
            </a:r>
          </a:p>
        </p:txBody>
      </p:sp>
      <p:sp>
        <p:nvSpPr>
          <p:cNvPr id="9" name="TextBox 8"/>
          <p:cNvSpPr txBox="1"/>
          <p:nvPr/>
        </p:nvSpPr>
        <p:spPr>
          <a:xfrm>
            <a:off x="944880" y="18009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Use Postman to perform a small smoke test immediately after startup. If the request fails, check</a:t>
            </a:r>
          </a:p>
        </p:txBody>
      </p:sp>
      <p:sp>
        <p:nvSpPr>
          <p:cNvPr id="10" name="TextBox 9"/>
          <p:cNvSpPr txBox="1"/>
          <p:nvPr/>
        </p:nvSpPr>
        <p:spPr>
          <a:xfrm>
            <a:off x="716280" y="19787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the server log, environment configuration, and database connectivity before changing application</a:t>
            </a:r>
          </a:p>
        </p:txBody>
      </p:sp>
      <p:sp>
        <p:nvSpPr>
          <p:cNvPr id="11" name="TextBox 10"/>
          <p:cNvSpPr txBox="1"/>
          <p:nvPr/>
        </p:nvSpPr>
        <p:spPr>
          <a:xfrm>
            <a:off x="716280" y="2156510"/>
            <a:ext cx="325831" cy="203301"/>
          </a:xfrm>
          <a:prstGeom prst="rect">
            <a:avLst/>
          </a:prstGeom>
          <a:noFill/>
        </p:spPr>
        <p:txBody>
          <a:bodyPr wrap="none" lIns="0" tIns="0" rIns="0" bIns="0" anchor="t">
            <a:spAutoFit/>
          </a:bodyPr>
          <a:lstStyle/>
          <a:p>
            <a:pPr algn="l"/>
            <a:r>
              <a:rPr sz="1200" b="0" i="0">
                <a:solidFill>
                  <a:srgbClr val="000000"/>
                </a:solidFill>
                <a:latin typeface="Times New Roman"/>
              </a:rPr>
              <a:t>code.</a:t>
            </a:r>
          </a:p>
        </p:txBody>
      </p:sp>
      <p:sp>
        <p:nvSpPr>
          <p:cNvPr id="12" name="TextBox 11"/>
          <p:cNvSpPr txBox="1"/>
          <p:nvPr/>
        </p:nvSpPr>
        <p:spPr>
          <a:xfrm>
            <a:off x="1049246" y="25369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3" name="TextBox 12"/>
          <p:cNvSpPr txBox="1"/>
          <p:nvPr/>
        </p:nvSpPr>
        <p:spPr>
          <a:xfrm>
            <a:off x="3397730" y="25369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4" name="TextBox 13"/>
          <p:cNvSpPr txBox="1"/>
          <p:nvPr/>
        </p:nvSpPr>
        <p:spPr>
          <a:xfrm>
            <a:off x="5544728" y="25369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5" name="TextBox 14"/>
          <p:cNvSpPr txBox="1"/>
          <p:nvPr/>
        </p:nvSpPr>
        <p:spPr>
          <a:xfrm>
            <a:off x="744700" y="27771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6" name="TextBox 15"/>
          <p:cNvSpPr txBox="1"/>
          <p:nvPr/>
        </p:nvSpPr>
        <p:spPr>
          <a:xfrm>
            <a:off x="2573500" y="27771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7" name="TextBox 16"/>
          <p:cNvSpPr txBox="1"/>
          <p:nvPr/>
        </p:nvSpPr>
        <p:spPr>
          <a:xfrm>
            <a:off x="4768059" y="27771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8" name="TextBox 17"/>
          <p:cNvSpPr txBox="1"/>
          <p:nvPr/>
        </p:nvSpPr>
        <p:spPr>
          <a:xfrm>
            <a:off x="744700" y="30184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9" name="TextBox 18"/>
          <p:cNvSpPr txBox="1"/>
          <p:nvPr/>
        </p:nvSpPr>
        <p:spPr>
          <a:xfrm>
            <a:off x="2573500" y="30184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20" name="TextBox 19"/>
          <p:cNvSpPr txBox="1"/>
          <p:nvPr/>
        </p:nvSpPr>
        <p:spPr>
          <a:xfrm>
            <a:off x="4768059" y="30184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21" name="TextBox 20"/>
          <p:cNvSpPr txBox="1"/>
          <p:nvPr/>
        </p:nvSpPr>
        <p:spPr>
          <a:xfrm>
            <a:off x="744700" y="32597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22" name="TextBox 21"/>
          <p:cNvSpPr txBox="1"/>
          <p:nvPr/>
        </p:nvSpPr>
        <p:spPr>
          <a:xfrm>
            <a:off x="2573500" y="32597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3" name="TextBox 22"/>
          <p:cNvSpPr txBox="1"/>
          <p:nvPr/>
        </p:nvSpPr>
        <p:spPr>
          <a:xfrm>
            <a:off x="4768059" y="32597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57</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903041" y="542746"/>
            <a:ext cx="3753916" cy="281432"/>
          </a:xfrm>
          <a:prstGeom prst="rect">
            <a:avLst/>
          </a:prstGeom>
          <a:noFill/>
        </p:spPr>
        <p:txBody>
          <a:bodyPr wrap="none" lIns="0" tIns="0" rIns="0" bIns="0" anchor="t">
            <a:spAutoFit/>
          </a:bodyPr>
          <a:lstStyle/>
          <a:p>
            <a:pPr algn="ctr"/>
            <a:r>
              <a:rPr sz="1600" b="1" i="0">
                <a:solidFill>
                  <a:srgbClr val="000000"/>
                </a:solidFill>
                <a:latin typeface="Times New Roman"/>
              </a:rPr>
              <a:t>L.2 Environment and Production Checklist</a:t>
            </a:r>
          </a:p>
        </p:txBody>
      </p:sp>
      <p:sp>
        <p:nvSpPr>
          <p:cNvPr id="5" name="TextBox 4"/>
          <p:cNvSpPr txBox="1"/>
          <p:nvPr/>
        </p:nvSpPr>
        <p:spPr>
          <a:xfrm>
            <a:off x="944880" y="899210"/>
            <a:ext cx="5898840" cy="203301"/>
          </a:xfrm>
          <a:prstGeom prst="rect">
            <a:avLst/>
          </a:prstGeom>
          <a:noFill/>
        </p:spPr>
        <p:txBody>
          <a:bodyPr wrap="none" lIns="0" tIns="0" rIns="0" bIns="0" anchor="t">
            <a:spAutoFit/>
          </a:bodyPr>
          <a:lstStyle/>
          <a:p>
            <a:pPr algn="ctr"/>
            <a:r>
              <a:rPr sz="1200" b="0" i="0">
                <a:solidFill>
                  <a:srgbClr val="000000"/>
                </a:solidFill>
                <a:latin typeface="Times New Roman"/>
              </a:rPr>
              <a:t>Before deployment, confirm that production environment variables are present, development</a:t>
            </a:r>
          </a:p>
        </p:txBody>
      </p:sp>
      <p:sp>
        <p:nvSpPr>
          <p:cNvPr id="6" name="TextBox 5"/>
          <p:cNvSpPr txBox="1"/>
          <p:nvPr/>
        </p:nvSpPr>
        <p:spPr>
          <a:xfrm>
            <a:off x="716280" y="10770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secrets are not being used, the database is reachable, and the server starts successfully. Verify the</a:t>
            </a:r>
          </a:p>
        </p:txBody>
      </p:sp>
      <p:sp>
        <p:nvSpPr>
          <p:cNvPr id="7" name="TextBox 6"/>
          <p:cNvSpPr txBox="1"/>
          <p:nvPr/>
        </p:nvSpPr>
        <p:spPr>
          <a:xfrm>
            <a:off x="716280" y="1254810"/>
            <a:ext cx="2374544" cy="203301"/>
          </a:xfrm>
          <a:prstGeom prst="rect">
            <a:avLst/>
          </a:prstGeom>
          <a:noFill/>
        </p:spPr>
        <p:txBody>
          <a:bodyPr wrap="none" lIns="0" tIns="0" rIns="0" bIns="0" anchor="t">
            <a:spAutoFit/>
          </a:bodyPr>
          <a:lstStyle/>
          <a:p>
            <a:pPr algn="l"/>
            <a:r>
              <a:rPr sz="1200" b="0" i="0">
                <a:solidFill>
                  <a:srgbClr val="000000"/>
                </a:solidFill>
                <a:latin typeface="Times New Roman"/>
              </a:rPr>
              <a:t>main API operations after deployment.</a:t>
            </a:r>
          </a:p>
        </p:txBody>
      </p:sp>
      <p:sp>
        <p:nvSpPr>
          <p:cNvPr id="8" name="TextBox 7"/>
          <p:cNvSpPr txBox="1"/>
          <p:nvPr/>
        </p:nvSpPr>
        <p:spPr>
          <a:xfrm>
            <a:off x="944880" y="15088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Production should also have a backup strategy, appropriate logging, restricted database access,</a:t>
            </a:r>
          </a:p>
        </p:txBody>
      </p:sp>
      <p:sp>
        <p:nvSpPr>
          <p:cNvPr id="9" name="TextBox 8"/>
          <p:cNvSpPr txBox="1"/>
          <p:nvPr/>
        </p:nvSpPr>
        <p:spPr>
          <a:xfrm>
            <a:off x="716280" y="1686610"/>
            <a:ext cx="3267456" cy="203301"/>
          </a:xfrm>
          <a:prstGeom prst="rect">
            <a:avLst/>
          </a:prstGeom>
          <a:noFill/>
        </p:spPr>
        <p:txBody>
          <a:bodyPr wrap="none" lIns="0" tIns="0" rIns="0" bIns="0" anchor="t">
            <a:spAutoFit/>
          </a:bodyPr>
          <a:lstStyle/>
          <a:p>
            <a:pPr algn="l"/>
            <a:r>
              <a:rPr sz="1200" b="0" i="0">
                <a:solidFill>
                  <a:srgbClr val="000000"/>
                </a:solidFill>
                <a:latin typeface="Times New Roman"/>
              </a:rPr>
              <a:t>and a process for applying application updates safely.</a:t>
            </a:r>
          </a:p>
        </p:txBody>
      </p:sp>
      <p:sp>
        <p:nvSpPr>
          <p:cNvPr id="10" name="TextBox 9"/>
          <p:cNvSpPr txBox="1"/>
          <p:nvPr/>
        </p:nvSpPr>
        <p:spPr>
          <a:xfrm>
            <a:off x="685800" y="237744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Production Checklist – Additional Details</a:t>
            </a:r>
          </a:p>
          <a:p>
            <a:pPr algn="l">
              <a:lnSpc>
                <a:spcPct val="100000"/>
              </a:lnSpc>
              <a:spcBef>
                <a:spcPts val="0"/>
              </a:spcBef>
              <a:spcAft>
                <a:spcPts val="200"/>
              </a:spcAft>
            </a:pPr>
            <a:r>
              <a:rPr sz="1050" b="0">
                <a:solidFill>
                  <a:srgbClr val="000000"/>
                </a:solidFill>
                <a:latin typeface="Times New Roman"/>
              </a:rPr>
              <a:t>Before deployment, confirm that the correct environment variables are available, the database connection is valid, the application starts without errors, and protected routes enforce the intended authorization rules. Core CRUD operations should be repeated in the deployment environment.</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The production configuration should use secure secrets and appropriate access restrictions. Logs and monitoring should be available for troubleshooting, while database backup and recovery procedures should be considered before the system is used with important inventory information.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58</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823232" y="542746"/>
            <a:ext cx="1913534" cy="281432"/>
          </a:xfrm>
          <a:prstGeom prst="rect">
            <a:avLst/>
          </a:prstGeom>
          <a:noFill/>
        </p:spPr>
        <p:txBody>
          <a:bodyPr wrap="none" lIns="0" tIns="0" rIns="0" bIns="0" anchor="t">
            <a:spAutoFit/>
          </a:bodyPr>
          <a:lstStyle/>
          <a:p>
            <a:pPr algn="ctr"/>
            <a:r>
              <a:rPr sz="1600" b="1" i="0">
                <a:solidFill>
                  <a:srgbClr val="000000"/>
                </a:solidFill>
                <a:latin typeface="Times New Roman"/>
              </a:rPr>
              <a:t>L.3 Maintenance Plan</a:t>
            </a:r>
          </a:p>
        </p:txBody>
      </p:sp>
      <p:sp>
        <p:nvSpPr>
          <p:cNvPr id="5" name="TextBox 4"/>
          <p:cNvSpPr txBox="1"/>
          <p:nvPr/>
        </p:nvSpPr>
        <p:spPr>
          <a:xfrm>
            <a:off x="944880" y="8992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Routine maintenance includes reviewing logs, checking database growth, monitoring error</a:t>
            </a:r>
          </a:p>
        </p:txBody>
      </p:sp>
      <p:sp>
        <p:nvSpPr>
          <p:cNvPr id="6" name="TextBox 5"/>
          <p:cNvSpPr txBox="1"/>
          <p:nvPr/>
        </p:nvSpPr>
        <p:spPr>
          <a:xfrm>
            <a:off x="716280" y="1077010"/>
            <a:ext cx="6127441" cy="203301"/>
          </a:xfrm>
          <a:prstGeom prst="rect">
            <a:avLst/>
          </a:prstGeom>
          <a:noFill/>
        </p:spPr>
        <p:txBody>
          <a:bodyPr wrap="none" lIns="0" tIns="0" rIns="0" bIns="0" anchor="t">
            <a:spAutoFit/>
          </a:bodyPr>
          <a:lstStyle/>
          <a:p>
            <a:pPr algn="ctr"/>
            <a:r>
              <a:rPr sz="1200" b="0" i="0">
                <a:solidFill>
                  <a:srgbClr val="000000"/>
                </a:solidFill>
                <a:latin typeface="Times New Roman"/>
              </a:rPr>
              <a:t>responses, updating dependencies when appropriate, and verifying backups. Changes to database</a:t>
            </a:r>
          </a:p>
        </p:txBody>
      </p:sp>
      <p:sp>
        <p:nvSpPr>
          <p:cNvPr id="7" name="TextBox 6"/>
          <p:cNvSpPr txBox="1"/>
          <p:nvPr/>
        </p:nvSpPr>
        <p:spPr>
          <a:xfrm>
            <a:off x="716280" y="1254810"/>
            <a:ext cx="3800856" cy="203301"/>
          </a:xfrm>
          <a:prstGeom prst="rect">
            <a:avLst/>
          </a:prstGeom>
          <a:noFill/>
        </p:spPr>
        <p:txBody>
          <a:bodyPr wrap="none" lIns="0" tIns="0" rIns="0" bIns="0" anchor="t">
            <a:spAutoFit/>
          </a:bodyPr>
          <a:lstStyle/>
          <a:p>
            <a:pPr algn="l"/>
            <a:r>
              <a:rPr sz="1200" b="0" i="0">
                <a:solidFill>
                  <a:srgbClr val="000000"/>
                </a:solidFill>
                <a:latin typeface="Times New Roman"/>
              </a:rPr>
              <a:t>schemas should be documented and tested before deployment.</a:t>
            </a:r>
          </a:p>
        </p:txBody>
      </p:sp>
      <p:sp>
        <p:nvSpPr>
          <p:cNvPr id="8" name="TextBox 7"/>
          <p:cNvSpPr txBox="1"/>
          <p:nvPr/>
        </p:nvSpPr>
        <p:spPr>
          <a:xfrm>
            <a:off x="944880" y="15088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Future maintenance should preserve backward compatibility where possible so that existing</a:t>
            </a:r>
          </a:p>
        </p:txBody>
      </p:sp>
      <p:sp>
        <p:nvSpPr>
          <p:cNvPr id="9" name="TextBox 8"/>
          <p:cNvSpPr txBox="1"/>
          <p:nvPr/>
        </p:nvSpPr>
        <p:spPr>
          <a:xfrm>
            <a:off x="716280" y="1686610"/>
            <a:ext cx="3208172" cy="203301"/>
          </a:xfrm>
          <a:prstGeom prst="rect">
            <a:avLst/>
          </a:prstGeom>
          <a:noFill/>
        </p:spPr>
        <p:txBody>
          <a:bodyPr wrap="none" lIns="0" tIns="0" rIns="0" bIns="0" anchor="t">
            <a:spAutoFit/>
          </a:bodyPr>
          <a:lstStyle/>
          <a:p>
            <a:pPr algn="l"/>
            <a:r>
              <a:rPr sz="1200" b="0" i="0">
                <a:solidFill>
                  <a:srgbClr val="000000"/>
                </a:solidFill>
                <a:latin typeface="Times New Roman"/>
              </a:rPr>
              <a:t>clients are not unexpectedly broken by API changes.</a:t>
            </a:r>
          </a:p>
        </p:txBody>
      </p:sp>
      <p:sp>
        <p:nvSpPr>
          <p:cNvPr id="10" name="TextBox 9"/>
          <p:cNvSpPr txBox="1"/>
          <p:nvPr/>
        </p:nvSpPr>
        <p:spPr>
          <a:xfrm>
            <a:off x="1049246" y="2067051"/>
            <a:ext cx="1118108" cy="175895"/>
          </a:xfrm>
          <a:prstGeom prst="rect">
            <a:avLst/>
          </a:prstGeom>
          <a:noFill/>
        </p:spPr>
        <p:txBody>
          <a:bodyPr wrap="none" lIns="0" tIns="0" rIns="0" bIns="0" anchor="t">
            <a:spAutoFit/>
          </a:bodyPr>
          <a:lstStyle/>
          <a:p>
            <a:pPr algn="l"/>
            <a:r>
              <a:rPr sz="1000" b="1" i="0">
                <a:solidFill>
                  <a:srgbClr val="000000"/>
                </a:solidFill>
                <a:latin typeface="Times New Roman"/>
              </a:rPr>
              <a:t>Documentation Item</a:t>
            </a:r>
          </a:p>
        </p:txBody>
      </p:sp>
      <p:sp>
        <p:nvSpPr>
          <p:cNvPr id="11" name="TextBox 10"/>
          <p:cNvSpPr txBox="1"/>
          <p:nvPr/>
        </p:nvSpPr>
        <p:spPr>
          <a:xfrm>
            <a:off x="3397730" y="2067051"/>
            <a:ext cx="444500" cy="175895"/>
          </a:xfrm>
          <a:prstGeom prst="rect">
            <a:avLst/>
          </a:prstGeom>
          <a:noFill/>
        </p:spPr>
        <p:txBody>
          <a:bodyPr wrap="none" lIns="0" tIns="0" rIns="0" bIns="0" anchor="t">
            <a:spAutoFit/>
          </a:bodyPr>
          <a:lstStyle/>
          <a:p>
            <a:pPr algn="ctr"/>
            <a:r>
              <a:rPr sz="1000" b="1" i="0">
                <a:solidFill>
                  <a:srgbClr val="000000"/>
                </a:solidFill>
                <a:latin typeface="Times New Roman"/>
              </a:rPr>
              <a:t>Purpose</a:t>
            </a:r>
          </a:p>
        </p:txBody>
      </p:sp>
      <p:sp>
        <p:nvSpPr>
          <p:cNvPr id="12" name="TextBox 11"/>
          <p:cNvSpPr txBox="1"/>
          <p:nvPr/>
        </p:nvSpPr>
        <p:spPr>
          <a:xfrm>
            <a:off x="5544728" y="2067051"/>
            <a:ext cx="493903" cy="175895"/>
          </a:xfrm>
          <a:prstGeom prst="rect">
            <a:avLst/>
          </a:prstGeom>
          <a:noFill/>
        </p:spPr>
        <p:txBody>
          <a:bodyPr wrap="none" lIns="0" tIns="0" rIns="0" bIns="0" anchor="t">
            <a:spAutoFit/>
          </a:bodyPr>
          <a:lstStyle/>
          <a:p>
            <a:pPr algn="l"/>
            <a:r>
              <a:rPr sz="1000" b="1" i="0">
                <a:solidFill>
                  <a:srgbClr val="000000"/>
                </a:solidFill>
                <a:latin typeface="Times New Roman"/>
              </a:rPr>
              <a:t>Evidence</a:t>
            </a:r>
          </a:p>
        </p:txBody>
      </p:sp>
      <p:sp>
        <p:nvSpPr>
          <p:cNvPr id="13" name="TextBox 12"/>
          <p:cNvSpPr txBox="1"/>
          <p:nvPr/>
        </p:nvSpPr>
        <p:spPr>
          <a:xfrm>
            <a:off x="744700" y="2307208"/>
            <a:ext cx="768858" cy="169417"/>
          </a:xfrm>
          <a:prstGeom prst="rect">
            <a:avLst/>
          </a:prstGeom>
          <a:noFill/>
        </p:spPr>
        <p:txBody>
          <a:bodyPr wrap="none" lIns="0" tIns="0" rIns="0" bIns="0" anchor="t">
            <a:spAutoFit/>
          </a:bodyPr>
          <a:lstStyle/>
          <a:p>
            <a:pPr algn="l"/>
            <a:r>
              <a:rPr sz="1000" b="0" i="0">
                <a:solidFill>
                  <a:srgbClr val="000000"/>
                </a:solidFill>
                <a:latin typeface="Times New Roman"/>
              </a:rPr>
              <a:t>API / Database</a:t>
            </a:r>
          </a:p>
        </p:txBody>
      </p:sp>
      <p:sp>
        <p:nvSpPr>
          <p:cNvPr id="14" name="TextBox 13"/>
          <p:cNvSpPr txBox="1"/>
          <p:nvPr/>
        </p:nvSpPr>
        <p:spPr>
          <a:xfrm>
            <a:off x="2573500" y="2307208"/>
            <a:ext cx="1636648" cy="169417"/>
          </a:xfrm>
          <a:prstGeom prst="rect">
            <a:avLst/>
          </a:prstGeom>
          <a:noFill/>
        </p:spPr>
        <p:txBody>
          <a:bodyPr wrap="none" lIns="0" tIns="0" rIns="0" bIns="0" anchor="t">
            <a:spAutoFit/>
          </a:bodyPr>
          <a:lstStyle/>
          <a:p>
            <a:pPr algn="ctr"/>
            <a:r>
              <a:rPr sz="1000" b="0" i="0">
                <a:solidFill>
                  <a:srgbClr val="000000"/>
                </a:solidFill>
                <a:latin typeface="Times New Roman"/>
              </a:rPr>
              <a:t>Verify implementation behavior</a:t>
            </a:r>
          </a:p>
        </p:txBody>
      </p:sp>
      <p:sp>
        <p:nvSpPr>
          <p:cNvPr id="15" name="TextBox 14"/>
          <p:cNvSpPr txBox="1"/>
          <p:nvPr/>
        </p:nvSpPr>
        <p:spPr>
          <a:xfrm>
            <a:off x="4768059" y="2307208"/>
            <a:ext cx="1647444" cy="169417"/>
          </a:xfrm>
          <a:prstGeom prst="rect">
            <a:avLst/>
          </a:prstGeom>
          <a:noFill/>
        </p:spPr>
        <p:txBody>
          <a:bodyPr wrap="none" lIns="0" tIns="0" rIns="0" bIns="0" anchor="t">
            <a:spAutoFit/>
          </a:bodyPr>
          <a:lstStyle/>
          <a:p>
            <a:pPr algn="l"/>
            <a:r>
              <a:rPr sz="1000" b="0" i="0">
                <a:solidFill>
                  <a:srgbClr val="000000"/>
                </a:solidFill>
                <a:latin typeface="Times New Roman"/>
              </a:rPr>
              <a:t>Postman / MongoDB screenshot</a:t>
            </a:r>
          </a:p>
        </p:txBody>
      </p:sp>
      <p:sp>
        <p:nvSpPr>
          <p:cNvPr id="16" name="TextBox 15"/>
          <p:cNvSpPr txBox="1"/>
          <p:nvPr/>
        </p:nvSpPr>
        <p:spPr>
          <a:xfrm>
            <a:off x="744700" y="2548508"/>
            <a:ext cx="536194" cy="169417"/>
          </a:xfrm>
          <a:prstGeom prst="rect">
            <a:avLst/>
          </a:prstGeom>
          <a:noFill/>
        </p:spPr>
        <p:txBody>
          <a:bodyPr wrap="none" lIns="0" tIns="0" rIns="0" bIns="0" anchor="t">
            <a:spAutoFit/>
          </a:bodyPr>
          <a:lstStyle/>
          <a:p>
            <a:pPr algn="l"/>
            <a:r>
              <a:rPr sz="1000" b="0" i="0">
                <a:solidFill>
                  <a:srgbClr val="000000"/>
                </a:solidFill>
                <a:latin typeface="Times New Roman"/>
              </a:rPr>
              <a:t>Validation</a:t>
            </a:r>
          </a:p>
        </p:txBody>
      </p:sp>
      <p:sp>
        <p:nvSpPr>
          <p:cNvPr id="17" name="TextBox 16"/>
          <p:cNvSpPr txBox="1"/>
          <p:nvPr/>
        </p:nvSpPr>
        <p:spPr>
          <a:xfrm>
            <a:off x="2573500" y="2548508"/>
            <a:ext cx="1608074" cy="169417"/>
          </a:xfrm>
          <a:prstGeom prst="rect">
            <a:avLst/>
          </a:prstGeom>
          <a:noFill/>
        </p:spPr>
        <p:txBody>
          <a:bodyPr wrap="none" lIns="0" tIns="0" rIns="0" bIns="0" anchor="t">
            <a:spAutoFit/>
          </a:bodyPr>
          <a:lstStyle/>
          <a:p>
            <a:pPr algn="ctr"/>
            <a:r>
              <a:rPr sz="1000" b="0" i="0">
                <a:solidFill>
                  <a:srgbClr val="000000"/>
                </a:solidFill>
                <a:latin typeface="Times New Roman"/>
              </a:rPr>
              <a:t>Verify incorrect data is rejected</a:t>
            </a:r>
          </a:p>
        </p:txBody>
      </p:sp>
      <p:sp>
        <p:nvSpPr>
          <p:cNvPr id="18" name="TextBox 17"/>
          <p:cNvSpPr txBox="1"/>
          <p:nvPr/>
        </p:nvSpPr>
        <p:spPr>
          <a:xfrm>
            <a:off x="4768059" y="2548508"/>
            <a:ext cx="744092" cy="169417"/>
          </a:xfrm>
          <a:prstGeom prst="rect">
            <a:avLst/>
          </a:prstGeom>
          <a:noFill/>
        </p:spPr>
        <p:txBody>
          <a:bodyPr wrap="none" lIns="0" tIns="0" rIns="0" bIns="0" anchor="t">
            <a:spAutoFit/>
          </a:bodyPr>
          <a:lstStyle/>
          <a:p>
            <a:pPr algn="l"/>
            <a:r>
              <a:rPr sz="1000" b="0" i="0">
                <a:solidFill>
                  <a:srgbClr val="000000"/>
                </a:solidFill>
                <a:latin typeface="Times New Roman"/>
              </a:rPr>
              <a:t>Error response</a:t>
            </a:r>
          </a:p>
        </p:txBody>
      </p:sp>
      <p:sp>
        <p:nvSpPr>
          <p:cNvPr id="19" name="TextBox 18"/>
          <p:cNvSpPr txBox="1"/>
          <p:nvPr/>
        </p:nvSpPr>
        <p:spPr>
          <a:xfrm>
            <a:off x="744700" y="2789808"/>
            <a:ext cx="381000" cy="169417"/>
          </a:xfrm>
          <a:prstGeom prst="rect">
            <a:avLst/>
          </a:prstGeom>
          <a:noFill/>
        </p:spPr>
        <p:txBody>
          <a:bodyPr wrap="none" lIns="0" tIns="0" rIns="0" bIns="0" anchor="t">
            <a:spAutoFit/>
          </a:bodyPr>
          <a:lstStyle/>
          <a:p>
            <a:pPr algn="l"/>
            <a:r>
              <a:rPr sz="1000" b="0" i="0">
                <a:solidFill>
                  <a:srgbClr val="000000"/>
                </a:solidFill>
                <a:latin typeface="Times New Roman"/>
              </a:rPr>
              <a:t>Testing</a:t>
            </a:r>
          </a:p>
        </p:txBody>
      </p:sp>
      <p:sp>
        <p:nvSpPr>
          <p:cNvPr id="20" name="TextBox 19"/>
          <p:cNvSpPr txBox="1"/>
          <p:nvPr/>
        </p:nvSpPr>
        <p:spPr>
          <a:xfrm>
            <a:off x="2573500" y="2789808"/>
            <a:ext cx="1675257" cy="169417"/>
          </a:xfrm>
          <a:prstGeom prst="rect">
            <a:avLst/>
          </a:prstGeom>
          <a:noFill/>
        </p:spPr>
        <p:txBody>
          <a:bodyPr wrap="none" lIns="0" tIns="0" rIns="0" bIns="0" anchor="t">
            <a:spAutoFit/>
          </a:bodyPr>
          <a:lstStyle/>
          <a:p>
            <a:pPr algn="ctr"/>
            <a:r>
              <a:rPr sz="1000" b="0" i="0">
                <a:solidFill>
                  <a:srgbClr val="000000"/>
                </a:solidFill>
                <a:latin typeface="Times New Roman"/>
              </a:rPr>
              <a:t>Verify expected system behavior</a:t>
            </a:r>
          </a:p>
        </p:txBody>
      </p:sp>
      <p:sp>
        <p:nvSpPr>
          <p:cNvPr id="21" name="TextBox 20"/>
          <p:cNvSpPr txBox="1"/>
          <p:nvPr/>
        </p:nvSpPr>
        <p:spPr>
          <a:xfrm>
            <a:off x="4768059" y="2789808"/>
            <a:ext cx="782954" cy="169417"/>
          </a:xfrm>
          <a:prstGeom prst="rect">
            <a:avLst/>
          </a:prstGeom>
          <a:noFill/>
        </p:spPr>
        <p:txBody>
          <a:bodyPr wrap="none" lIns="0" tIns="0" rIns="0" bIns="0" anchor="t">
            <a:spAutoFit/>
          </a:bodyPr>
          <a:lstStyle/>
          <a:p>
            <a:pPr algn="l"/>
            <a:r>
              <a:rPr sz="1000" b="0" i="0">
                <a:solidFill>
                  <a:srgbClr val="000000"/>
                </a:solidFill>
                <a:latin typeface="Times New Roman"/>
              </a:rPr>
              <a:t>Test case result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59</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1096134" y="542746"/>
            <a:ext cx="5367731" cy="281432"/>
          </a:xfrm>
          <a:prstGeom prst="rect">
            <a:avLst/>
          </a:prstGeom>
          <a:noFill/>
        </p:spPr>
        <p:txBody>
          <a:bodyPr wrap="none" lIns="0" tIns="0" rIns="0" bIns="0" anchor="t">
            <a:spAutoFit/>
          </a:bodyPr>
          <a:lstStyle/>
          <a:p>
            <a:pPr algn="ctr"/>
            <a:r>
              <a:rPr sz="1600" b="1" i="0">
                <a:solidFill>
                  <a:srgbClr val="000000"/>
                </a:solidFill>
                <a:latin typeface="Times New Roman"/>
              </a:rPr>
              <a:t>APPENDIX M – USER GUIDE AND PROJECT EVIDENCE</a:t>
            </a:r>
          </a:p>
        </p:txBody>
      </p:sp>
      <p:sp>
        <p:nvSpPr>
          <p:cNvPr id="5" name="TextBox 4"/>
          <p:cNvSpPr txBox="1"/>
          <p:nvPr/>
        </p:nvSpPr>
        <p:spPr>
          <a:xfrm>
            <a:off x="716280" y="899464"/>
            <a:ext cx="1209929" cy="246252"/>
          </a:xfrm>
          <a:prstGeom prst="rect">
            <a:avLst/>
          </a:prstGeom>
          <a:noFill/>
        </p:spPr>
        <p:txBody>
          <a:bodyPr wrap="none" lIns="0" tIns="0" rIns="0" bIns="0" anchor="t">
            <a:spAutoFit/>
          </a:bodyPr>
          <a:lstStyle/>
          <a:p>
            <a:pPr algn="l"/>
            <a:r>
              <a:rPr sz="1400" b="1" i="0">
                <a:solidFill>
                  <a:srgbClr val="000000"/>
                </a:solidFill>
                <a:latin typeface="Times New Roman"/>
              </a:rPr>
              <a:t>M.1 User Guide</a:t>
            </a:r>
          </a:p>
        </p:txBody>
      </p:sp>
      <p:sp>
        <p:nvSpPr>
          <p:cNvPr id="6" name="TextBox 5"/>
          <p:cNvSpPr txBox="1"/>
          <p:nvPr/>
        </p:nvSpPr>
        <p:spPr>
          <a:xfrm>
            <a:off x="944880" y="1191310"/>
            <a:ext cx="5898839" cy="203301"/>
          </a:xfrm>
          <a:prstGeom prst="rect">
            <a:avLst/>
          </a:prstGeom>
          <a:noFill/>
        </p:spPr>
        <p:txBody>
          <a:bodyPr wrap="none" lIns="0" tIns="0" rIns="0" bIns="0" anchor="t">
            <a:spAutoFit/>
          </a:bodyPr>
          <a:lstStyle/>
          <a:p>
            <a:pPr algn="ctr"/>
            <a:r>
              <a:rPr sz="1200" b="0" i="0">
                <a:solidFill>
                  <a:srgbClr val="000000"/>
                </a:solidFill>
                <a:latin typeface="Times New Roman"/>
              </a:rPr>
              <a:t>Authorized staff begin by maintaining medicine and supplier information. Batch records are then</a:t>
            </a:r>
          </a:p>
        </p:txBody>
      </p:sp>
      <p:sp>
        <p:nvSpPr>
          <p:cNvPr id="7" name="TextBox 6"/>
          <p:cNvSpPr txBox="1"/>
          <p:nvPr/>
        </p:nvSpPr>
        <p:spPr>
          <a:xfrm>
            <a:off x="716280" y="1369110"/>
            <a:ext cx="5811316" cy="203301"/>
          </a:xfrm>
          <a:prstGeom prst="rect">
            <a:avLst/>
          </a:prstGeom>
          <a:noFill/>
        </p:spPr>
        <p:txBody>
          <a:bodyPr wrap="none" lIns="0" tIns="0" rIns="0" bIns="0" anchor="t">
            <a:spAutoFit/>
          </a:bodyPr>
          <a:lstStyle/>
          <a:p>
            <a:pPr algn="ctr"/>
            <a:r>
              <a:rPr sz="1200" b="0" i="0">
                <a:solidFill>
                  <a:srgbClr val="000000"/>
                </a:solidFill>
                <a:latin typeface="Times New Roman"/>
              </a:rPr>
              <a:t>created or associated with medicines so that manufacturing and expiry information is available.</a:t>
            </a:r>
          </a:p>
        </p:txBody>
      </p:sp>
      <p:sp>
        <p:nvSpPr>
          <p:cNvPr id="8" name="TextBox 7"/>
          <p:cNvSpPr txBox="1"/>
          <p:nvPr/>
        </p:nvSpPr>
        <p:spPr>
          <a:xfrm>
            <a:off x="944880" y="16231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Purchase transactions record incoming stock and sales transactions record outgoing stock. Staff</a:t>
            </a:r>
          </a:p>
        </p:txBody>
      </p:sp>
      <p:sp>
        <p:nvSpPr>
          <p:cNvPr id="9" name="TextBox 8"/>
          <p:cNvSpPr txBox="1"/>
          <p:nvPr/>
        </p:nvSpPr>
        <p:spPr>
          <a:xfrm>
            <a:off x="716280" y="1800910"/>
            <a:ext cx="4258056" cy="203301"/>
          </a:xfrm>
          <a:prstGeom prst="rect">
            <a:avLst/>
          </a:prstGeom>
          <a:noFill/>
        </p:spPr>
        <p:txBody>
          <a:bodyPr wrap="none" lIns="0" tIns="0" rIns="0" bIns="0" anchor="t">
            <a:spAutoFit/>
          </a:bodyPr>
          <a:lstStyle/>
          <a:p>
            <a:pPr algn="l"/>
            <a:r>
              <a:rPr sz="1200" b="0" i="0">
                <a:solidFill>
                  <a:srgbClr val="000000"/>
                </a:solidFill>
                <a:latin typeface="Times New Roman"/>
              </a:rPr>
              <a:t>can then retrieve stock and expiry information for routine monitoring.</a:t>
            </a:r>
          </a:p>
        </p:txBody>
      </p:sp>
      <p:sp>
        <p:nvSpPr>
          <p:cNvPr id="10" name="TextBox 9"/>
          <p:cNvSpPr txBox="1"/>
          <p:nvPr/>
        </p:nvSpPr>
        <p:spPr>
          <a:xfrm>
            <a:off x="685800" y="2232811"/>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a:solidFill>
                  <a:srgbClr val="000000"/>
                </a:solidFill>
                <a:latin typeface="Times New Roman"/>
              </a:rPr>
              <a:t>User Guide – Additional Details</a:t>
            </a:r>
          </a:p>
          <a:p>
            <a:pPr algn="l">
              <a:lnSpc>
                <a:spcPct val="100000"/>
              </a:lnSpc>
              <a:spcBef>
                <a:spcPts val="0"/>
              </a:spcBef>
              <a:spcAft>
                <a:spcPts val="200"/>
              </a:spcAft>
            </a:pPr>
            <a:r>
              <a:rPr sz="1050" b="0">
                <a:solidFill>
                  <a:srgbClr val="000000"/>
                </a:solidFill>
                <a:latin typeface="Times New Roman"/>
              </a:rPr>
              <a:t>An authorized staff member can begin by maintaining medicine and supplier records. Batch information should then be entered with the relevant manufacturing and expiry dates. Purchase transactions represent incoming stock, while sales transactions represent outgoing stock.</a:t>
            </a:r>
          </a:p>
          <a:p>
            <a:pPr algn="l">
              <a:lnSpc>
                <a:spcPct val="100000"/>
              </a:lnSpc>
              <a:spcBef>
                <a:spcPts val="0"/>
              </a:spcBef>
              <a:spcAft>
                <a:spcPts val="200"/>
              </a:spcAft>
            </a:pPr>
            <a:endParaRPr sz="1050" b="0">
              <a:solidFill>
                <a:srgbClr val="000000"/>
              </a:solidFill>
              <a:latin typeface="Times New Roman"/>
            </a:endParaRPr>
          </a:p>
          <a:p>
            <a:pPr algn="l">
              <a:lnSpc>
                <a:spcPct val="100000"/>
              </a:lnSpc>
              <a:spcBef>
                <a:spcPts val="0"/>
              </a:spcBef>
              <a:spcAft>
                <a:spcPts val="200"/>
              </a:spcAft>
            </a:pPr>
            <a:r>
              <a:rPr sz="1050" b="0">
                <a:solidFill>
                  <a:srgbClr val="000000"/>
                </a:solidFill>
                <a:latin typeface="Times New Roman"/>
              </a:rPr>
              <a:t>Users should review stock and expiry information regularly and correct invalid records through the appropriate authorized operation. The exact screen names and workflow should be updated if a frontend is connected to the backend after this documentation is prepared.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7462" y="10279034"/>
            <a:ext cx="365074" cy="152475"/>
          </a:xfrm>
          <a:prstGeom prst="rect">
            <a:avLst/>
          </a:prstGeom>
          <a:noFill/>
        </p:spPr>
        <p:txBody>
          <a:bodyPr wrap="none" lIns="0" tIns="0" rIns="0" bIns="0" anchor="t">
            <a:spAutoFit/>
          </a:bodyPr>
          <a:lstStyle/>
          <a:p>
            <a:pPr algn="ctr"/>
            <a:r>
              <a:rPr sz="900" b="0" i="0">
                <a:solidFill>
                  <a:srgbClr val="000000"/>
                </a:solidFill>
                <a:latin typeface="Times New Roman"/>
              </a:rPr>
              <a:t>Page 60</a:t>
            </a:r>
          </a:p>
        </p:txBody>
      </p:sp>
      <p:sp>
        <p:nvSpPr>
          <p:cNvPr id="3" name="TextBox 2"/>
          <p:cNvSpPr txBox="1"/>
          <p:nvPr/>
        </p:nvSpPr>
        <p:spPr>
          <a:xfrm>
            <a:off x="1691510" y="186537"/>
            <a:ext cx="4176978" cy="140716"/>
          </a:xfrm>
          <a:prstGeom prst="rect">
            <a:avLst/>
          </a:prstGeom>
          <a:noFill/>
        </p:spPr>
        <p:txBody>
          <a:bodyPr wrap="none" lIns="0" tIns="0" rIns="0" bIns="0" anchor="t">
            <a:spAutoFit/>
          </a:bodyPr>
          <a:lstStyle/>
          <a:p>
            <a:pPr algn="ctr"/>
            <a:r>
              <a:rPr sz="800" b="1" i="0">
                <a:solidFill>
                  <a:srgbClr val="000000"/>
                </a:solidFill>
                <a:latin typeface="Times New Roman"/>
              </a:rPr>
              <a:t>ENTERPRISE PHARMACEUTICAL STOCK AND INVENTORY MANAGEMENT SYSTEM</a:t>
            </a:r>
          </a:p>
        </p:txBody>
      </p:sp>
      <p:sp>
        <p:nvSpPr>
          <p:cNvPr id="4" name="TextBox 3"/>
          <p:cNvSpPr txBox="1"/>
          <p:nvPr/>
        </p:nvSpPr>
        <p:spPr>
          <a:xfrm>
            <a:off x="2290137" y="542746"/>
            <a:ext cx="2979724" cy="281432"/>
          </a:xfrm>
          <a:prstGeom prst="rect">
            <a:avLst/>
          </a:prstGeom>
          <a:noFill/>
        </p:spPr>
        <p:txBody>
          <a:bodyPr wrap="none" lIns="0" tIns="0" rIns="0" bIns="0" anchor="t">
            <a:spAutoFit/>
          </a:bodyPr>
          <a:lstStyle/>
          <a:p>
            <a:pPr algn="ctr"/>
            <a:r>
              <a:rPr sz="1600" b="1" i="0">
                <a:solidFill>
                  <a:srgbClr val="000000"/>
                </a:solidFill>
                <a:latin typeface="Times New Roman"/>
              </a:rPr>
              <a:t>M.2 Geo-Tagged Project Evidence</a:t>
            </a:r>
          </a:p>
        </p:txBody>
      </p:sp>
      <p:sp>
        <p:nvSpPr>
          <p:cNvPr id="5" name="TextBox 4"/>
          <p:cNvSpPr txBox="1"/>
          <p:nvPr/>
        </p:nvSpPr>
        <p:spPr>
          <a:xfrm>
            <a:off x="944880" y="8992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Paste authentic geo-tagged photographs from project implementation, demonstration, laboratory</a:t>
            </a:r>
          </a:p>
        </p:txBody>
      </p:sp>
      <p:sp>
        <p:nvSpPr>
          <p:cNvPr id="6" name="TextBox 5"/>
          <p:cNvSpPr txBox="1"/>
          <p:nvPr/>
        </p:nvSpPr>
        <p:spPr>
          <a:xfrm>
            <a:off x="716280" y="1077010"/>
            <a:ext cx="6127439" cy="203301"/>
          </a:xfrm>
          <a:prstGeom prst="rect">
            <a:avLst/>
          </a:prstGeom>
          <a:noFill/>
        </p:spPr>
        <p:txBody>
          <a:bodyPr wrap="none" lIns="0" tIns="0" rIns="0" bIns="0" anchor="t">
            <a:spAutoFit/>
          </a:bodyPr>
          <a:lstStyle/>
          <a:p>
            <a:pPr algn="ctr"/>
            <a:r>
              <a:rPr sz="1200" b="0" i="0">
                <a:solidFill>
                  <a:srgbClr val="000000"/>
                </a:solidFill>
                <a:latin typeface="Times New Roman"/>
              </a:rPr>
              <a:t>work, project review, or guide-supervised activity. Preserve the original date, latitude, longitude,</a:t>
            </a:r>
          </a:p>
        </p:txBody>
      </p:sp>
      <p:sp>
        <p:nvSpPr>
          <p:cNvPr id="7" name="TextBox 6"/>
          <p:cNvSpPr txBox="1"/>
          <p:nvPr/>
        </p:nvSpPr>
        <p:spPr>
          <a:xfrm>
            <a:off x="716280" y="1254810"/>
            <a:ext cx="4025189" cy="203301"/>
          </a:xfrm>
          <a:prstGeom prst="rect">
            <a:avLst/>
          </a:prstGeom>
          <a:noFill/>
        </p:spPr>
        <p:txBody>
          <a:bodyPr wrap="none" lIns="0" tIns="0" rIns="0" bIns="0" anchor="t">
            <a:spAutoFit/>
          </a:bodyPr>
          <a:lstStyle/>
          <a:p>
            <a:pPr algn="l"/>
            <a:r>
              <a:rPr sz="1200" b="0" i="0">
                <a:solidFill>
                  <a:srgbClr val="000000"/>
                </a:solidFill>
                <a:latin typeface="Times New Roman"/>
              </a:rPr>
              <a:t>and location information from the device or photograph metadata.</a:t>
            </a:r>
          </a:p>
        </p:txBody>
      </p:sp>
      <p:sp>
        <p:nvSpPr>
          <p:cNvPr id="8" name="TextBox 7"/>
          <p:cNvSpPr txBox="1"/>
          <p:nvPr/>
        </p:nvSpPr>
        <p:spPr>
          <a:xfrm>
            <a:off x="944880" y="1508810"/>
            <a:ext cx="5898841" cy="203301"/>
          </a:xfrm>
          <a:prstGeom prst="rect">
            <a:avLst/>
          </a:prstGeom>
          <a:noFill/>
        </p:spPr>
        <p:txBody>
          <a:bodyPr wrap="none" lIns="0" tIns="0" rIns="0" bIns="0" anchor="t">
            <a:spAutoFit/>
          </a:bodyPr>
          <a:lstStyle/>
          <a:p>
            <a:pPr algn="ctr"/>
            <a:r>
              <a:rPr sz="1200" b="0" i="0">
                <a:solidFill>
                  <a:srgbClr val="000000"/>
                </a:solidFill>
                <a:latin typeface="Times New Roman"/>
              </a:rPr>
              <a:t>Do not invent or manually alter coordinates. The photographs should provide genuine evidence</a:t>
            </a:r>
          </a:p>
        </p:txBody>
      </p:sp>
      <p:sp>
        <p:nvSpPr>
          <p:cNvPr id="9" name="TextBox 8"/>
          <p:cNvSpPr txBox="1"/>
          <p:nvPr/>
        </p:nvSpPr>
        <p:spPr>
          <a:xfrm>
            <a:off x="716280" y="1686610"/>
            <a:ext cx="1767078" cy="203301"/>
          </a:xfrm>
          <a:prstGeom prst="rect">
            <a:avLst/>
          </a:prstGeom>
          <a:noFill/>
        </p:spPr>
        <p:txBody>
          <a:bodyPr wrap="none" lIns="0" tIns="0" rIns="0" bIns="0" anchor="t">
            <a:spAutoFit/>
          </a:bodyPr>
          <a:lstStyle/>
          <a:p>
            <a:pPr algn="l"/>
            <a:r>
              <a:rPr sz="1200" b="0" i="0">
                <a:solidFill>
                  <a:srgbClr val="000000"/>
                </a:solidFill>
                <a:latin typeface="Times New Roman"/>
              </a:rPr>
              <a:t>of the team's project activity.</a:t>
            </a:r>
          </a:p>
        </p:txBody>
      </p:sp>
      <p:pic>
        <p:nvPicPr>
          <p:cNvPr id="24" name="Picture 23">
            <a:extLst>
              <a:ext uri="{FF2B5EF4-FFF2-40B4-BE49-F238E27FC236}">
                <a16:creationId xmlns:a16="http://schemas.microsoft.com/office/drawing/2014/main" id="{6AE4AFBB-4637-DABD-DF31-054ECDDE719A}"/>
              </a:ext>
            </a:extLst>
          </p:cNvPr>
          <p:cNvPicPr>
            <a:picLocks noChangeAspect="1"/>
          </p:cNvPicPr>
          <p:nvPr/>
        </p:nvPicPr>
        <p:blipFill>
          <a:blip r:embed="rId2"/>
          <a:stretch>
            <a:fillRect/>
          </a:stretch>
        </p:blipFill>
        <p:spPr>
          <a:xfrm>
            <a:off x="915265" y="4011636"/>
            <a:ext cx="5729468" cy="4297101"/>
          </a:xfrm>
          <a:prstGeom prst="rect">
            <a:avLst/>
          </a:prstGeom>
        </p:spPr>
      </p:pic>
      <p:sp>
        <p:nvSpPr>
          <p:cNvPr id="25" name="TextBox 24"/>
          <p:cNvSpPr txBox="1"/>
          <p:nvPr/>
        </p:nvSpPr>
        <p:spPr>
          <a:xfrm>
            <a:off x="808200" y="1940610"/>
            <a:ext cx="6172200" cy="2743200"/>
          </a:xfrm>
          <a:prstGeom prst="rect">
            <a:avLst/>
          </a:prstGeom>
          <a:noFill/>
          <a:ln>
            <a:noFill/>
          </a:ln>
        </p:spPr>
        <p:txBody>
          <a:bodyPr wrap="square" lIns="27432" tIns="18288" rIns="27432" bIns="18288" anchor="t">
            <a:spAutoFit/>
          </a:bodyPr>
          <a:lstStyle/>
          <a:p>
            <a:pPr algn="l">
              <a:lnSpc>
                <a:spcPct val="100000"/>
              </a:lnSpc>
              <a:spcBef>
                <a:spcPts val="0"/>
              </a:spcBef>
              <a:spcAft>
                <a:spcPts val="200"/>
              </a:spcAft>
            </a:pPr>
            <a:r>
              <a:rPr sz="1050" b="0" dirty="0">
                <a:solidFill>
                  <a:srgbClr val="000000"/>
                </a:solidFill>
                <a:latin typeface="Times New Roman"/>
              </a:rPr>
              <a:t>Geo-Tagged Evidence Checklist</a:t>
            </a:r>
          </a:p>
          <a:p>
            <a:pPr algn="l">
              <a:lnSpc>
                <a:spcPct val="100000"/>
              </a:lnSpc>
              <a:spcBef>
                <a:spcPts val="0"/>
              </a:spcBef>
              <a:spcAft>
                <a:spcPts val="200"/>
              </a:spcAft>
            </a:pPr>
            <a:r>
              <a:rPr sz="1050" b="0" dirty="0">
                <a:solidFill>
                  <a:srgbClr val="000000"/>
                </a:solidFill>
                <a:latin typeface="Times New Roman"/>
              </a:rPr>
              <a:t>For each photograph, record the actual date, latitude, longitude, and location. The evidence should correspond to genuine project work such as development, API testing, database verification, project review, or another activity supervised or observed during the project.</a:t>
            </a:r>
          </a:p>
          <a:p>
            <a:pPr algn="l">
              <a:lnSpc>
                <a:spcPct val="100000"/>
              </a:lnSpc>
              <a:spcBef>
                <a:spcPts val="0"/>
              </a:spcBef>
              <a:spcAft>
                <a:spcPts val="200"/>
              </a:spcAft>
            </a:pPr>
            <a:endParaRPr sz="1050" b="0" dirty="0">
              <a:solidFill>
                <a:srgbClr val="000000"/>
              </a:solidFill>
              <a:latin typeface="Times New Roman"/>
            </a:endParaRPr>
          </a:p>
          <a:p>
            <a:pPr algn="l">
              <a:lnSpc>
                <a:spcPct val="100000"/>
              </a:lnSpc>
              <a:spcBef>
                <a:spcPts val="0"/>
              </a:spcBef>
              <a:spcAft>
                <a:spcPts val="200"/>
              </a:spcAft>
            </a:pPr>
            <a:r>
              <a:rPr sz="1050" b="0" dirty="0">
                <a:solidFill>
                  <a:srgbClr val="000000"/>
                </a:solidFill>
                <a:latin typeface="Times New Roman"/>
              </a:rPr>
              <a:t>Keep the original photograph files and, where possible, preserve their metadata. The information entered in the report should match the source photograph. Do not fabricate locations or alter coordinates merely to complete the documentation. If a photograph does not contain location metadata, use the approved project documentation procedure to record the location accurately.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TotalTime>
  <Words>15263</Words>
  <Application>Microsoft Office PowerPoint</Application>
  <PresentationFormat>Custom</PresentationFormat>
  <Paragraphs>1691</Paragraphs>
  <Slides>60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girishkurapati2@hotmail.com</cp:lastModifiedBy>
  <cp:revision>4</cp:revision>
  <dcterms:created xsi:type="dcterms:W3CDTF">2013-01-27T09:14:16Z</dcterms:created>
  <dcterms:modified xsi:type="dcterms:W3CDTF">2026-10-02T08:25:30Z</dcterms:modified>
  <cp:category/>
</cp:coreProperties>
</file>