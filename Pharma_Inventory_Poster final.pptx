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10" Type="http://schemas.openxmlformats.org/officeDocument/2006/relationships/image" Target="../media/shot_login.png"/><Relationship Id="rId11" Type="http://schemas.openxmlformats.org/officeDocument/2006/relationships/image" Target="../media/shot_dashboard.png"/><Relationship Id="rId12" Type="http://schemas.openxmlformats.org/officeDocument/2006/relationships/image" Target="../media/klh_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60120"/>
            <a:ext cx="1900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KLH Logo" descr="KLH University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760" y="557488"/>
            <a:ext cx="1700000" cy="805263"/>
          </a:xfrm>
          <a:prstGeom prst="rect">
            <a:avLst/>
          </a:prstGeom>
        </p:spPr>
      </p:pic>
      <p:sp>
        <p:nvSpPr>
          <p:cNvPr id="5" name="Text 3"/>
          <p:cNvSpPr txBox="1"/>
          <p:nvPr/>
        </p:nvSpPr>
        <p:spPr>
          <a:xfrm>
            <a:off x="2494360" y="228600"/>
            <a:ext cx="78337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Pharmaceutical Stock and Inventory Management System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26  |  Section: 8  |  Members: K. Girish Chandra – 2520030231, P. Venkat – 2520030450  |  Guide: [Dr. ______]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Node.js and Express.js REST API backend with MongoDB that centralizes medicines, suppliers, batches, purchases, sales and stock for pharmaceutical businesses.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inventory tracking and flags low-stock and near-expiry medicines, reducing manual effort and errors.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inventory causes duplicate data, human errors, stock shortages, overstocking and missed medicine expiry dates.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 RESTful backend for inventory operations.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stock, batch and expiry data for traceability.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low-stock and near-expiry medicines for better purchasing.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and authorized staff; medicine, supplier, batch, sales and stock modules.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registers / sheets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MongoDB database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tracking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counts, errors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via REST APIs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tracking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Manual; expiry risk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&amp; expiry dates stored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 &amp; sales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records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Auto-updates stock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Shortages and overstocking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Low-stock &amp; expiry flags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2860" marB="2286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JavaScript stack (Node.js, Express.js, MongoDB) with plenty of documentation.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 tools (VS Code, Postman, MongoDB Compass); no licensing cost.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REST APIs are easy for staff to use and easy to maintain.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API development fits within the trimester timeline.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Platform: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on Node.js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+ RESTful APIs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(managed with MongoDB Compass)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Code, npm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pic>
        <p:nvPicPr>
          <p:cNvPr id="32" name="Text 29 Image" descr="Login screen of PharmaPlus inventory syst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1274" y="10832892"/>
            <a:ext cx="2216277" cy="1148495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pic>
        <p:nvPicPr>
          <p:cNvPr id="34" name="Text 31 Image" descr="Dashboard of PharmaPlus inventory syst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4711" y="10706245"/>
            <a:ext cx="2216277" cy="140179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APIs for medicines, suppliers and batches tested in Postman.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low-stock and near-expiry checks validated.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reliable, secure and scalable inventory backend.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manual effort; improves accuracy and stock visibility.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dashboard front-end.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low-stock and expiry alerts (email / SMS).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and sales reports.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Node.js Documentation – nodejs.org/docs   [2] Express.js Guide – expressjs.com   [3] MongoDB Manual – mongodb.com/docs   [4] Postman Learning Center – learning.postman.com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sp>
        <p:nvSpPr>
          <p:cNvPr id="47" name="Rounded Rectangle 46"/>
          <p:cNvSpPr/>
          <p:nvPr/>
        </p:nvSpPr>
        <p:spPr>
          <a:xfrm>
            <a:off x="5623560" y="5166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6D28D9"/>
                </a:solidFill>
                <a:latin typeface="Calibri"/>
              </a:rPr>
              <a:t>Client</a:t>
            </a:r>
          </a:p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Admin / Staff</a:t>
            </a:r>
          </a:p>
          <a:p>
            <a:pPr algn="ctr"/>
            <a:r>
              <a:rPr sz="1050" b="0">
                <a:solidFill>
                  <a:srgbClr val="1E293B"/>
                </a:solidFill>
                <a:latin typeface="Calibri"/>
              </a:rPr>
              <a:t>Postman / UI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0" y="5166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Express.js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REST API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(Node.js)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06840" y="5166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6D28D9"/>
                </a:solidFill>
                <a:latin typeface="Calibri"/>
              </a:rPr>
              <a:t>MongoDB</a:t>
            </a:r>
          </a:p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Database</a:t>
            </a:r>
          </a:p>
          <a:p>
            <a:pPr algn="ctr"/>
            <a:r>
              <a:rPr sz="1050" b="0">
                <a:solidFill>
                  <a:srgbClr val="1E293B"/>
                </a:solidFill>
                <a:latin typeface="Calibri"/>
              </a:rPr>
              <a:t>(Compass)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12280" y="5623560"/>
            <a:ext cx="502920" cy="0"/>
          </a:xfrm>
          <a:prstGeom prst="line">
            <a:avLst/>
          </a:prstGeom>
          <a:ln w="22225">
            <a:solidFill>
              <a:srgbClr val="6D28D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03920" y="5623560"/>
            <a:ext cx="502920" cy="0"/>
          </a:xfrm>
          <a:prstGeom prst="line">
            <a:avLst/>
          </a:prstGeom>
          <a:ln w="22225">
            <a:solidFill>
              <a:srgbClr val="6D28D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12280" y="5394960"/>
            <a:ext cx="5029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900" b="1">
                <a:solidFill>
                  <a:srgbClr val="6D28D9"/>
                </a:solidFill>
                <a:latin typeface="Calibri"/>
              </a:rPr>
              <a:t>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5394960"/>
            <a:ext cx="5029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900" b="1">
                <a:solidFill>
                  <a:srgbClr val="6D28D9"/>
                </a:solidFill>
                <a:latin typeface="Calibri"/>
              </a:rPr>
              <a:t>CRUD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909560" y="6080760"/>
            <a:ext cx="0" cy="27432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623560" y="6355080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50" b="1">
                <a:solidFill>
                  <a:srgbClr val="6D28D9"/>
                </a:solidFill>
                <a:latin typeface="Calibri"/>
              </a:rPr>
              <a:t>API Modules</a:t>
            </a:r>
          </a:p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Medicine  •  Supplier  •  Batch  •  Purchase  •  Sale  •  Stock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23560" y="7863840"/>
            <a:ext cx="1188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23560" y="7863840"/>
            <a:ext cx="1188720" cy="21945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Supplier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60" y="8092440"/>
            <a:ext cx="1188720" cy="54864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supplier_id (PK)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name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contact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address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7863840"/>
            <a:ext cx="1188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15200" y="7863840"/>
            <a:ext cx="1188720" cy="21945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Medicine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8092440"/>
            <a:ext cx="1188720" cy="54864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medicine_id (PK)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name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category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reorder_level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23560" y="8823959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23560" y="8823959"/>
            <a:ext cx="1188720" cy="21945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Purchase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23560" y="9052559"/>
            <a:ext cx="1188720" cy="73152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purchase_id (PK)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supplier_id (FK)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batch_no (FK)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quantity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date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0" y="8823959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200" y="8823959"/>
            <a:ext cx="1188720" cy="21945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Batch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9052559"/>
            <a:ext cx="1188720" cy="73152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batch_no (PK)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medicine_id (FK)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mfg_date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expiry_date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quantity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06840" y="8823959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06840" y="8823959"/>
            <a:ext cx="1188720" cy="21945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06840" y="9052559"/>
            <a:ext cx="1188720" cy="73152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sale_id (PK)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batch_no (FK)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quantity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date</a:t>
            </a:r>
          </a:p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amount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0" y="8641080"/>
            <a:ext cx="0" cy="182879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63640" y="8622792"/>
            <a:ext cx="36576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900" b="1">
                <a:solidFill>
                  <a:srgbClr val="C2410C"/>
                </a:solidFill>
                <a:latin typeface="Calibri"/>
              </a:rPr>
              <a:t>1:N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909560" y="8641080"/>
            <a:ext cx="0" cy="182879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955280" y="8622792"/>
            <a:ext cx="36576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900" b="1">
                <a:solidFill>
                  <a:srgbClr val="C2410C"/>
                </a:solidFill>
                <a:latin typeface="Calibri"/>
              </a:rPr>
              <a:t>1:N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812280" y="9304019"/>
            <a:ext cx="502920" cy="0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812280" y="9102851"/>
            <a:ext cx="5029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900" b="1">
                <a:solidFill>
                  <a:srgbClr val="C2410C"/>
                </a:solidFill>
                <a:latin typeface="Calibri"/>
              </a:rPr>
              <a:t>N:1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503920" y="9304019"/>
            <a:ext cx="502920" cy="0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503920" y="9102851"/>
            <a:ext cx="5029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900" b="1">
                <a:solidFill>
                  <a:srgbClr val="C2410C"/>
                </a:solidFill>
                <a:latin typeface="Calibri"/>
              </a:rPr>
              <a:t>1:N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06840" y="7955279"/>
            <a:ext cx="1188720" cy="59435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950" b="0">
                <a:solidFill>
                  <a:srgbClr val="7C2D12"/>
                </a:solidFill>
                <a:latin typeface="Calibri"/>
              </a:rPr>
              <a:t>Available stock = total Batch quantity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